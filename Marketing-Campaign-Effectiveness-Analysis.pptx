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1B3A"/>
                </a:solidFill>
                <a:latin typeface="Calibri"/>
              </a:defRPr>
            </a:pPr>
            <a:r>
              <a:rPr sz="1100" b="0" i="0" u="none" strike="noStrike">
                <a:solidFill>
                  <a:srgbClr val="0B1B3A"/>
                </a:solidFill>
                <a:latin typeface="Calibri"/>
              </a:rPr>
              <a:t>ROAS by channel (sample)</a:t>
            </a:r>
          </a:p>
        </c:rich>
      </c:tx>
      <c:layout/>
      <c:overlay val="0"/>
    </c:title>
    <c:autoTitleDeleted val="0"/>
    <c:plotArea>
      <c:layout/>
      <c:barChart>
        <c:barDir val="bar"/>
        <c:grouping val="clustered"/>
        <c:varyColors val="0"/>
        <c:ser>
          <c:idx val="0"/>
          <c:order val="0"/>
          <c:tx>
            <c:strRef>
              <c:f>Sheet1!$B$1</c:f>
              <c:strCache>
                <c:ptCount val="1"/>
                <c:pt idx="0">
                  <c:v>ROAS</c:v>
                </c:pt>
              </c:strCache>
            </c:strRef>
          </c:tx>
          <c:spPr>
            <a:solidFill>
              <a:srgbClr val="0A8377"/>
            </a:solidFill>
            <a:effectLst/>
          </c:spPr>
          <c:invertIfNegative val="0"/>
          <c:dLbls>
            <c:numFmt formatCode="0.0" sourceLinked="0"/>
            <c:txPr>
              <a:bodyPr/>
              <a:lstStyle/>
              <a:p>
                <a:pPr>
                  <a:defRPr b="0" i="0" strike="noStrike" sz="900" u="none">
                    <a:solidFill>
                      <a:srgbClr val="0B1B3A"/>
                    </a:solidFill>
                    <a:latin typeface="Arial"/>
                  </a:defRPr>
                </a:pPr>
              </a:p>
            </c:txPr>
            <c:showLegendKey val="0"/>
            <c:showVal val="1"/>
            <c:showCatName val="0"/>
            <c:showSerName val="0"/>
            <c:showPercent val="0"/>
            <c:showBubbleSize val="0"/>
            <c:showLeaderLines val="0"/>
          </c:dLbls>
          <c:cat>
            <c:multiLvlStrRef>
              <c:f>Sheet1!$A$2:$A$5</c:f>
              <c:multiLvlStrCache>
                <c:ptCount val="4"/>
                <c:lvl>
                  <c:pt idx="0">
                    <c:v>Email</c:v>
                  </c:pt>
                  <c:pt idx="1">
                    <c:v>Search</c:v>
                  </c:pt>
                  <c:pt idx="2">
                    <c:v>Social</c:v>
                  </c:pt>
                  <c:pt idx="3">
                    <c:v>Display</c:v>
                  </c:pt>
                </c:lvl>
              </c:multiLvlStrCache>
            </c:multiLvlStrRef>
          </c:cat>
          <c:val>
            <c:numRef>
              <c:f>Sheet1!$B$2:$B$5</c:f>
              <c:numCache>
                <c:formatCode>General</c:formatCode>
                <c:ptCount val="4"/>
                <c:pt idx="0">
                  <c:v>3.2</c:v>
                </c:pt>
                <c:pt idx="1">
                  <c:v>2.4</c:v>
                </c:pt>
                <c:pt idx="2">
                  <c:v>1.4</c:v>
                </c:pt>
                <c:pt idx="3">
                  <c:v>0.9</c:v>
                </c:pt>
              </c:numCache>
            </c:numRef>
          </c:val>
        </c:ser>
        <c:dLbls>
          <c:numFmt formatCode="0.0" sourceLinked="0"/>
          <c:txPr>
            <a:bodyPr/>
            <a:lstStyle/>
            <a:p>
              <a:pPr>
                <a:defRPr b="0" i="0" strike="noStrike" sz="900" u="none">
                  <a:solidFill>
                    <a:srgbClr val="0B1B3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D6B8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DEFF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D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1B3A"/>
                </a:solidFill>
                <a:latin typeface="Calibri"/>
              </a:defRPr>
            </a:pPr>
            <a:r>
              <a:rPr sz="1100" b="0" i="0" u="none" strike="noStrike">
                <a:solidFill>
                  <a:srgbClr val="0B1B3A"/>
                </a:solidFill>
                <a:latin typeface="Calibri"/>
              </a:rPr>
              <a:t>Spend vs revenue trend (₹ thousand, sample)</a:t>
            </a:r>
          </a:p>
        </c:rich>
      </c:tx>
      <c:layout/>
      <c:overlay val="0"/>
    </c:title>
    <c:autoTitleDeleted val="0"/>
    <c:plotArea>
      <c:layout/>
      <c:lineChart>
        <c:varyColors val="0"/>
        <c:ser>
          <c:idx val="0"/>
          <c:order val="0"/>
          <c:tx>
            <c:strRef>
              <c:f>Sheet1!$B$1</c:f>
              <c:strCache>
                <c:ptCount val="1"/>
                <c:pt idx="0">
                  <c:v>Spend</c:v>
                </c:pt>
              </c:strCache>
            </c:strRef>
          </c:tx>
          <c:spPr>
            <a:solidFill>
              <a:srgbClr val="F2762E"/>
            </a:solidFill>
            <a:ln w="25400" cap="flat">
              <a:solidFill>
                <a:srgbClr val="F276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2762E"/>
              </a:solidFill>
              <a:ln w="9525" cap="flat">
                <a:solidFill>
                  <a:srgbClr val="F2762E"/>
                </a:solidFill>
                <a:prstDash val="solid"/>
                <a:round/>
              </a:ln>
              <a:effectLst/>
            </c:spPr>
          </c:marker>
          <c:cat>
            <c:multiLvlStrRef>
              <c:f>Sheet1!$A$2:$A$7</c:f>
              <c:multiLvlStrCache>
                <c:ptCount val="6"/>
                <c:lvl>
                  <c:pt idx="0">
                    <c:v>Oct</c:v>
                  </c:pt>
                  <c:pt idx="1">
                    <c:v>Nov</c:v>
                  </c:pt>
                  <c:pt idx="2">
                    <c:v>Dec</c:v>
                  </c:pt>
                  <c:pt idx="3">
                    <c:v>Jan</c:v>
                  </c:pt>
                  <c:pt idx="4">
                    <c:v>Feb</c:v>
                  </c:pt>
                  <c:pt idx="5">
                    <c:v>Mar</c:v>
                  </c:pt>
                </c:lvl>
              </c:multiLvlStrCache>
            </c:multiLvlStrRef>
          </c:cat>
          <c:val>
            <c:numRef>
              <c:f>Sheet1!$B$2:$B$7</c:f>
              <c:numCache>
                <c:formatCode>General</c:formatCode>
                <c:ptCount val="6"/>
                <c:pt idx="0">
                  <c:v>110</c:v>
                </c:pt>
                <c:pt idx="1">
                  <c:v>125</c:v>
                </c:pt>
                <c:pt idx="2">
                  <c:v>140</c:v>
                </c:pt>
                <c:pt idx="3">
                  <c:v>135</c:v>
                </c:pt>
                <c:pt idx="4">
                  <c:v>150</c:v>
                </c:pt>
                <c:pt idx="5">
                  <c:v>160</c:v>
                </c:pt>
              </c:numCache>
            </c:numRef>
          </c:val>
          <c:smooth val="0"/>
        </c:ser>
        <c:ser>
          <c:idx val="1"/>
          <c:order val="1"/>
          <c:tx>
            <c:strRef>
              <c:f>Sheet1!$C$1</c:f>
              <c:strCache>
                <c:ptCount val="1"/>
                <c:pt idx="0">
                  <c:v>Attributed revenue</c:v>
                </c:pt>
              </c:strCache>
            </c:strRef>
          </c:tx>
          <c:spPr>
            <a:solidFill>
              <a:srgbClr val="0A8377"/>
            </a:solidFill>
            <a:ln w="25400" cap="flat">
              <a:solidFill>
                <a:srgbClr val="0A837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A8377"/>
              </a:solidFill>
              <a:ln w="9525" cap="flat">
                <a:solidFill>
                  <a:srgbClr val="0A8377"/>
                </a:solidFill>
                <a:prstDash val="solid"/>
                <a:round/>
              </a:ln>
              <a:effectLst/>
            </c:spPr>
          </c:marker>
          <c:cat>
            <c:multiLvlStrRef>
              <c:f>Sheet1!$A$2:$A$7</c:f>
              <c:multiLvlStrCache>
                <c:ptCount val="6"/>
                <c:lvl>
                  <c:pt idx="0">
                    <c:v>Oct</c:v>
                  </c:pt>
                  <c:pt idx="1">
                    <c:v>Nov</c:v>
                  </c:pt>
                  <c:pt idx="2">
                    <c:v>Dec</c:v>
                  </c:pt>
                  <c:pt idx="3">
                    <c:v>Jan</c:v>
                  </c:pt>
                  <c:pt idx="4">
                    <c:v>Feb</c:v>
                  </c:pt>
                  <c:pt idx="5">
                    <c:v>Mar</c:v>
                  </c:pt>
                </c:lvl>
              </c:multiLvlStrCache>
            </c:multiLvlStrRef>
          </c:cat>
          <c:val>
            <c:numRef>
              <c:f>Sheet1!$C$2:$C$7</c:f>
              <c:numCache>
                <c:formatCode>General</c:formatCode>
                <c:ptCount val="6"/>
                <c:pt idx="0">
                  <c:v>190</c:v>
                </c:pt>
                <c:pt idx="1">
                  <c:v>215</c:v>
                </c:pt>
                <c:pt idx="2">
                  <c:v>260</c:v>
                </c:pt>
                <c:pt idx="3">
                  <c:v>250</c:v>
                </c:pt>
                <c:pt idx="4">
                  <c:v>300</c:v>
                </c:pt>
                <c:pt idx="5">
                  <c:v>340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D6B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EF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D6B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D6B8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teams invest in several channels, but it is difficult to determine which campaigns actually contribute to conversions and revenue. This project develops an interactive system that combines campaign data, attribution analysis, funnel analysis, cohort analysis and AI-based budget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simply a lack of data. The main problem is that data is fragmented and difficult to convert into a decision. The system should help a marketing manager move from raw data to an actionable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designed as decision support. It recommends actions, but the marketing manager remains responsible for reviewing and approving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does not passively view a report. The user changes filters, investigates specific campaigns, tests attribution methods and enters alternative budget allocations. The system then recalculates results and presents the effect of the proposed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ingestion layer collects data from different sources. The clean data layer standardises campaign names, channel names, dates, users and revenue. The analytics layer produces metrics and model outputs, while the dashboard makes these outputs understandable and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touchpoint table is particularly important because it records the customer journey. It allows the system to analyse whether a customer interacted with social media, search, email or another channel before converting.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definitions are applied consistently across every channel. The funnel locates where prospects are lost and the cohort heatmap shows how the quality of acquired customers changes month by month. All numbers shown are illustrative sample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not used only to generate text. It identifies patterns in customer journeys, estimates conversion probabilities, measures channel contribution and simulates alternative budgets. Every recommendation is shown with the model and the factors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filters the dashboard, drills from a channel into campaign and creative detail, compares attribution models, then moves budget with sliders and runs a scenario. Projected revenue, conversions, CPA and ROI are recalculated and can be exported for management review. All numbers shown are sample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system transforms fragmented marketing data into an interactive decision-support platform. It does not simply report what happened; it helps users understand why it happened, explore what may happen next, and make better budget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A"/>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7305C">
              <a:alpha val="65000"/>
            </a:srgbClr>
          </a:solidFill>
          <a:ln/>
        </p:spPr>
      </p:sp>
      <p:sp>
        <p:nvSpPr>
          <p:cNvPr id="3" name="Shape 1"/>
          <p:cNvSpPr/>
          <p:nvPr/>
        </p:nvSpPr>
        <p:spPr>
          <a:xfrm>
            <a:off x="-1097280" y="4937760"/>
            <a:ext cx="3108960" cy="3108960"/>
          </a:xfrm>
          <a:prstGeom prst="ellipse">
            <a:avLst/>
          </a:prstGeom>
          <a:solidFill>
            <a:srgbClr val="0A8377">
              <a:alpha val="30000"/>
            </a:srgbClr>
          </a:solidFill>
          <a:ln/>
        </p:spPr>
      </p:sp>
      <p:sp>
        <p:nvSpPr>
          <p:cNvPr id="4" name="Text 2"/>
          <p:cNvSpPr txBox="1"/>
          <p:nvPr/>
        </p:nvSpPr>
        <p:spPr>
          <a:xfrm>
            <a:off x="731520" y="777240"/>
            <a:ext cx="7315200" cy="228600"/>
          </a:xfrm>
          <a:prstGeom prst="rect">
            <a:avLst/>
          </a:prstGeom>
          <a:noFill/>
          <a:ln/>
        </p:spPr>
        <p:txBody>
          <a:bodyPr wrap="square" lIns="0" tIns="0" rIns="0" bIns="0" rtlCol="0" anchor="ctr"/>
          <a:lstStyle/>
          <a:p>
            <a:pPr indent="0" marL="0">
              <a:buNone/>
            </a:pPr>
            <a:r>
              <a:rPr lang="en-US" sz="1100" b="1" spc="250" kern="0" dirty="0">
                <a:solidFill>
                  <a:srgbClr val="0FB5A6"/>
                </a:solidFill>
                <a:latin typeface="Calibri" pitchFamily="34" charset="0"/>
                <a:ea typeface="Calibri" pitchFamily="34" charset="-122"/>
                <a:cs typeface="Calibri" pitchFamily="34" charset="-120"/>
              </a:rPr>
              <a:t>RESEARCH PROJECT PRESENTATION</a:t>
            </a:r>
            <a:endParaRPr lang="en-US" sz="1100" dirty="0"/>
          </a:p>
        </p:txBody>
      </p:sp>
      <p:sp>
        <p:nvSpPr>
          <p:cNvPr id="5" name="Text 3"/>
          <p:cNvSpPr txBox="1"/>
          <p:nvPr/>
        </p:nvSpPr>
        <p:spPr>
          <a:xfrm>
            <a:off x="731520" y="1143000"/>
            <a:ext cx="93268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Marketing Campaign Effectiveness Analysis</a:t>
            </a:r>
            <a:endParaRPr lang="en-US" sz="3800" dirty="0"/>
          </a:p>
        </p:txBody>
      </p:sp>
      <p:sp>
        <p:nvSpPr>
          <p:cNvPr id="6" name="Text 4"/>
          <p:cNvSpPr txBox="1"/>
          <p:nvPr/>
        </p:nvSpPr>
        <p:spPr>
          <a:xfrm>
            <a:off x="731520" y="2103120"/>
            <a:ext cx="8595360" cy="731520"/>
          </a:xfrm>
          <a:prstGeom prst="rect">
            <a:avLst/>
          </a:prstGeom>
          <a:noFill/>
          <a:ln/>
        </p:spPr>
        <p:txBody>
          <a:bodyPr wrap="square" lIns="0" tIns="0" rIns="0" bIns="0" rtlCol="0" anchor="ctr"/>
          <a:lstStyle/>
          <a:p>
            <a:pPr indent="0" marL="0">
              <a:lnSpc>
                <a:spcPts val="2200"/>
              </a:lnSpc>
              <a:buNone/>
            </a:pPr>
            <a:r>
              <a:rPr lang="en-US" sz="1550" dirty="0">
                <a:solidFill>
                  <a:srgbClr val="A9BEDD"/>
                </a:solidFill>
                <a:latin typeface="Calibri" pitchFamily="34" charset="0"/>
                <a:ea typeface="Calibri" pitchFamily="34" charset="-122"/>
                <a:cs typeface="Calibri" pitchFamily="34" charset="-120"/>
              </a:rPr>
              <a:t>An Interactive AI-Driven System for Attribution, Funnel Analysis,</a:t>
            </a:r>
            <a:endParaRPr lang="en-US" sz="1550" dirty="0"/>
          </a:p>
          <a:p>
            <a:pPr indent="0" marL="0">
              <a:lnSpc>
                <a:spcPts val="2200"/>
              </a:lnSpc>
              <a:buNone/>
            </a:pPr>
            <a:r>
              <a:rPr lang="en-US" sz="1550" dirty="0">
                <a:solidFill>
                  <a:srgbClr val="A9BEDD"/>
                </a:solidFill>
                <a:latin typeface="Calibri" pitchFamily="34" charset="0"/>
                <a:ea typeface="Calibri" pitchFamily="34" charset="-122"/>
                <a:cs typeface="Calibri" pitchFamily="34" charset="-120"/>
              </a:rPr>
              <a:t>Cohort Insights and ROI Optimization</a:t>
            </a:r>
            <a:endParaRPr lang="en-US" sz="1550" dirty="0"/>
          </a:p>
        </p:txBody>
      </p:sp>
      <p:sp>
        <p:nvSpPr>
          <p:cNvPr id="7" name="Shape 5"/>
          <p:cNvSpPr/>
          <p:nvPr/>
        </p:nvSpPr>
        <p:spPr>
          <a:xfrm>
            <a:off x="731520" y="3017520"/>
            <a:ext cx="1188720" cy="310896"/>
          </a:xfrm>
          <a:prstGeom prst="roundRect">
            <a:avLst>
              <a:gd name="adj" fmla="val 17647"/>
            </a:avLst>
          </a:prstGeom>
          <a:solidFill>
            <a:srgbClr val="17305C"/>
          </a:solidFill>
          <a:ln w="9525">
            <a:solidFill>
              <a:srgbClr val="17305C"/>
            </a:solidFill>
            <a:prstDash val="solid"/>
          </a:ln>
        </p:spPr>
      </p:sp>
      <p:sp>
        <p:nvSpPr>
          <p:cNvPr id="8" name="Text 6"/>
          <p:cNvSpPr txBox="1"/>
          <p:nvPr/>
        </p:nvSpPr>
        <p:spPr>
          <a:xfrm>
            <a:off x="731520" y="3017520"/>
            <a:ext cx="1188720" cy="310896"/>
          </a:xfrm>
          <a:prstGeom prst="rect">
            <a:avLst/>
          </a:prstGeom>
          <a:noFill/>
          <a:ln/>
        </p:spPr>
        <p:txBody>
          <a:bodyPr wrap="square" lIns="0" tIns="0" rIns="0" bIns="0" rtlCol="0" anchor="ctr"/>
          <a:lstStyle/>
          <a:p>
            <a:pPr algn="ctr" indent="0" marL="0">
              <a:buNone/>
            </a:pPr>
            <a:r>
              <a:rPr lang="en-US" sz="1000" b="1" dirty="0">
                <a:solidFill>
                  <a:srgbClr val="0FB5A6"/>
                </a:solidFill>
                <a:latin typeface="Calibri" pitchFamily="34" charset="0"/>
                <a:ea typeface="Calibri" pitchFamily="34" charset="-122"/>
                <a:cs typeface="Calibri" pitchFamily="34" charset="-120"/>
              </a:rPr>
              <a:t>Search</a:t>
            </a:r>
            <a:endParaRPr lang="en-US" sz="1000" dirty="0"/>
          </a:p>
        </p:txBody>
      </p:sp>
      <p:sp>
        <p:nvSpPr>
          <p:cNvPr id="9" name="Shape 7"/>
          <p:cNvSpPr/>
          <p:nvPr/>
        </p:nvSpPr>
        <p:spPr>
          <a:xfrm>
            <a:off x="2057400" y="3017520"/>
            <a:ext cx="1188720" cy="310896"/>
          </a:xfrm>
          <a:prstGeom prst="roundRect">
            <a:avLst>
              <a:gd name="adj" fmla="val 17647"/>
            </a:avLst>
          </a:prstGeom>
          <a:solidFill>
            <a:srgbClr val="17305C"/>
          </a:solidFill>
          <a:ln w="9525">
            <a:solidFill>
              <a:srgbClr val="17305C"/>
            </a:solidFill>
            <a:prstDash val="solid"/>
          </a:ln>
        </p:spPr>
      </p:sp>
      <p:sp>
        <p:nvSpPr>
          <p:cNvPr id="10" name="Text 8"/>
          <p:cNvSpPr txBox="1"/>
          <p:nvPr/>
        </p:nvSpPr>
        <p:spPr>
          <a:xfrm>
            <a:off x="2057400" y="3017520"/>
            <a:ext cx="1188720" cy="310896"/>
          </a:xfrm>
          <a:prstGeom prst="rect">
            <a:avLst/>
          </a:prstGeom>
          <a:noFill/>
          <a:ln/>
        </p:spPr>
        <p:txBody>
          <a:bodyPr wrap="square" lIns="0" tIns="0" rIns="0" bIns="0" rtlCol="0" anchor="ctr"/>
          <a:lstStyle/>
          <a:p>
            <a:pPr algn="ctr" indent="0" marL="0">
              <a:buNone/>
            </a:pPr>
            <a:r>
              <a:rPr lang="en-US" sz="1000" b="1" dirty="0">
                <a:solidFill>
                  <a:srgbClr val="0FB5A6"/>
                </a:solidFill>
                <a:latin typeface="Calibri" pitchFamily="34" charset="0"/>
                <a:ea typeface="Calibri" pitchFamily="34" charset="-122"/>
                <a:cs typeface="Calibri" pitchFamily="34" charset="-120"/>
              </a:rPr>
              <a:t>Social</a:t>
            </a:r>
            <a:endParaRPr lang="en-US" sz="1000" dirty="0"/>
          </a:p>
        </p:txBody>
      </p:sp>
      <p:sp>
        <p:nvSpPr>
          <p:cNvPr id="11" name="Shape 9"/>
          <p:cNvSpPr/>
          <p:nvPr/>
        </p:nvSpPr>
        <p:spPr>
          <a:xfrm>
            <a:off x="3383280" y="3017520"/>
            <a:ext cx="1188720" cy="310896"/>
          </a:xfrm>
          <a:prstGeom prst="roundRect">
            <a:avLst>
              <a:gd name="adj" fmla="val 17647"/>
            </a:avLst>
          </a:prstGeom>
          <a:solidFill>
            <a:srgbClr val="17305C"/>
          </a:solidFill>
          <a:ln w="9525">
            <a:solidFill>
              <a:srgbClr val="17305C"/>
            </a:solidFill>
            <a:prstDash val="solid"/>
          </a:ln>
        </p:spPr>
      </p:sp>
      <p:sp>
        <p:nvSpPr>
          <p:cNvPr id="12" name="Text 10"/>
          <p:cNvSpPr txBox="1"/>
          <p:nvPr/>
        </p:nvSpPr>
        <p:spPr>
          <a:xfrm>
            <a:off x="3383280" y="3017520"/>
            <a:ext cx="1188720" cy="310896"/>
          </a:xfrm>
          <a:prstGeom prst="rect">
            <a:avLst/>
          </a:prstGeom>
          <a:noFill/>
          <a:ln/>
        </p:spPr>
        <p:txBody>
          <a:bodyPr wrap="square" lIns="0" tIns="0" rIns="0" bIns="0" rtlCol="0" anchor="ctr"/>
          <a:lstStyle/>
          <a:p>
            <a:pPr algn="ctr" indent="0" marL="0">
              <a:buNone/>
            </a:pPr>
            <a:r>
              <a:rPr lang="en-US" sz="1000" b="1" dirty="0">
                <a:solidFill>
                  <a:srgbClr val="0FB5A6"/>
                </a:solidFill>
                <a:latin typeface="Calibri" pitchFamily="34" charset="0"/>
                <a:ea typeface="Calibri" pitchFamily="34" charset="-122"/>
                <a:cs typeface="Calibri" pitchFamily="34" charset="-120"/>
              </a:rPr>
              <a:t>Email</a:t>
            </a:r>
            <a:endParaRPr lang="en-US" sz="1000" dirty="0"/>
          </a:p>
        </p:txBody>
      </p:sp>
      <p:sp>
        <p:nvSpPr>
          <p:cNvPr id="13" name="Shape 11"/>
          <p:cNvSpPr/>
          <p:nvPr/>
        </p:nvSpPr>
        <p:spPr>
          <a:xfrm>
            <a:off x="4709160" y="3017520"/>
            <a:ext cx="1188720" cy="310896"/>
          </a:xfrm>
          <a:prstGeom prst="roundRect">
            <a:avLst>
              <a:gd name="adj" fmla="val 17647"/>
            </a:avLst>
          </a:prstGeom>
          <a:solidFill>
            <a:srgbClr val="17305C"/>
          </a:solidFill>
          <a:ln w="9525">
            <a:solidFill>
              <a:srgbClr val="17305C"/>
            </a:solidFill>
            <a:prstDash val="solid"/>
          </a:ln>
        </p:spPr>
      </p:sp>
      <p:sp>
        <p:nvSpPr>
          <p:cNvPr id="14" name="Text 12"/>
          <p:cNvSpPr txBox="1"/>
          <p:nvPr/>
        </p:nvSpPr>
        <p:spPr>
          <a:xfrm>
            <a:off x="4709160" y="3017520"/>
            <a:ext cx="1188720" cy="310896"/>
          </a:xfrm>
          <a:prstGeom prst="rect">
            <a:avLst/>
          </a:prstGeom>
          <a:noFill/>
          <a:ln/>
        </p:spPr>
        <p:txBody>
          <a:bodyPr wrap="square" lIns="0" tIns="0" rIns="0" bIns="0" rtlCol="0" anchor="ctr"/>
          <a:lstStyle/>
          <a:p>
            <a:pPr algn="ctr" indent="0" marL="0">
              <a:buNone/>
            </a:pPr>
            <a:r>
              <a:rPr lang="en-US" sz="1000" b="1" dirty="0">
                <a:solidFill>
                  <a:srgbClr val="0FB5A6"/>
                </a:solidFill>
                <a:latin typeface="Calibri" pitchFamily="34" charset="0"/>
                <a:ea typeface="Calibri" pitchFamily="34" charset="-122"/>
                <a:cs typeface="Calibri" pitchFamily="34" charset="-120"/>
              </a:rPr>
              <a:t>Display</a:t>
            </a:r>
            <a:endParaRPr lang="en-US" sz="1000" dirty="0"/>
          </a:p>
        </p:txBody>
      </p:sp>
      <p:sp>
        <p:nvSpPr>
          <p:cNvPr id="15" name="Shape 13"/>
          <p:cNvSpPr/>
          <p:nvPr/>
        </p:nvSpPr>
        <p:spPr>
          <a:xfrm>
            <a:off x="6035040" y="3017520"/>
            <a:ext cx="1188720" cy="310896"/>
          </a:xfrm>
          <a:prstGeom prst="roundRect">
            <a:avLst>
              <a:gd name="adj" fmla="val 17647"/>
            </a:avLst>
          </a:prstGeom>
          <a:solidFill>
            <a:srgbClr val="17305C"/>
          </a:solidFill>
          <a:ln w="9525">
            <a:solidFill>
              <a:srgbClr val="17305C"/>
            </a:solidFill>
            <a:prstDash val="solid"/>
          </a:ln>
        </p:spPr>
      </p:sp>
      <p:sp>
        <p:nvSpPr>
          <p:cNvPr id="16" name="Text 14"/>
          <p:cNvSpPr txBox="1"/>
          <p:nvPr/>
        </p:nvSpPr>
        <p:spPr>
          <a:xfrm>
            <a:off x="6035040" y="3017520"/>
            <a:ext cx="1188720" cy="310896"/>
          </a:xfrm>
          <a:prstGeom prst="rect">
            <a:avLst/>
          </a:prstGeom>
          <a:noFill/>
          <a:ln/>
        </p:spPr>
        <p:txBody>
          <a:bodyPr wrap="square" lIns="0" tIns="0" rIns="0" bIns="0" rtlCol="0" anchor="ctr"/>
          <a:lstStyle/>
          <a:p>
            <a:pPr algn="ctr" indent="0" marL="0">
              <a:buNone/>
            </a:pPr>
            <a:r>
              <a:rPr lang="en-US" sz="1000" b="1" dirty="0">
                <a:solidFill>
                  <a:srgbClr val="0FB5A6"/>
                </a:solidFill>
                <a:latin typeface="Calibri" pitchFamily="34" charset="0"/>
                <a:ea typeface="Calibri" pitchFamily="34" charset="-122"/>
                <a:cs typeface="Calibri" pitchFamily="34" charset="-120"/>
              </a:rPr>
              <a:t>Website</a:t>
            </a:r>
            <a:endParaRPr lang="en-US" sz="1000" dirty="0"/>
          </a:p>
        </p:txBody>
      </p:sp>
      <p:sp>
        <p:nvSpPr>
          <p:cNvPr id="17" name="Shape 15"/>
          <p:cNvSpPr/>
          <p:nvPr/>
        </p:nvSpPr>
        <p:spPr>
          <a:xfrm>
            <a:off x="7360920" y="3017520"/>
            <a:ext cx="1188720" cy="310896"/>
          </a:xfrm>
          <a:prstGeom prst="roundRect">
            <a:avLst>
              <a:gd name="adj" fmla="val 17647"/>
            </a:avLst>
          </a:prstGeom>
          <a:solidFill>
            <a:srgbClr val="17305C"/>
          </a:solidFill>
          <a:ln w="9525">
            <a:solidFill>
              <a:srgbClr val="17305C"/>
            </a:solidFill>
            <a:prstDash val="solid"/>
          </a:ln>
        </p:spPr>
      </p:sp>
      <p:sp>
        <p:nvSpPr>
          <p:cNvPr id="18" name="Text 16"/>
          <p:cNvSpPr txBox="1"/>
          <p:nvPr/>
        </p:nvSpPr>
        <p:spPr>
          <a:xfrm>
            <a:off x="7360920" y="3017520"/>
            <a:ext cx="1188720" cy="310896"/>
          </a:xfrm>
          <a:prstGeom prst="rect">
            <a:avLst/>
          </a:prstGeom>
          <a:noFill/>
          <a:ln/>
        </p:spPr>
        <p:txBody>
          <a:bodyPr wrap="square" lIns="0" tIns="0" rIns="0" bIns="0" rtlCol="0" anchor="ctr"/>
          <a:lstStyle/>
          <a:p>
            <a:pPr algn="ctr" indent="0" marL="0">
              <a:buNone/>
            </a:pPr>
            <a:r>
              <a:rPr lang="en-US" sz="1000" b="1" dirty="0">
                <a:solidFill>
                  <a:srgbClr val="0FB5A6"/>
                </a:solidFill>
                <a:latin typeface="Calibri" pitchFamily="34" charset="0"/>
                <a:ea typeface="Calibri" pitchFamily="34" charset="-122"/>
                <a:cs typeface="Calibri" pitchFamily="34" charset="-120"/>
              </a:rPr>
              <a:t>Customer</a:t>
            </a:r>
            <a:endParaRPr lang="en-US" sz="1000" dirty="0"/>
          </a:p>
        </p:txBody>
      </p:sp>
      <p:sp>
        <p:nvSpPr>
          <p:cNvPr id="19" name="Shape 17"/>
          <p:cNvSpPr/>
          <p:nvPr/>
        </p:nvSpPr>
        <p:spPr>
          <a:xfrm>
            <a:off x="8686800" y="3017520"/>
            <a:ext cx="1188720" cy="310896"/>
          </a:xfrm>
          <a:prstGeom prst="roundRect">
            <a:avLst>
              <a:gd name="adj" fmla="val 17647"/>
            </a:avLst>
          </a:prstGeom>
          <a:solidFill>
            <a:srgbClr val="17305C"/>
          </a:solidFill>
          <a:ln w="9525">
            <a:solidFill>
              <a:srgbClr val="17305C"/>
            </a:solidFill>
            <a:prstDash val="solid"/>
          </a:ln>
        </p:spPr>
      </p:sp>
      <p:sp>
        <p:nvSpPr>
          <p:cNvPr id="20" name="Text 18"/>
          <p:cNvSpPr txBox="1"/>
          <p:nvPr/>
        </p:nvSpPr>
        <p:spPr>
          <a:xfrm>
            <a:off x="8686800" y="3017520"/>
            <a:ext cx="1188720" cy="310896"/>
          </a:xfrm>
          <a:prstGeom prst="rect">
            <a:avLst/>
          </a:prstGeom>
          <a:noFill/>
          <a:ln/>
        </p:spPr>
        <p:txBody>
          <a:bodyPr wrap="square" lIns="0" tIns="0" rIns="0" bIns="0" rtlCol="0" anchor="ctr"/>
          <a:lstStyle/>
          <a:p>
            <a:pPr algn="ctr" indent="0" marL="0">
              <a:buNone/>
            </a:pPr>
            <a:r>
              <a:rPr lang="en-US" sz="1000" b="1" dirty="0">
                <a:solidFill>
                  <a:srgbClr val="0FB5A6"/>
                </a:solidFill>
                <a:latin typeface="Calibri" pitchFamily="34" charset="0"/>
                <a:ea typeface="Calibri" pitchFamily="34" charset="-122"/>
                <a:cs typeface="Calibri" pitchFamily="34" charset="-120"/>
              </a:rPr>
              <a:t>Revenue</a:t>
            </a:r>
            <a:endParaRPr lang="en-US" sz="1000" dirty="0"/>
          </a:p>
        </p:txBody>
      </p:sp>
      <p:sp>
        <p:nvSpPr>
          <p:cNvPr id="21" name="Shape 19"/>
          <p:cNvSpPr/>
          <p:nvPr/>
        </p:nvSpPr>
        <p:spPr>
          <a:xfrm>
            <a:off x="731520" y="3611880"/>
            <a:ext cx="1920240" cy="777240"/>
          </a:xfrm>
          <a:prstGeom prst="roundRect">
            <a:avLst>
              <a:gd name="adj" fmla="val 7059"/>
            </a:avLst>
          </a:prstGeom>
          <a:solidFill>
            <a:srgbClr val="17305C"/>
          </a:solidFill>
          <a:ln w="12700">
            <a:solidFill>
              <a:srgbClr val="22406F"/>
            </a:solidFill>
            <a:prstDash val="solid"/>
          </a:ln>
        </p:spPr>
      </p:sp>
      <p:sp>
        <p:nvSpPr>
          <p:cNvPr id="22" name="Text 20"/>
          <p:cNvSpPr txBox="1"/>
          <p:nvPr/>
        </p:nvSpPr>
        <p:spPr>
          <a:xfrm>
            <a:off x="786384" y="3611880"/>
            <a:ext cx="1810512"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Marketing Channels</a:t>
            </a:r>
            <a:endParaRPr lang="en-US" sz="1150" dirty="0"/>
          </a:p>
        </p:txBody>
      </p:sp>
      <p:sp>
        <p:nvSpPr>
          <p:cNvPr id="23" name="Shape 21"/>
          <p:cNvSpPr/>
          <p:nvPr/>
        </p:nvSpPr>
        <p:spPr>
          <a:xfrm>
            <a:off x="2688336" y="4000500"/>
            <a:ext cx="155448" cy="0"/>
          </a:xfrm>
          <a:prstGeom prst="line">
            <a:avLst/>
          </a:prstGeom>
          <a:noFill/>
          <a:ln w="19050">
            <a:solidFill>
              <a:srgbClr val="0FB5A6"/>
            </a:solidFill>
            <a:prstDash val="solid"/>
            <a:tailEnd type="triangle"/>
          </a:ln>
        </p:spPr>
      </p:sp>
      <p:sp>
        <p:nvSpPr>
          <p:cNvPr id="24" name="Shape 22"/>
          <p:cNvSpPr/>
          <p:nvPr/>
        </p:nvSpPr>
        <p:spPr>
          <a:xfrm>
            <a:off x="2880360" y="3611880"/>
            <a:ext cx="1920240" cy="777240"/>
          </a:xfrm>
          <a:prstGeom prst="roundRect">
            <a:avLst>
              <a:gd name="adj" fmla="val 7059"/>
            </a:avLst>
          </a:prstGeom>
          <a:solidFill>
            <a:srgbClr val="17305C"/>
          </a:solidFill>
          <a:ln w="12700">
            <a:solidFill>
              <a:srgbClr val="22406F"/>
            </a:solidFill>
            <a:prstDash val="solid"/>
          </a:ln>
        </p:spPr>
      </p:sp>
      <p:sp>
        <p:nvSpPr>
          <p:cNvPr id="25" name="Text 23"/>
          <p:cNvSpPr txBox="1"/>
          <p:nvPr/>
        </p:nvSpPr>
        <p:spPr>
          <a:xfrm>
            <a:off x="2935224" y="3611880"/>
            <a:ext cx="1810512"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Customer Touchpoints</a:t>
            </a:r>
            <a:endParaRPr lang="en-US" sz="1150" dirty="0"/>
          </a:p>
        </p:txBody>
      </p:sp>
      <p:sp>
        <p:nvSpPr>
          <p:cNvPr id="26" name="Shape 24"/>
          <p:cNvSpPr/>
          <p:nvPr/>
        </p:nvSpPr>
        <p:spPr>
          <a:xfrm>
            <a:off x="4837176" y="4000500"/>
            <a:ext cx="155448" cy="0"/>
          </a:xfrm>
          <a:prstGeom prst="line">
            <a:avLst/>
          </a:prstGeom>
          <a:noFill/>
          <a:ln w="19050">
            <a:solidFill>
              <a:srgbClr val="0FB5A6"/>
            </a:solidFill>
            <a:prstDash val="solid"/>
            <a:tailEnd type="triangle"/>
          </a:ln>
        </p:spPr>
      </p:sp>
      <p:sp>
        <p:nvSpPr>
          <p:cNvPr id="27" name="Shape 25"/>
          <p:cNvSpPr/>
          <p:nvPr/>
        </p:nvSpPr>
        <p:spPr>
          <a:xfrm>
            <a:off x="5029200" y="3611880"/>
            <a:ext cx="1920240" cy="777240"/>
          </a:xfrm>
          <a:prstGeom prst="roundRect">
            <a:avLst>
              <a:gd name="adj" fmla="val 7059"/>
            </a:avLst>
          </a:prstGeom>
          <a:solidFill>
            <a:srgbClr val="17305C"/>
          </a:solidFill>
          <a:ln w="12700">
            <a:solidFill>
              <a:srgbClr val="22406F"/>
            </a:solidFill>
            <a:prstDash val="solid"/>
          </a:ln>
        </p:spPr>
      </p:sp>
      <p:sp>
        <p:nvSpPr>
          <p:cNvPr id="28" name="Text 26"/>
          <p:cNvSpPr txBox="1"/>
          <p:nvPr/>
        </p:nvSpPr>
        <p:spPr>
          <a:xfrm>
            <a:off x="5084064" y="3611880"/>
            <a:ext cx="1810512"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Conversion</a:t>
            </a:r>
            <a:endParaRPr lang="en-US" sz="1150" dirty="0"/>
          </a:p>
        </p:txBody>
      </p:sp>
      <p:sp>
        <p:nvSpPr>
          <p:cNvPr id="29" name="Shape 27"/>
          <p:cNvSpPr/>
          <p:nvPr/>
        </p:nvSpPr>
        <p:spPr>
          <a:xfrm>
            <a:off x="6986016" y="4000500"/>
            <a:ext cx="155448" cy="0"/>
          </a:xfrm>
          <a:prstGeom prst="line">
            <a:avLst/>
          </a:prstGeom>
          <a:noFill/>
          <a:ln w="19050">
            <a:solidFill>
              <a:srgbClr val="0FB5A6"/>
            </a:solidFill>
            <a:prstDash val="solid"/>
            <a:tailEnd type="triangle"/>
          </a:ln>
        </p:spPr>
      </p:sp>
      <p:sp>
        <p:nvSpPr>
          <p:cNvPr id="30" name="Shape 28"/>
          <p:cNvSpPr/>
          <p:nvPr/>
        </p:nvSpPr>
        <p:spPr>
          <a:xfrm>
            <a:off x="7178040" y="3611880"/>
            <a:ext cx="1920240" cy="777240"/>
          </a:xfrm>
          <a:prstGeom prst="roundRect">
            <a:avLst>
              <a:gd name="adj" fmla="val 7059"/>
            </a:avLst>
          </a:prstGeom>
          <a:solidFill>
            <a:srgbClr val="17305C"/>
          </a:solidFill>
          <a:ln w="12700">
            <a:solidFill>
              <a:srgbClr val="22406F"/>
            </a:solidFill>
            <a:prstDash val="solid"/>
          </a:ln>
        </p:spPr>
      </p:sp>
      <p:sp>
        <p:nvSpPr>
          <p:cNvPr id="31" name="Text 29"/>
          <p:cNvSpPr txBox="1"/>
          <p:nvPr/>
        </p:nvSpPr>
        <p:spPr>
          <a:xfrm>
            <a:off x="7232904" y="3611880"/>
            <a:ext cx="1810512"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Revenue</a:t>
            </a:r>
            <a:endParaRPr lang="en-US" sz="1150" dirty="0"/>
          </a:p>
        </p:txBody>
      </p:sp>
      <p:sp>
        <p:nvSpPr>
          <p:cNvPr id="32" name="Shape 30"/>
          <p:cNvSpPr/>
          <p:nvPr/>
        </p:nvSpPr>
        <p:spPr>
          <a:xfrm>
            <a:off x="9134856" y="4000500"/>
            <a:ext cx="155448" cy="0"/>
          </a:xfrm>
          <a:prstGeom prst="line">
            <a:avLst/>
          </a:prstGeom>
          <a:noFill/>
          <a:ln w="19050">
            <a:solidFill>
              <a:srgbClr val="0FB5A6"/>
            </a:solidFill>
            <a:prstDash val="solid"/>
            <a:tailEnd type="triangle"/>
          </a:ln>
        </p:spPr>
      </p:sp>
      <p:sp>
        <p:nvSpPr>
          <p:cNvPr id="33" name="Shape 31"/>
          <p:cNvSpPr/>
          <p:nvPr/>
        </p:nvSpPr>
        <p:spPr>
          <a:xfrm>
            <a:off x="9326880" y="3611880"/>
            <a:ext cx="1920240" cy="777240"/>
          </a:xfrm>
          <a:prstGeom prst="roundRect">
            <a:avLst>
              <a:gd name="adj" fmla="val 7059"/>
            </a:avLst>
          </a:prstGeom>
          <a:solidFill>
            <a:srgbClr val="F2762E"/>
          </a:solidFill>
          <a:ln w="12700">
            <a:solidFill>
              <a:srgbClr val="F2762E"/>
            </a:solidFill>
            <a:prstDash val="solid"/>
          </a:ln>
        </p:spPr>
      </p:sp>
      <p:sp>
        <p:nvSpPr>
          <p:cNvPr id="34" name="Text 32"/>
          <p:cNvSpPr txBox="1"/>
          <p:nvPr/>
        </p:nvSpPr>
        <p:spPr>
          <a:xfrm>
            <a:off x="9381744" y="3611880"/>
            <a:ext cx="1810512"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ROI Decision</a:t>
            </a:r>
            <a:endParaRPr lang="en-US" sz="1150" dirty="0"/>
          </a:p>
        </p:txBody>
      </p:sp>
      <p:sp>
        <p:nvSpPr>
          <p:cNvPr id="35" name="Text 33"/>
          <p:cNvSpPr txBox="1"/>
          <p:nvPr/>
        </p:nvSpPr>
        <p:spPr>
          <a:xfrm>
            <a:off x="731520" y="5120640"/>
            <a:ext cx="2011680" cy="201168"/>
          </a:xfrm>
          <a:prstGeom prst="rect">
            <a:avLst/>
          </a:prstGeom>
          <a:noFill/>
          <a:ln/>
        </p:spPr>
        <p:txBody>
          <a:bodyPr wrap="square" lIns="0" tIns="0" rIns="0" bIns="0" rtlCol="0" anchor="ctr"/>
          <a:lstStyle/>
          <a:p>
            <a:pPr indent="0" marL="0">
              <a:buNone/>
            </a:pPr>
            <a:r>
              <a:rPr lang="en-US" sz="900" b="1" spc="150" kern="0" dirty="0">
                <a:solidFill>
                  <a:srgbClr val="0FB5A6"/>
                </a:solidFill>
                <a:latin typeface="Calibri" pitchFamily="34" charset="0"/>
                <a:ea typeface="Calibri" pitchFamily="34" charset="-122"/>
                <a:cs typeface="Calibri" pitchFamily="34" charset="-120"/>
              </a:rPr>
              <a:t>STUDENT</a:t>
            </a:r>
            <a:endParaRPr lang="en-US" sz="900" dirty="0"/>
          </a:p>
        </p:txBody>
      </p:sp>
      <p:sp>
        <p:nvSpPr>
          <p:cNvPr id="36" name="Text 34"/>
          <p:cNvSpPr txBox="1"/>
          <p:nvPr/>
        </p:nvSpPr>
        <p:spPr>
          <a:xfrm>
            <a:off x="731520" y="5349240"/>
            <a:ext cx="201168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[Student Name]</a:t>
            </a:r>
            <a:endParaRPr lang="en-US" sz="1250" dirty="0"/>
          </a:p>
        </p:txBody>
      </p:sp>
      <p:sp>
        <p:nvSpPr>
          <p:cNvPr id="37" name="Text 35"/>
          <p:cNvSpPr txBox="1"/>
          <p:nvPr/>
        </p:nvSpPr>
        <p:spPr>
          <a:xfrm>
            <a:off x="2880360" y="5120640"/>
            <a:ext cx="2011680" cy="201168"/>
          </a:xfrm>
          <a:prstGeom prst="rect">
            <a:avLst/>
          </a:prstGeom>
          <a:noFill/>
          <a:ln/>
        </p:spPr>
        <p:txBody>
          <a:bodyPr wrap="square" lIns="0" tIns="0" rIns="0" bIns="0" rtlCol="0" anchor="ctr"/>
          <a:lstStyle/>
          <a:p>
            <a:pPr indent="0" marL="0">
              <a:buNone/>
            </a:pPr>
            <a:r>
              <a:rPr lang="en-US" sz="900" b="1" spc="150" kern="0" dirty="0">
                <a:solidFill>
                  <a:srgbClr val="0FB5A6"/>
                </a:solidFill>
                <a:latin typeface="Calibri" pitchFamily="34" charset="0"/>
                <a:ea typeface="Calibri" pitchFamily="34" charset="-122"/>
                <a:cs typeface="Calibri" pitchFamily="34" charset="-120"/>
              </a:rPr>
              <a:t>DEPARTMENT</a:t>
            </a:r>
            <a:endParaRPr lang="en-US" sz="900" dirty="0"/>
          </a:p>
        </p:txBody>
      </p:sp>
      <p:sp>
        <p:nvSpPr>
          <p:cNvPr id="38" name="Text 36"/>
          <p:cNvSpPr txBox="1"/>
          <p:nvPr/>
        </p:nvSpPr>
        <p:spPr>
          <a:xfrm>
            <a:off x="2880360" y="5349240"/>
            <a:ext cx="201168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[Department / Institution]</a:t>
            </a:r>
            <a:endParaRPr lang="en-US" sz="1250" dirty="0"/>
          </a:p>
        </p:txBody>
      </p:sp>
      <p:sp>
        <p:nvSpPr>
          <p:cNvPr id="39" name="Text 37"/>
          <p:cNvSpPr txBox="1"/>
          <p:nvPr/>
        </p:nvSpPr>
        <p:spPr>
          <a:xfrm>
            <a:off x="5029200" y="5120640"/>
            <a:ext cx="2011680" cy="201168"/>
          </a:xfrm>
          <a:prstGeom prst="rect">
            <a:avLst/>
          </a:prstGeom>
          <a:noFill/>
          <a:ln/>
        </p:spPr>
        <p:txBody>
          <a:bodyPr wrap="square" lIns="0" tIns="0" rIns="0" bIns="0" rtlCol="0" anchor="ctr"/>
          <a:lstStyle/>
          <a:p>
            <a:pPr indent="0" marL="0">
              <a:buNone/>
            </a:pPr>
            <a:r>
              <a:rPr lang="en-US" sz="900" b="1" spc="150" kern="0" dirty="0">
                <a:solidFill>
                  <a:srgbClr val="0FB5A6"/>
                </a:solidFill>
                <a:latin typeface="Calibri" pitchFamily="34" charset="0"/>
                <a:ea typeface="Calibri" pitchFamily="34" charset="-122"/>
                <a:cs typeface="Calibri" pitchFamily="34" charset="-120"/>
              </a:rPr>
              <a:t>PROJECT GUIDE</a:t>
            </a:r>
            <a:endParaRPr lang="en-US" sz="900" dirty="0"/>
          </a:p>
        </p:txBody>
      </p:sp>
      <p:sp>
        <p:nvSpPr>
          <p:cNvPr id="40" name="Text 38"/>
          <p:cNvSpPr txBox="1"/>
          <p:nvPr/>
        </p:nvSpPr>
        <p:spPr>
          <a:xfrm>
            <a:off x="5029200" y="5349240"/>
            <a:ext cx="201168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[Guide Name]</a:t>
            </a:r>
            <a:endParaRPr lang="en-US" sz="1250" dirty="0"/>
          </a:p>
        </p:txBody>
      </p:sp>
      <p:sp>
        <p:nvSpPr>
          <p:cNvPr id="41" name="Text 39"/>
          <p:cNvSpPr txBox="1"/>
          <p:nvPr/>
        </p:nvSpPr>
        <p:spPr>
          <a:xfrm>
            <a:off x="7178040" y="5120640"/>
            <a:ext cx="2011680" cy="201168"/>
          </a:xfrm>
          <a:prstGeom prst="rect">
            <a:avLst/>
          </a:prstGeom>
          <a:noFill/>
          <a:ln/>
        </p:spPr>
        <p:txBody>
          <a:bodyPr wrap="square" lIns="0" tIns="0" rIns="0" bIns="0" rtlCol="0" anchor="ctr"/>
          <a:lstStyle/>
          <a:p>
            <a:pPr indent="0" marL="0">
              <a:buNone/>
            </a:pPr>
            <a:r>
              <a:rPr lang="en-US" sz="900" b="1" spc="150" kern="0" dirty="0">
                <a:solidFill>
                  <a:srgbClr val="0FB5A6"/>
                </a:solidFill>
                <a:latin typeface="Calibri" pitchFamily="34" charset="0"/>
                <a:ea typeface="Calibri" pitchFamily="34" charset="-122"/>
                <a:cs typeface="Calibri" pitchFamily="34" charset="-120"/>
              </a:rPr>
              <a:t>ACADEMIC YEAR</a:t>
            </a:r>
            <a:endParaRPr lang="en-US" sz="900" dirty="0"/>
          </a:p>
        </p:txBody>
      </p:sp>
      <p:sp>
        <p:nvSpPr>
          <p:cNvPr id="42" name="Text 40"/>
          <p:cNvSpPr txBox="1"/>
          <p:nvPr/>
        </p:nvSpPr>
        <p:spPr>
          <a:xfrm>
            <a:off x="7178040" y="5349240"/>
            <a:ext cx="201168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[2025 - 2026]</a:t>
            </a:r>
            <a:endParaRPr lang="en-US" sz="1250" dirty="0"/>
          </a:p>
        </p:txBody>
      </p:sp>
      <p:sp>
        <p:nvSpPr>
          <p:cNvPr id="43" name="Text 41"/>
          <p:cNvSpPr txBox="1"/>
          <p:nvPr/>
        </p:nvSpPr>
        <p:spPr>
          <a:xfrm>
            <a:off x="9326880" y="5120640"/>
            <a:ext cx="2011680" cy="201168"/>
          </a:xfrm>
          <a:prstGeom prst="rect">
            <a:avLst/>
          </a:prstGeom>
          <a:noFill/>
          <a:ln/>
        </p:spPr>
        <p:txBody>
          <a:bodyPr wrap="square" lIns="0" tIns="0" rIns="0" bIns="0" rtlCol="0" anchor="ctr"/>
          <a:lstStyle/>
          <a:p>
            <a:pPr indent="0" marL="0">
              <a:buNone/>
            </a:pPr>
            <a:r>
              <a:rPr lang="en-US" sz="900" b="1" spc="150" kern="0" dirty="0">
                <a:solidFill>
                  <a:srgbClr val="0FB5A6"/>
                </a:solidFill>
                <a:latin typeface="Calibri" pitchFamily="34" charset="0"/>
                <a:ea typeface="Calibri" pitchFamily="34" charset="-122"/>
                <a:cs typeface="Calibri" pitchFamily="34" charset="-120"/>
              </a:rPr>
              <a:t>DATE</a:t>
            </a:r>
            <a:endParaRPr lang="en-US" sz="900" dirty="0"/>
          </a:p>
        </p:txBody>
      </p:sp>
      <p:sp>
        <p:nvSpPr>
          <p:cNvPr id="44" name="Text 42"/>
          <p:cNvSpPr txBox="1"/>
          <p:nvPr/>
        </p:nvSpPr>
        <p:spPr>
          <a:xfrm>
            <a:off x="9326880" y="5349240"/>
            <a:ext cx="201168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[DD Month YYYY]</a:t>
            </a:r>
            <a:endParaRPr lang="en-US" sz="1250" dirty="0"/>
          </a:p>
        </p:txBody>
      </p:sp>
      <p:sp>
        <p:nvSpPr>
          <p:cNvPr id="45" name="Text 43"/>
          <p:cNvSpPr txBox="1"/>
          <p:nvPr/>
        </p:nvSpPr>
        <p:spPr>
          <a:xfrm>
            <a:off x="731520" y="6080760"/>
            <a:ext cx="10515600" cy="274320"/>
          </a:xfrm>
          <a:prstGeom prst="rect">
            <a:avLst/>
          </a:prstGeom>
          <a:noFill/>
          <a:ln/>
        </p:spPr>
        <p:txBody>
          <a:bodyPr wrap="square" lIns="0" tIns="0" rIns="0" bIns="0" rtlCol="0" anchor="ctr"/>
          <a:lstStyle/>
          <a:p>
            <a:pPr indent="0" marL="0">
              <a:buNone/>
            </a:pPr>
            <a:r>
              <a:rPr lang="en-US" sz="1100" i="1" dirty="0">
                <a:solidFill>
                  <a:srgbClr val="A9BEDD"/>
                </a:solidFill>
                <a:latin typeface="Calibri" pitchFamily="34" charset="0"/>
                <a:ea typeface="Calibri" pitchFamily="34" charset="-122"/>
                <a:cs typeface="Calibri" pitchFamily="34" charset="-120"/>
              </a:rPr>
              <a:t>Decision-support system  ·  Attribution  ·  Funnel  ·  Cohorts  ·  Budget optimisation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A8377"/>
                </a:solidFill>
                <a:latin typeface="Calibri" pitchFamily="34" charset="0"/>
                <a:ea typeface="Calibri" pitchFamily="34" charset="-122"/>
                <a:cs typeface="Calibri" pitchFamily="34" charset="-120"/>
              </a:rPr>
              <a:t>PROBLEM STATEMENT AND MOTIVATION</a:t>
            </a:r>
            <a:endParaRPr lang="en-US" sz="1050" dirty="0"/>
          </a:p>
        </p:txBody>
      </p:sp>
      <p:sp>
        <p:nvSpPr>
          <p:cNvPr id="3" name="Text 1"/>
          <p:cNvSpPr txBox="1"/>
          <p:nvPr/>
        </p:nvSpPr>
        <p:spPr>
          <a:xfrm>
            <a:off x="548640" y="566928"/>
            <a:ext cx="11064240" cy="548640"/>
          </a:xfrm>
          <a:prstGeom prst="rect">
            <a:avLst/>
          </a:prstGeom>
          <a:noFill/>
          <a:ln/>
        </p:spPr>
        <p:txBody>
          <a:bodyPr wrap="square" lIns="0" tIns="0" rIns="0" bIns="0" rtlCol="0" anchor="ctr"/>
          <a:lstStyle/>
          <a:p>
            <a:pPr indent="0" marL="0">
              <a:buNone/>
            </a:pPr>
            <a:r>
              <a:rPr lang="en-US" sz="3000" b="1" dirty="0">
                <a:solidFill>
                  <a:srgbClr val="0B1B3A"/>
                </a:solidFill>
                <a:latin typeface="Cambria" pitchFamily="34" charset="0"/>
                <a:ea typeface="Cambria" pitchFamily="34" charset="-122"/>
                <a:cs typeface="Cambria" pitchFamily="34" charset="-120"/>
              </a:rPr>
              <a:t>Why Is Campaign Evaluation Difficult?</a:t>
            </a:r>
            <a:endParaRPr lang="en-US" sz="3000" dirty="0"/>
          </a:p>
        </p:txBody>
      </p:sp>
      <p:sp>
        <p:nvSpPr>
          <p:cNvPr id="4" name="Text 2"/>
          <p:cNvSpPr txBox="1"/>
          <p:nvPr/>
        </p:nvSpPr>
        <p:spPr>
          <a:xfrm>
            <a:off x="548640" y="1207008"/>
            <a:ext cx="7315200" cy="237744"/>
          </a:xfrm>
          <a:prstGeom prst="rect">
            <a:avLst/>
          </a:prstGeom>
          <a:noFill/>
          <a:ln/>
        </p:spPr>
        <p:txBody>
          <a:bodyPr wrap="square" lIns="0" tIns="0" rIns="0" bIns="0" rtlCol="0" anchor="ctr"/>
          <a:lstStyle/>
          <a:p>
            <a:pPr indent="0" marL="0">
              <a:buNone/>
            </a:pPr>
            <a:r>
              <a:rPr lang="en-US" sz="1250" b="1" dirty="0">
                <a:solidFill>
                  <a:srgbClr val="5D6B85"/>
                </a:solidFill>
                <a:latin typeface="Calibri" pitchFamily="34" charset="0"/>
                <a:ea typeface="Calibri" pitchFamily="34" charset="-122"/>
                <a:cs typeface="Calibri" pitchFamily="34" charset="-120"/>
              </a:rPr>
              <a:t>Marketing data is distributed across four disconnected systems</a:t>
            </a:r>
            <a:endParaRPr lang="en-US" sz="1250" dirty="0"/>
          </a:p>
        </p:txBody>
      </p:sp>
      <p:sp>
        <p:nvSpPr>
          <p:cNvPr id="5" name="Shape 3"/>
          <p:cNvSpPr/>
          <p:nvPr/>
        </p:nvSpPr>
        <p:spPr>
          <a:xfrm>
            <a:off x="548640" y="1536192"/>
            <a:ext cx="2651760" cy="914400"/>
          </a:xfrm>
          <a:prstGeom prst="roundRect">
            <a:avLst>
              <a:gd name="adj" fmla="val 6000"/>
            </a:avLst>
          </a:prstGeom>
          <a:solidFill>
            <a:srgbClr val="FFFFFF"/>
          </a:solidFill>
          <a:ln w="12700">
            <a:solidFill>
              <a:srgbClr val="D6DDEA"/>
            </a:solidFill>
            <a:prstDash val="solid"/>
          </a:ln>
          <a:effectLst>
            <a:outerShdw sx="100000" sy="100000" kx="0" ky="0" algn="bl" rotWithShape="0" blurRad="101600" dist="12700" dir="5400000">
              <a:srgbClr val="AFBACD">
                <a:alpha val="30000"/>
              </a:srgbClr>
            </a:outerShdw>
          </a:effectLst>
        </p:spPr>
      </p:sp>
      <p:sp>
        <p:nvSpPr>
          <p:cNvPr id="6" name="Text 4"/>
          <p:cNvSpPr txBox="1"/>
          <p:nvPr/>
        </p:nvSpPr>
        <p:spPr>
          <a:xfrm>
            <a:off x="749808" y="1682496"/>
            <a:ext cx="2286000" cy="256032"/>
          </a:xfrm>
          <a:prstGeom prst="rect">
            <a:avLst/>
          </a:prstGeom>
          <a:noFill/>
          <a:ln/>
        </p:spPr>
        <p:txBody>
          <a:bodyPr wrap="square" lIns="0" tIns="0" rIns="0" bIns="0" rtlCol="0" anchor="ctr"/>
          <a:lstStyle/>
          <a:p>
            <a:pPr indent="0" marL="0">
              <a:buNone/>
            </a:pPr>
            <a:r>
              <a:rPr lang="en-US" sz="1300" b="1" dirty="0">
                <a:solidFill>
                  <a:srgbClr val="0B1B3A"/>
                </a:solidFill>
                <a:latin typeface="Calibri" pitchFamily="34" charset="0"/>
                <a:ea typeface="Calibri" pitchFamily="34" charset="-122"/>
                <a:cs typeface="Calibri" pitchFamily="34" charset="-120"/>
              </a:rPr>
              <a:t>Advertising platforms</a:t>
            </a:r>
            <a:endParaRPr lang="en-US" sz="1300" dirty="0"/>
          </a:p>
        </p:txBody>
      </p:sp>
      <p:sp>
        <p:nvSpPr>
          <p:cNvPr id="7" name="Text 5"/>
          <p:cNvSpPr txBox="1"/>
          <p:nvPr/>
        </p:nvSpPr>
        <p:spPr>
          <a:xfrm>
            <a:off x="749808" y="1965960"/>
            <a:ext cx="2286000" cy="384048"/>
          </a:xfrm>
          <a:prstGeom prst="rect">
            <a:avLst/>
          </a:prstGeom>
          <a:noFill/>
          <a:ln/>
        </p:spPr>
        <p:txBody>
          <a:bodyPr wrap="square" lIns="0" tIns="0" rIns="0" bIns="0" rtlCol="0" anchor="ctr"/>
          <a:lstStyle/>
          <a:p>
            <a:pPr indent="0" marL="0">
              <a:buNone/>
            </a:pPr>
            <a:r>
              <a:rPr lang="en-US" sz="1100" dirty="0">
                <a:solidFill>
                  <a:srgbClr val="5D6B85"/>
                </a:solidFill>
                <a:latin typeface="Calibri" pitchFamily="34" charset="0"/>
                <a:ea typeface="Calibri" pitchFamily="34" charset="-122"/>
                <a:cs typeface="Calibri" pitchFamily="34" charset="-120"/>
              </a:rPr>
              <a:t>Impressions, clicks, spend</a:t>
            </a:r>
            <a:endParaRPr lang="en-US" sz="1100" dirty="0"/>
          </a:p>
        </p:txBody>
      </p:sp>
      <p:sp>
        <p:nvSpPr>
          <p:cNvPr id="8" name="Shape 6"/>
          <p:cNvSpPr/>
          <p:nvPr/>
        </p:nvSpPr>
        <p:spPr>
          <a:xfrm>
            <a:off x="3383280" y="1536192"/>
            <a:ext cx="2651760" cy="914400"/>
          </a:xfrm>
          <a:prstGeom prst="roundRect">
            <a:avLst>
              <a:gd name="adj" fmla="val 6000"/>
            </a:avLst>
          </a:prstGeom>
          <a:solidFill>
            <a:srgbClr val="FFFFFF"/>
          </a:solidFill>
          <a:ln w="12700">
            <a:solidFill>
              <a:srgbClr val="D6DDEA"/>
            </a:solidFill>
            <a:prstDash val="solid"/>
          </a:ln>
          <a:effectLst>
            <a:outerShdw sx="100000" sy="100000" kx="0" ky="0" algn="bl" rotWithShape="0" blurRad="101600" dist="12700" dir="5400000">
              <a:srgbClr val="AFBACD">
                <a:alpha val="30000"/>
              </a:srgbClr>
            </a:outerShdw>
          </a:effectLst>
        </p:spPr>
      </p:sp>
      <p:sp>
        <p:nvSpPr>
          <p:cNvPr id="9" name="Text 7"/>
          <p:cNvSpPr txBox="1"/>
          <p:nvPr/>
        </p:nvSpPr>
        <p:spPr>
          <a:xfrm>
            <a:off x="3584448" y="1682496"/>
            <a:ext cx="2286000" cy="256032"/>
          </a:xfrm>
          <a:prstGeom prst="rect">
            <a:avLst/>
          </a:prstGeom>
          <a:noFill/>
          <a:ln/>
        </p:spPr>
        <p:txBody>
          <a:bodyPr wrap="square" lIns="0" tIns="0" rIns="0" bIns="0" rtlCol="0" anchor="ctr"/>
          <a:lstStyle/>
          <a:p>
            <a:pPr indent="0" marL="0">
              <a:buNone/>
            </a:pPr>
            <a:r>
              <a:rPr lang="en-US" sz="1300" b="1" dirty="0">
                <a:solidFill>
                  <a:srgbClr val="0B1B3A"/>
                </a:solidFill>
                <a:latin typeface="Calibri" pitchFamily="34" charset="0"/>
                <a:ea typeface="Calibri" pitchFamily="34" charset="-122"/>
                <a:cs typeface="Calibri" pitchFamily="34" charset="-120"/>
              </a:rPr>
              <a:t>Web analytics</a:t>
            </a:r>
            <a:endParaRPr lang="en-US" sz="1300" dirty="0"/>
          </a:p>
        </p:txBody>
      </p:sp>
      <p:sp>
        <p:nvSpPr>
          <p:cNvPr id="10" name="Text 8"/>
          <p:cNvSpPr txBox="1"/>
          <p:nvPr/>
        </p:nvSpPr>
        <p:spPr>
          <a:xfrm>
            <a:off x="3584448" y="1965960"/>
            <a:ext cx="2286000" cy="384048"/>
          </a:xfrm>
          <a:prstGeom prst="rect">
            <a:avLst/>
          </a:prstGeom>
          <a:noFill/>
          <a:ln/>
        </p:spPr>
        <p:txBody>
          <a:bodyPr wrap="square" lIns="0" tIns="0" rIns="0" bIns="0" rtlCol="0" anchor="ctr"/>
          <a:lstStyle/>
          <a:p>
            <a:pPr indent="0" marL="0">
              <a:buNone/>
            </a:pPr>
            <a:r>
              <a:rPr lang="en-US" sz="1100" dirty="0">
                <a:solidFill>
                  <a:srgbClr val="5D6B85"/>
                </a:solidFill>
                <a:latin typeface="Calibri" pitchFamily="34" charset="0"/>
                <a:ea typeface="Calibri" pitchFamily="34" charset="-122"/>
                <a:cs typeface="Calibri" pitchFamily="34" charset="-120"/>
              </a:rPr>
              <a:t>Sessions, page and event data</a:t>
            </a:r>
            <a:endParaRPr lang="en-US" sz="1100" dirty="0"/>
          </a:p>
        </p:txBody>
      </p:sp>
      <p:sp>
        <p:nvSpPr>
          <p:cNvPr id="11" name="Shape 9"/>
          <p:cNvSpPr/>
          <p:nvPr/>
        </p:nvSpPr>
        <p:spPr>
          <a:xfrm>
            <a:off x="6217920" y="1536192"/>
            <a:ext cx="2651760" cy="914400"/>
          </a:xfrm>
          <a:prstGeom prst="roundRect">
            <a:avLst>
              <a:gd name="adj" fmla="val 6000"/>
            </a:avLst>
          </a:prstGeom>
          <a:solidFill>
            <a:srgbClr val="FFFFFF"/>
          </a:solidFill>
          <a:ln w="12700">
            <a:solidFill>
              <a:srgbClr val="D6DDEA"/>
            </a:solidFill>
            <a:prstDash val="solid"/>
          </a:ln>
          <a:effectLst>
            <a:outerShdw sx="100000" sy="100000" kx="0" ky="0" algn="bl" rotWithShape="0" blurRad="101600" dist="12700" dir="5400000">
              <a:srgbClr val="AFBACD">
                <a:alpha val="30000"/>
              </a:srgbClr>
            </a:outerShdw>
          </a:effectLst>
        </p:spPr>
      </p:sp>
      <p:sp>
        <p:nvSpPr>
          <p:cNvPr id="12" name="Text 10"/>
          <p:cNvSpPr txBox="1"/>
          <p:nvPr/>
        </p:nvSpPr>
        <p:spPr>
          <a:xfrm>
            <a:off x="6419088" y="1682496"/>
            <a:ext cx="2286000" cy="256032"/>
          </a:xfrm>
          <a:prstGeom prst="rect">
            <a:avLst/>
          </a:prstGeom>
          <a:noFill/>
          <a:ln/>
        </p:spPr>
        <p:txBody>
          <a:bodyPr wrap="square" lIns="0" tIns="0" rIns="0" bIns="0" rtlCol="0" anchor="ctr"/>
          <a:lstStyle/>
          <a:p>
            <a:pPr indent="0" marL="0">
              <a:buNone/>
            </a:pPr>
            <a:r>
              <a:rPr lang="en-US" sz="1300" b="1" dirty="0">
                <a:solidFill>
                  <a:srgbClr val="0B1B3A"/>
                </a:solidFill>
                <a:latin typeface="Calibri" pitchFamily="34" charset="0"/>
                <a:ea typeface="Calibri" pitchFamily="34" charset="-122"/>
                <a:cs typeface="Calibri" pitchFamily="34" charset="-120"/>
              </a:rPr>
              <a:t>CRM systems</a:t>
            </a:r>
            <a:endParaRPr lang="en-US" sz="1300" dirty="0"/>
          </a:p>
        </p:txBody>
      </p:sp>
      <p:sp>
        <p:nvSpPr>
          <p:cNvPr id="13" name="Text 11"/>
          <p:cNvSpPr txBox="1"/>
          <p:nvPr/>
        </p:nvSpPr>
        <p:spPr>
          <a:xfrm>
            <a:off x="6419088" y="1965960"/>
            <a:ext cx="2286000" cy="384048"/>
          </a:xfrm>
          <a:prstGeom prst="rect">
            <a:avLst/>
          </a:prstGeom>
          <a:noFill/>
          <a:ln/>
        </p:spPr>
        <p:txBody>
          <a:bodyPr wrap="square" lIns="0" tIns="0" rIns="0" bIns="0" rtlCol="0" anchor="ctr"/>
          <a:lstStyle/>
          <a:p>
            <a:pPr indent="0" marL="0">
              <a:buNone/>
            </a:pPr>
            <a:r>
              <a:rPr lang="en-US" sz="1100" dirty="0">
                <a:solidFill>
                  <a:srgbClr val="5D6B85"/>
                </a:solidFill>
                <a:latin typeface="Calibri" pitchFamily="34" charset="0"/>
                <a:ea typeface="Calibri" pitchFamily="34" charset="-122"/>
                <a:cs typeface="Calibri" pitchFamily="34" charset="-120"/>
              </a:rPr>
              <a:t>Leads and customer records</a:t>
            </a:r>
            <a:endParaRPr lang="en-US" sz="1100" dirty="0"/>
          </a:p>
        </p:txBody>
      </p:sp>
      <p:sp>
        <p:nvSpPr>
          <p:cNvPr id="14" name="Shape 12"/>
          <p:cNvSpPr/>
          <p:nvPr/>
        </p:nvSpPr>
        <p:spPr>
          <a:xfrm>
            <a:off x="9052560" y="1536192"/>
            <a:ext cx="2651760" cy="914400"/>
          </a:xfrm>
          <a:prstGeom prst="roundRect">
            <a:avLst>
              <a:gd name="adj" fmla="val 6000"/>
            </a:avLst>
          </a:prstGeom>
          <a:solidFill>
            <a:srgbClr val="FFFFFF"/>
          </a:solidFill>
          <a:ln w="12700">
            <a:solidFill>
              <a:srgbClr val="D6DDEA"/>
            </a:solidFill>
            <a:prstDash val="solid"/>
          </a:ln>
          <a:effectLst>
            <a:outerShdw sx="100000" sy="100000" kx="0" ky="0" algn="bl" rotWithShape="0" blurRad="101600" dist="12700" dir="5400000">
              <a:srgbClr val="AFBACD">
                <a:alpha val="30000"/>
              </a:srgbClr>
            </a:outerShdw>
          </a:effectLst>
        </p:spPr>
      </p:sp>
      <p:sp>
        <p:nvSpPr>
          <p:cNvPr id="15" name="Text 13"/>
          <p:cNvSpPr txBox="1"/>
          <p:nvPr/>
        </p:nvSpPr>
        <p:spPr>
          <a:xfrm>
            <a:off x="9253728" y="1682496"/>
            <a:ext cx="2286000" cy="256032"/>
          </a:xfrm>
          <a:prstGeom prst="rect">
            <a:avLst/>
          </a:prstGeom>
          <a:noFill/>
          <a:ln/>
        </p:spPr>
        <p:txBody>
          <a:bodyPr wrap="square" lIns="0" tIns="0" rIns="0" bIns="0" rtlCol="0" anchor="ctr"/>
          <a:lstStyle/>
          <a:p>
            <a:pPr indent="0" marL="0">
              <a:buNone/>
            </a:pPr>
            <a:r>
              <a:rPr lang="en-US" sz="1300" b="1" dirty="0">
                <a:solidFill>
                  <a:srgbClr val="0B1B3A"/>
                </a:solidFill>
                <a:latin typeface="Calibri" pitchFamily="34" charset="0"/>
                <a:ea typeface="Calibri" pitchFamily="34" charset="-122"/>
                <a:cs typeface="Calibri" pitchFamily="34" charset="-120"/>
              </a:rPr>
              <a:t>Sales systems</a:t>
            </a:r>
            <a:endParaRPr lang="en-US" sz="1300" dirty="0"/>
          </a:p>
        </p:txBody>
      </p:sp>
      <p:sp>
        <p:nvSpPr>
          <p:cNvPr id="16" name="Text 14"/>
          <p:cNvSpPr txBox="1"/>
          <p:nvPr/>
        </p:nvSpPr>
        <p:spPr>
          <a:xfrm>
            <a:off x="9253728" y="1965960"/>
            <a:ext cx="2286000" cy="384048"/>
          </a:xfrm>
          <a:prstGeom prst="rect">
            <a:avLst/>
          </a:prstGeom>
          <a:noFill/>
          <a:ln/>
        </p:spPr>
        <p:txBody>
          <a:bodyPr wrap="square" lIns="0" tIns="0" rIns="0" bIns="0" rtlCol="0" anchor="ctr"/>
          <a:lstStyle/>
          <a:p>
            <a:pPr indent="0" marL="0">
              <a:buNone/>
            </a:pPr>
            <a:r>
              <a:rPr lang="en-US" sz="1100" dirty="0">
                <a:solidFill>
                  <a:srgbClr val="5D6B85"/>
                </a:solidFill>
                <a:latin typeface="Calibri" pitchFamily="34" charset="0"/>
                <a:ea typeface="Calibri" pitchFamily="34" charset="-122"/>
                <a:cs typeface="Calibri" pitchFamily="34" charset="-120"/>
              </a:rPr>
              <a:t>Orders, revenue, refunds</a:t>
            </a:r>
            <a:endParaRPr lang="en-US" sz="1100" dirty="0"/>
          </a:p>
        </p:txBody>
      </p:sp>
      <p:sp>
        <p:nvSpPr>
          <p:cNvPr id="17" name="Text 15"/>
          <p:cNvSpPr txBox="1"/>
          <p:nvPr/>
        </p:nvSpPr>
        <p:spPr>
          <a:xfrm>
            <a:off x="548640" y="2697480"/>
            <a:ext cx="6400800" cy="237744"/>
          </a:xfrm>
          <a:prstGeom prst="rect">
            <a:avLst/>
          </a:prstGeom>
          <a:noFill/>
          <a:ln/>
        </p:spPr>
        <p:txBody>
          <a:bodyPr wrap="square" lIns="0" tIns="0" rIns="0" bIns="0" rtlCol="0" anchor="ctr"/>
          <a:lstStyle/>
          <a:p>
            <a:pPr indent="0" marL="0">
              <a:buNone/>
            </a:pPr>
            <a:r>
              <a:rPr lang="en-US" sz="1250" b="1" dirty="0">
                <a:solidFill>
                  <a:srgbClr val="5D6B85"/>
                </a:solidFill>
                <a:latin typeface="Calibri" pitchFamily="34" charset="0"/>
                <a:ea typeface="Calibri" pitchFamily="34" charset="-122"/>
                <a:cs typeface="Calibri" pitchFamily="34" charset="-120"/>
              </a:rPr>
              <a:t>Four consequences for decision making</a:t>
            </a:r>
            <a:endParaRPr lang="en-US" sz="1250" dirty="0"/>
          </a:p>
        </p:txBody>
      </p:sp>
      <p:sp>
        <p:nvSpPr>
          <p:cNvPr id="18" name="Shape 16"/>
          <p:cNvSpPr/>
          <p:nvPr/>
        </p:nvSpPr>
        <p:spPr>
          <a:xfrm>
            <a:off x="566928" y="3081528"/>
            <a:ext cx="274320" cy="274320"/>
          </a:xfrm>
          <a:prstGeom prst="ellipse">
            <a:avLst/>
          </a:prstGeom>
          <a:solidFill>
            <a:srgbClr val="0FB5A6"/>
          </a:solidFill>
          <a:ln/>
        </p:spPr>
      </p:sp>
      <p:sp>
        <p:nvSpPr>
          <p:cNvPr id="19" name="Text 17"/>
          <p:cNvSpPr txBox="1"/>
          <p:nvPr/>
        </p:nvSpPr>
        <p:spPr>
          <a:xfrm>
            <a:off x="566928" y="30815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8"/>
          <p:cNvSpPr txBox="1"/>
          <p:nvPr/>
        </p:nvSpPr>
        <p:spPr>
          <a:xfrm>
            <a:off x="960120" y="3035808"/>
            <a:ext cx="5760720" cy="384048"/>
          </a:xfrm>
          <a:prstGeom prst="rect">
            <a:avLst/>
          </a:prstGeom>
          <a:noFill/>
          <a:ln/>
        </p:spPr>
        <p:txBody>
          <a:bodyPr wrap="square" lIns="0" tIns="0" rIns="0" bIns="0" rtlCol="0" anchor="ctr"/>
          <a:lstStyle/>
          <a:p>
            <a:pPr indent="0" marL="0">
              <a:buNone/>
            </a:pPr>
            <a:r>
              <a:rPr lang="en-US" sz="1250" dirty="0">
                <a:solidFill>
                  <a:srgbClr val="0B1B3A"/>
                </a:solidFill>
                <a:latin typeface="Calibri" pitchFamily="34" charset="0"/>
                <a:ea typeface="Calibri" pitchFamily="34" charset="-122"/>
                <a:cs typeface="Calibri" pitchFamily="34" charset="-120"/>
              </a:rPr>
              <a:t>Last-click attribution gives all credit to the final touchpoint only.</a:t>
            </a:r>
            <a:endParaRPr lang="en-US" sz="1250" dirty="0"/>
          </a:p>
        </p:txBody>
      </p:sp>
      <p:sp>
        <p:nvSpPr>
          <p:cNvPr id="21" name="Shape 19"/>
          <p:cNvSpPr/>
          <p:nvPr/>
        </p:nvSpPr>
        <p:spPr>
          <a:xfrm>
            <a:off x="566928" y="3611880"/>
            <a:ext cx="274320" cy="274320"/>
          </a:xfrm>
          <a:prstGeom prst="ellipse">
            <a:avLst/>
          </a:prstGeom>
          <a:solidFill>
            <a:srgbClr val="0FB5A6"/>
          </a:solidFill>
          <a:ln/>
        </p:spPr>
      </p:sp>
      <p:sp>
        <p:nvSpPr>
          <p:cNvPr id="22" name="Text 20"/>
          <p:cNvSpPr txBox="1"/>
          <p:nvPr/>
        </p:nvSpPr>
        <p:spPr>
          <a:xfrm>
            <a:off x="566928" y="36118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Text 21"/>
          <p:cNvSpPr txBox="1"/>
          <p:nvPr/>
        </p:nvSpPr>
        <p:spPr>
          <a:xfrm>
            <a:off x="960120" y="3566160"/>
            <a:ext cx="5760720" cy="384048"/>
          </a:xfrm>
          <a:prstGeom prst="rect">
            <a:avLst/>
          </a:prstGeom>
          <a:noFill/>
          <a:ln/>
        </p:spPr>
        <p:txBody>
          <a:bodyPr wrap="square" lIns="0" tIns="0" rIns="0" bIns="0" rtlCol="0" anchor="ctr"/>
          <a:lstStyle/>
          <a:p>
            <a:pPr indent="0" marL="0">
              <a:buNone/>
            </a:pPr>
            <a:r>
              <a:rPr lang="en-US" sz="1250" dirty="0">
                <a:solidFill>
                  <a:srgbClr val="0B1B3A"/>
                </a:solidFill>
                <a:latin typeface="Calibri" pitchFamily="34" charset="0"/>
                <a:ea typeface="Calibri" pitchFamily="34" charset="-122"/>
                <a:cs typeface="Calibri" pitchFamily="34" charset="-120"/>
              </a:rPr>
              <a:t>Funnel drop-off points cannot be located or explained.</a:t>
            </a:r>
            <a:endParaRPr lang="en-US" sz="1250" dirty="0"/>
          </a:p>
        </p:txBody>
      </p:sp>
      <p:sp>
        <p:nvSpPr>
          <p:cNvPr id="24" name="Shape 22"/>
          <p:cNvSpPr/>
          <p:nvPr/>
        </p:nvSpPr>
        <p:spPr>
          <a:xfrm>
            <a:off x="566928" y="4142232"/>
            <a:ext cx="274320" cy="274320"/>
          </a:xfrm>
          <a:prstGeom prst="ellipse">
            <a:avLst/>
          </a:prstGeom>
          <a:solidFill>
            <a:srgbClr val="0FB5A6"/>
          </a:solidFill>
          <a:ln/>
        </p:spPr>
      </p:sp>
      <p:sp>
        <p:nvSpPr>
          <p:cNvPr id="25" name="Text 23"/>
          <p:cNvSpPr txBox="1"/>
          <p:nvPr/>
        </p:nvSpPr>
        <p:spPr>
          <a:xfrm>
            <a:off x="566928" y="41422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txBox="1"/>
          <p:nvPr/>
        </p:nvSpPr>
        <p:spPr>
          <a:xfrm>
            <a:off x="960120" y="4096512"/>
            <a:ext cx="5760720" cy="384048"/>
          </a:xfrm>
          <a:prstGeom prst="rect">
            <a:avLst/>
          </a:prstGeom>
          <a:noFill/>
          <a:ln/>
        </p:spPr>
        <p:txBody>
          <a:bodyPr wrap="square" lIns="0" tIns="0" rIns="0" bIns="0" rtlCol="0" anchor="ctr"/>
          <a:lstStyle/>
          <a:p>
            <a:pPr indent="0" marL="0">
              <a:buNone/>
            </a:pPr>
            <a:r>
              <a:rPr lang="en-US" sz="1250" dirty="0">
                <a:solidFill>
                  <a:srgbClr val="0B1B3A"/>
                </a:solidFill>
                <a:latin typeface="Calibri" pitchFamily="34" charset="0"/>
                <a:ea typeface="Calibri" pitchFamily="34" charset="-122"/>
                <a:cs typeface="Calibri" pitchFamily="34" charset="-120"/>
              </a:rPr>
              <a:t>Campaign performance is judged on isolated, unconnected metrics.</a:t>
            </a:r>
            <a:endParaRPr lang="en-US" sz="1250" dirty="0"/>
          </a:p>
        </p:txBody>
      </p:sp>
      <p:sp>
        <p:nvSpPr>
          <p:cNvPr id="27" name="Shape 25"/>
          <p:cNvSpPr/>
          <p:nvPr/>
        </p:nvSpPr>
        <p:spPr>
          <a:xfrm>
            <a:off x="566928" y="4672584"/>
            <a:ext cx="274320" cy="274320"/>
          </a:xfrm>
          <a:prstGeom prst="ellipse">
            <a:avLst/>
          </a:prstGeom>
          <a:solidFill>
            <a:srgbClr val="0FB5A6"/>
          </a:solidFill>
          <a:ln/>
        </p:spPr>
      </p:sp>
      <p:sp>
        <p:nvSpPr>
          <p:cNvPr id="28" name="Text 26"/>
          <p:cNvSpPr txBox="1"/>
          <p:nvPr/>
        </p:nvSpPr>
        <p:spPr>
          <a:xfrm>
            <a:off x="566928" y="4672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7"/>
          <p:cNvSpPr txBox="1"/>
          <p:nvPr/>
        </p:nvSpPr>
        <p:spPr>
          <a:xfrm>
            <a:off x="960120" y="4626864"/>
            <a:ext cx="5760720" cy="384048"/>
          </a:xfrm>
          <a:prstGeom prst="rect">
            <a:avLst/>
          </a:prstGeom>
          <a:noFill/>
          <a:ln/>
        </p:spPr>
        <p:txBody>
          <a:bodyPr wrap="square" lIns="0" tIns="0" rIns="0" bIns="0" rtlCol="0" anchor="ctr"/>
          <a:lstStyle/>
          <a:p>
            <a:pPr indent="0" marL="0">
              <a:buNone/>
            </a:pPr>
            <a:r>
              <a:rPr lang="en-US" sz="1250" dirty="0">
                <a:solidFill>
                  <a:srgbClr val="0B1B3A"/>
                </a:solidFill>
                <a:latin typeface="Calibri" pitchFamily="34" charset="0"/>
                <a:ea typeface="Calibri" pitchFamily="34" charset="-122"/>
                <a:cs typeface="Calibri" pitchFamily="34" charset="-120"/>
              </a:rPr>
              <a:t>Budget decisions rest on assumptions instead of expected ROI.</a:t>
            </a:r>
            <a:endParaRPr lang="en-US" sz="1250" dirty="0"/>
          </a:p>
        </p:txBody>
      </p:sp>
      <p:sp>
        <p:nvSpPr>
          <p:cNvPr id="30" name="Text 28"/>
          <p:cNvSpPr txBox="1"/>
          <p:nvPr/>
        </p:nvSpPr>
        <p:spPr>
          <a:xfrm>
            <a:off x="7406640" y="2697480"/>
            <a:ext cx="4206240" cy="237744"/>
          </a:xfrm>
          <a:prstGeom prst="rect">
            <a:avLst/>
          </a:prstGeom>
          <a:noFill/>
          <a:ln/>
        </p:spPr>
        <p:txBody>
          <a:bodyPr wrap="square" lIns="0" tIns="0" rIns="0" bIns="0" rtlCol="0" anchor="ctr"/>
          <a:lstStyle/>
          <a:p>
            <a:pPr indent="0" marL="0">
              <a:buNone/>
            </a:pPr>
            <a:r>
              <a:rPr lang="en-US" sz="1250" b="1" dirty="0">
                <a:solidFill>
                  <a:srgbClr val="5D6B85"/>
                </a:solidFill>
                <a:latin typeface="Calibri" pitchFamily="34" charset="0"/>
                <a:ea typeface="Calibri" pitchFamily="34" charset="-122"/>
                <a:cs typeface="Calibri" pitchFamily="34" charset="-120"/>
              </a:rPr>
              <a:t>The cascade effect</a:t>
            </a:r>
            <a:endParaRPr lang="en-US" sz="1250" dirty="0"/>
          </a:p>
        </p:txBody>
      </p:sp>
      <p:sp>
        <p:nvSpPr>
          <p:cNvPr id="31" name="Shape 29"/>
          <p:cNvSpPr/>
          <p:nvPr/>
        </p:nvSpPr>
        <p:spPr>
          <a:xfrm>
            <a:off x="7406640" y="3017520"/>
            <a:ext cx="4206240" cy="411480"/>
          </a:xfrm>
          <a:prstGeom prst="roundRect">
            <a:avLst>
              <a:gd name="adj" fmla="val 13333"/>
            </a:avLst>
          </a:prstGeom>
          <a:solidFill>
            <a:srgbClr val="FFFFFF"/>
          </a:solidFill>
          <a:ln w="12700">
            <a:solidFill>
              <a:srgbClr val="D6DDEA"/>
            </a:solidFill>
            <a:prstDash val="solid"/>
          </a:ln>
        </p:spPr>
      </p:sp>
      <p:sp>
        <p:nvSpPr>
          <p:cNvPr id="32" name="Text 30"/>
          <p:cNvSpPr txBox="1"/>
          <p:nvPr/>
        </p:nvSpPr>
        <p:spPr>
          <a:xfrm>
            <a:off x="7406640" y="3017520"/>
            <a:ext cx="4206240" cy="411480"/>
          </a:xfrm>
          <a:prstGeom prst="rect">
            <a:avLst/>
          </a:prstGeom>
          <a:noFill/>
          <a:ln/>
        </p:spPr>
        <p:txBody>
          <a:bodyPr wrap="square" lIns="0" tIns="0" rIns="0" bIns="0" rtlCol="0" anchor="ctr"/>
          <a:lstStyle/>
          <a:p>
            <a:pPr algn="ctr" indent="0" marL="0">
              <a:buNone/>
            </a:pPr>
            <a:r>
              <a:rPr lang="en-US" sz="1200" b="1" dirty="0">
                <a:solidFill>
                  <a:srgbClr val="0B1B3A"/>
                </a:solidFill>
                <a:latin typeface="Calibri" pitchFamily="34" charset="0"/>
                <a:ea typeface="Calibri" pitchFamily="34" charset="-122"/>
                <a:cs typeface="Calibri" pitchFamily="34" charset="-120"/>
              </a:rPr>
              <a:t>Scattered data</a:t>
            </a:r>
            <a:endParaRPr lang="en-US" sz="1200" dirty="0"/>
          </a:p>
        </p:txBody>
      </p:sp>
      <p:sp>
        <p:nvSpPr>
          <p:cNvPr id="33" name="Shape 31"/>
          <p:cNvSpPr/>
          <p:nvPr/>
        </p:nvSpPr>
        <p:spPr>
          <a:xfrm>
            <a:off x="9509760" y="3447288"/>
            <a:ext cx="0" cy="109728"/>
          </a:xfrm>
          <a:prstGeom prst="line">
            <a:avLst/>
          </a:prstGeom>
          <a:noFill/>
          <a:ln w="19050">
            <a:solidFill>
              <a:srgbClr val="0FB5A6"/>
            </a:solidFill>
            <a:prstDash val="solid"/>
            <a:tailEnd type="triangle"/>
          </a:ln>
        </p:spPr>
      </p:sp>
      <p:sp>
        <p:nvSpPr>
          <p:cNvPr id="34" name="Shape 32"/>
          <p:cNvSpPr/>
          <p:nvPr/>
        </p:nvSpPr>
        <p:spPr>
          <a:xfrm>
            <a:off x="7406640" y="3566160"/>
            <a:ext cx="4206240" cy="411480"/>
          </a:xfrm>
          <a:prstGeom prst="roundRect">
            <a:avLst>
              <a:gd name="adj" fmla="val 13333"/>
            </a:avLst>
          </a:prstGeom>
          <a:solidFill>
            <a:srgbClr val="FFFFFF"/>
          </a:solidFill>
          <a:ln w="12700">
            <a:solidFill>
              <a:srgbClr val="D6DDEA"/>
            </a:solidFill>
            <a:prstDash val="solid"/>
          </a:ln>
        </p:spPr>
      </p:sp>
      <p:sp>
        <p:nvSpPr>
          <p:cNvPr id="35" name="Text 33"/>
          <p:cNvSpPr txBox="1"/>
          <p:nvPr/>
        </p:nvSpPr>
        <p:spPr>
          <a:xfrm>
            <a:off x="7406640" y="3566160"/>
            <a:ext cx="4206240" cy="411480"/>
          </a:xfrm>
          <a:prstGeom prst="rect">
            <a:avLst/>
          </a:prstGeom>
          <a:noFill/>
          <a:ln/>
        </p:spPr>
        <p:txBody>
          <a:bodyPr wrap="square" lIns="0" tIns="0" rIns="0" bIns="0" rtlCol="0" anchor="ctr"/>
          <a:lstStyle/>
          <a:p>
            <a:pPr algn="ctr" indent="0" marL="0">
              <a:buNone/>
            </a:pPr>
            <a:r>
              <a:rPr lang="en-US" sz="1200" b="1" dirty="0">
                <a:solidFill>
                  <a:srgbClr val="0B1B3A"/>
                </a:solidFill>
                <a:latin typeface="Calibri" pitchFamily="34" charset="0"/>
                <a:ea typeface="Calibri" pitchFamily="34" charset="-122"/>
                <a:cs typeface="Calibri" pitchFamily="34" charset="-120"/>
              </a:rPr>
              <a:t>Incomplete attribution</a:t>
            </a:r>
            <a:endParaRPr lang="en-US" sz="1200" dirty="0"/>
          </a:p>
        </p:txBody>
      </p:sp>
      <p:sp>
        <p:nvSpPr>
          <p:cNvPr id="36" name="Shape 34"/>
          <p:cNvSpPr/>
          <p:nvPr/>
        </p:nvSpPr>
        <p:spPr>
          <a:xfrm>
            <a:off x="9509760" y="3995928"/>
            <a:ext cx="0" cy="109728"/>
          </a:xfrm>
          <a:prstGeom prst="line">
            <a:avLst/>
          </a:prstGeom>
          <a:noFill/>
          <a:ln w="19050">
            <a:solidFill>
              <a:srgbClr val="0FB5A6"/>
            </a:solidFill>
            <a:prstDash val="solid"/>
            <a:tailEnd type="triangle"/>
          </a:ln>
        </p:spPr>
      </p:sp>
      <p:sp>
        <p:nvSpPr>
          <p:cNvPr id="37" name="Shape 35"/>
          <p:cNvSpPr/>
          <p:nvPr/>
        </p:nvSpPr>
        <p:spPr>
          <a:xfrm>
            <a:off x="7406640" y="4114800"/>
            <a:ext cx="4206240" cy="411480"/>
          </a:xfrm>
          <a:prstGeom prst="roundRect">
            <a:avLst>
              <a:gd name="adj" fmla="val 13333"/>
            </a:avLst>
          </a:prstGeom>
          <a:solidFill>
            <a:srgbClr val="FFFFFF"/>
          </a:solidFill>
          <a:ln w="12700">
            <a:solidFill>
              <a:srgbClr val="D6DDEA"/>
            </a:solidFill>
            <a:prstDash val="solid"/>
          </a:ln>
        </p:spPr>
      </p:sp>
      <p:sp>
        <p:nvSpPr>
          <p:cNvPr id="38" name="Text 36"/>
          <p:cNvSpPr txBox="1"/>
          <p:nvPr/>
        </p:nvSpPr>
        <p:spPr>
          <a:xfrm>
            <a:off x="7406640" y="4114800"/>
            <a:ext cx="4206240" cy="411480"/>
          </a:xfrm>
          <a:prstGeom prst="rect">
            <a:avLst/>
          </a:prstGeom>
          <a:noFill/>
          <a:ln/>
        </p:spPr>
        <p:txBody>
          <a:bodyPr wrap="square" lIns="0" tIns="0" rIns="0" bIns="0" rtlCol="0" anchor="ctr"/>
          <a:lstStyle/>
          <a:p>
            <a:pPr algn="ctr" indent="0" marL="0">
              <a:buNone/>
            </a:pPr>
            <a:r>
              <a:rPr lang="en-US" sz="1200" b="1" dirty="0">
                <a:solidFill>
                  <a:srgbClr val="0B1B3A"/>
                </a:solidFill>
                <a:latin typeface="Calibri" pitchFamily="34" charset="0"/>
                <a:ea typeface="Calibri" pitchFamily="34" charset="-122"/>
                <a:cs typeface="Calibri" pitchFamily="34" charset="-120"/>
              </a:rPr>
              <a:t>Unclear customer journey</a:t>
            </a:r>
            <a:endParaRPr lang="en-US" sz="1200" dirty="0"/>
          </a:p>
        </p:txBody>
      </p:sp>
      <p:sp>
        <p:nvSpPr>
          <p:cNvPr id="39" name="Shape 37"/>
          <p:cNvSpPr/>
          <p:nvPr/>
        </p:nvSpPr>
        <p:spPr>
          <a:xfrm>
            <a:off x="9509760" y="4544568"/>
            <a:ext cx="0" cy="109728"/>
          </a:xfrm>
          <a:prstGeom prst="line">
            <a:avLst/>
          </a:prstGeom>
          <a:noFill/>
          <a:ln w="19050">
            <a:solidFill>
              <a:srgbClr val="0FB5A6"/>
            </a:solidFill>
            <a:prstDash val="solid"/>
            <a:tailEnd type="triangle"/>
          </a:ln>
        </p:spPr>
      </p:sp>
      <p:sp>
        <p:nvSpPr>
          <p:cNvPr id="40" name="Shape 38"/>
          <p:cNvSpPr/>
          <p:nvPr/>
        </p:nvSpPr>
        <p:spPr>
          <a:xfrm>
            <a:off x="7406640" y="4663440"/>
            <a:ext cx="4206240" cy="411480"/>
          </a:xfrm>
          <a:prstGeom prst="roundRect">
            <a:avLst>
              <a:gd name="adj" fmla="val 13333"/>
            </a:avLst>
          </a:prstGeom>
          <a:solidFill>
            <a:srgbClr val="FDEDE1"/>
          </a:solidFill>
          <a:ln w="12700">
            <a:solidFill>
              <a:srgbClr val="F2762E"/>
            </a:solidFill>
            <a:prstDash val="solid"/>
          </a:ln>
        </p:spPr>
      </p:sp>
      <p:sp>
        <p:nvSpPr>
          <p:cNvPr id="41" name="Text 39"/>
          <p:cNvSpPr txBox="1"/>
          <p:nvPr/>
        </p:nvSpPr>
        <p:spPr>
          <a:xfrm>
            <a:off x="7406640" y="4663440"/>
            <a:ext cx="4206240" cy="411480"/>
          </a:xfrm>
          <a:prstGeom prst="rect">
            <a:avLst/>
          </a:prstGeom>
          <a:noFill/>
          <a:ln/>
        </p:spPr>
        <p:txBody>
          <a:bodyPr wrap="square" lIns="0" tIns="0" rIns="0" bIns="0" rtlCol="0" anchor="ctr"/>
          <a:lstStyle/>
          <a:p>
            <a:pPr algn="ctr" indent="0" marL="0">
              <a:buNone/>
            </a:pPr>
            <a:r>
              <a:rPr lang="en-US" sz="1200" b="1" dirty="0">
                <a:solidFill>
                  <a:srgbClr val="B4501A"/>
                </a:solidFill>
                <a:latin typeface="Calibri" pitchFamily="34" charset="0"/>
                <a:ea typeface="Calibri" pitchFamily="34" charset="-122"/>
                <a:cs typeface="Calibri" pitchFamily="34" charset="-120"/>
              </a:rPr>
              <a:t>Uncertain budget decisions</a:t>
            </a:r>
            <a:endParaRPr lang="en-US" sz="1200" dirty="0"/>
          </a:p>
        </p:txBody>
      </p:sp>
      <p:sp>
        <p:nvSpPr>
          <p:cNvPr id="42" name="Shape 40"/>
          <p:cNvSpPr/>
          <p:nvPr/>
        </p:nvSpPr>
        <p:spPr>
          <a:xfrm>
            <a:off x="548640" y="5349240"/>
            <a:ext cx="11064240" cy="960120"/>
          </a:xfrm>
          <a:prstGeom prst="roundRect">
            <a:avLst>
              <a:gd name="adj" fmla="val 5714"/>
            </a:avLst>
          </a:prstGeom>
          <a:solidFill>
            <a:srgbClr val="0B1B3A"/>
          </a:solidFill>
          <a:ln w="12700">
            <a:solidFill>
              <a:srgbClr val="0B1B3A"/>
            </a:solidFill>
            <a:prstDash val="solid"/>
          </a:ln>
        </p:spPr>
      </p:sp>
      <p:sp>
        <p:nvSpPr>
          <p:cNvPr id="43" name="Text 41"/>
          <p:cNvSpPr txBox="1"/>
          <p:nvPr/>
        </p:nvSpPr>
        <p:spPr>
          <a:xfrm>
            <a:off x="868680" y="5486400"/>
            <a:ext cx="2743200" cy="201168"/>
          </a:xfrm>
          <a:prstGeom prst="rect">
            <a:avLst/>
          </a:prstGeom>
          <a:noFill/>
          <a:ln/>
        </p:spPr>
        <p:txBody>
          <a:bodyPr wrap="square" lIns="0" tIns="0" rIns="0" bIns="0" rtlCol="0" anchor="ctr"/>
          <a:lstStyle/>
          <a:p>
            <a:pPr indent="0" marL="0">
              <a:buNone/>
            </a:pPr>
            <a:r>
              <a:rPr lang="en-US" sz="950" b="1" spc="150" kern="0" dirty="0">
                <a:solidFill>
                  <a:srgbClr val="0FB5A6"/>
                </a:solidFill>
                <a:latin typeface="Calibri" pitchFamily="34" charset="0"/>
                <a:ea typeface="Calibri" pitchFamily="34" charset="-122"/>
                <a:cs typeface="Calibri" pitchFamily="34" charset="-120"/>
              </a:rPr>
              <a:t>PROBLEM STATEMENT</a:t>
            </a:r>
            <a:endParaRPr lang="en-US" sz="950" dirty="0"/>
          </a:p>
        </p:txBody>
      </p:sp>
      <p:sp>
        <p:nvSpPr>
          <p:cNvPr id="44" name="Text 42"/>
          <p:cNvSpPr txBox="1"/>
          <p:nvPr/>
        </p:nvSpPr>
        <p:spPr>
          <a:xfrm>
            <a:off x="868680" y="5705856"/>
            <a:ext cx="1042416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Marketing teams need an interactive, data-driven system that identifies the true contribution of campaigns, explains customer drop-offs, studies conversion behaviour over time, and recommends how budget should be distributed across channels.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A8377"/>
                </a:solidFill>
                <a:latin typeface="Calibri" pitchFamily="34" charset="0"/>
                <a:ea typeface="Calibri" pitchFamily="34" charset="-122"/>
                <a:cs typeface="Calibri" pitchFamily="34" charset="-120"/>
              </a:rPr>
              <a:t>OBJECTIVES AND SCOPE</a:t>
            </a:r>
            <a:endParaRPr lang="en-US" sz="1050" dirty="0"/>
          </a:p>
        </p:txBody>
      </p:sp>
      <p:sp>
        <p:nvSpPr>
          <p:cNvPr id="3" name="Text 1"/>
          <p:cNvSpPr txBox="1"/>
          <p:nvPr/>
        </p:nvSpPr>
        <p:spPr>
          <a:xfrm>
            <a:off x="548640" y="566928"/>
            <a:ext cx="11064240" cy="548640"/>
          </a:xfrm>
          <a:prstGeom prst="rect">
            <a:avLst/>
          </a:prstGeom>
          <a:noFill/>
          <a:ln/>
        </p:spPr>
        <p:txBody>
          <a:bodyPr wrap="square" lIns="0" tIns="0" rIns="0" bIns="0" rtlCol="0" anchor="ctr"/>
          <a:lstStyle/>
          <a:p>
            <a:pPr indent="0" marL="0">
              <a:buNone/>
            </a:pPr>
            <a:r>
              <a:rPr lang="en-US" sz="3000" b="1" dirty="0">
                <a:solidFill>
                  <a:srgbClr val="0B1B3A"/>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188720"/>
            <a:ext cx="11064240" cy="713232"/>
          </a:xfrm>
          <a:prstGeom prst="roundRect">
            <a:avLst>
              <a:gd name="adj" fmla="val 7692"/>
            </a:avLst>
          </a:prstGeom>
          <a:solidFill>
            <a:srgbClr val="0B1B3A"/>
          </a:solidFill>
          <a:ln w="12700">
            <a:solidFill>
              <a:srgbClr val="0B1B3A"/>
            </a:solidFill>
            <a:prstDash val="solid"/>
          </a:ln>
        </p:spPr>
      </p:sp>
      <p:sp>
        <p:nvSpPr>
          <p:cNvPr id="5" name="Text 3"/>
          <p:cNvSpPr txBox="1"/>
          <p:nvPr/>
        </p:nvSpPr>
        <p:spPr>
          <a:xfrm>
            <a:off x="868680" y="1316736"/>
            <a:ext cx="2286000" cy="201168"/>
          </a:xfrm>
          <a:prstGeom prst="rect">
            <a:avLst/>
          </a:prstGeom>
          <a:noFill/>
          <a:ln/>
        </p:spPr>
        <p:txBody>
          <a:bodyPr wrap="square" lIns="0" tIns="0" rIns="0" bIns="0" rtlCol="0" anchor="ctr"/>
          <a:lstStyle/>
          <a:p>
            <a:pPr indent="0" marL="0">
              <a:buNone/>
            </a:pPr>
            <a:r>
              <a:rPr lang="en-US" sz="950" b="1" spc="150" kern="0" dirty="0">
                <a:solidFill>
                  <a:srgbClr val="0FB5A6"/>
                </a:solidFill>
                <a:latin typeface="Calibri" pitchFamily="34" charset="0"/>
                <a:ea typeface="Calibri" pitchFamily="34" charset="-122"/>
                <a:cs typeface="Calibri" pitchFamily="34" charset="-120"/>
              </a:rPr>
              <a:t>MAIN OBJECTIVE</a:t>
            </a:r>
            <a:endParaRPr lang="en-US" sz="950" dirty="0"/>
          </a:p>
        </p:txBody>
      </p:sp>
      <p:sp>
        <p:nvSpPr>
          <p:cNvPr id="6" name="Text 4"/>
          <p:cNvSpPr txBox="1"/>
          <p:nvPr/>
        </p:nvSpPr>
        <p:spPr>
          <a:xfrm>
            <a:off x="3017520" y="1325880"/>
            <a:ext cx="832104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 build an interactive campaign effectiveness analysis system that measures marketing performance and supports ROI-based budget allocation.</a:t>
            </a:r>
            <a:endParaRPr lang="en-US" sz="1300" dirty="0"/>
          </a:p>
        </p:txBody>
      </p:sp>
      <p:sp>
        <p:nvSpPr>
          <p:cNvPr id="7" name="Text 5"/>
          <p:cNvSpPr txBox="1"/>
          <p:nvPr/>
        </p:nvSpPr>
        <p:spPr>
          <a:xfrm>
            <a:off x="548640" y="2084832"/>
            <a:ext cx="5486400" cy="237744"/>
          </a:xfrm>
          <a:prstGeom prst="rect">
            <a:avLst/>
          </a:prstGeom>
          <a:noFill/>
          <a:ln/>
        </p:spPr>
        <p:txBody>
          <a:bodyPr wrap="square" lIns="0" tIns="0" rIns="0" bIns="0" rtlCol="0" anchor="ctr"/>
          <a:lstStyle/>
          <a:p>
            <a:pPr indent="0" marL="0">
              <a:buNone/>
            </a:pPr>
            <a:r>
              <a:rPr lang="en-US" sz="1250" b="1" dirty="0">
                <a:solidFill>
                  <a:srgbClr val="5D6B85"/>
                </a:solidFill>
                <a:latin typeface="Calibri" pitchFamily="34" charset="0"/>
                <a:ea typeface="Calibri" pitchFamily="34" charset="-122"/>
                <a:cs typeface="Calibri" pitchFamily="34" charset="-120"/>
              </a:rPr>
              <a:t>Specific objectives</a:t>
            </a:r>
            <a:endParaRPr lang="en-US" sz="1250" dirty="0"/>
          </a:p>
        </p:txBody>
      </p:sp>
      <p:sp>
        <p:nvSpPr>
          <p:cNvPr id="8" name="Shape 6"/>
          <p:cNvSpPr/>
          <p:nvPr/>
        </p:nvSpPr>
        <p:spPr>
          <a:xfrm>
            <a:off x="548640" y="2468880"/>
            <a:ext cx="274320" cy="274320"/>
          </a:xfrm>
          <a:prstGeom prst="ellipse">
            <a:avLst/>
          </a:prstGeom>
          <a:solidFill>
            <a:srgbClr val="0FB5A6"/>
          </a:solidFill>
          <a:ln/>
        </p:spPr>
      </p:sp>
      <p:sp>
        <p:nvSpPr>
          <p:cNvPr id="9" name="Text 7"/>
          <p:cNvSpPr txBox="1"/>
          <p:nvPr/>
        </p:nvSpPr>
        <p:spPr>
          <a:xfrm>
            <a:off x="548640" y="24688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932688" y="2432304"/>
            <a:ext cx="3154680" cy="365760"/>
          </a:xfrm>
          <a:prstGeom prst="rect">
            <a:avLst/>
          </a:prstGeom>
          <a:noFill/>
          <a:ln/>
        </p:spPr>
        <p:txBody>
          <a:bodyPr wrap="square" lIns="0" tIns="0" rIns="0" bIns="0" rtlCol="0" anchor="ctr"/>
          <a:lstStyle/>
          <a:p>
            <a:pPr indent="0" marL="0">
              <a:buNone/>
            </a:pPr>
            <a:r>
              <a:rPr lang="en-US" sz="1150" dirty="0">
                <a:solidFill>
                  <a:srgbClr val="0B1B3A"/>
                </a:solidFill>
                <a:latin typeface="Calibri" pitchFamily="34" charset="0"/>
                <a:ea typeface="Calibri" pitchFamily="34" charset="-122"/>
                <a:cs typeface="Calibri" pitchFamily="34" charset="-120"/>
              </a:rPr>
              <a:t>Integrate spend, impressions, clicks, conversions and revenue data</a:t>
            </a:r>
            <a:endParaRPr lang="en-US" sz="1150" dirty="0"/>
          </a:p>
        </p:txBody>
      </p:sp>
      <p:sp>
        <p:nvSpPr>
          <p:cNvPr id="11" name="Shape 9"/>
          <p:cNvSpPr/>
          <p:nvPr/>
        </p:nvSpPr>
        <p:spPr>
          <a:xfrm>
            <a:off x="548640" y="2944368"/>
            <a:ext cx="274320" cy="274320"/>
          </a:xfrm>
          <a:prstGeom prst="ellipse">
            <a:avLst/>
          </a:prstGeom>
          <a:solidFill>
            <a:srgbClr val="0FB5A6"/>
          </a:solidFill>
          <a:ln/>
        </p:spPr>
      </p:sp>
      <p:sp>
        <p:nvSpPr>
          <p:cNvPr id="12" name="Text 10"/>
          <p:cNvSpPr txBox="1"/>
          <p:nvPr/>
        </p:nvSpPr>
        <p:spPr>
          <a:xfrm>
            <a:off x="548640" y="29443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932688" y="2907792"/>
            <a:ext cx="3154680" cy="365760"/>
          </a:xfrm>
          <a:prstGeom prst="rect">
            <a:avLst/>
          </a:prstGeom>
          <a:noFill/>
          <a:ln/>
        </p:spPr>
        <p:txBody>
          <a:bodyPr wrap="square" lIns="0" tIns="0" rIns="0" bIns="0" rtlCol="0" anchor="ctr"/>
          <a:lstStyle/>
          <a:p>
            <a:pPr indent="0" marL="0">
              <a:buNone/>
            </a:pPr>
            <a:r>
              <a:rPr lang="en-US" sz="1150" dirty="0">
                <a:solidFill>
                  <a:srgbClr val="0B1B3A"/>
                </a:solidFill>
                <a:latin typeface="Calibri" pitchFamily="34" charset="0"/>
                <a:ea typeface="Calibri" pitchFamily="34" charset="-122"/>
                <a:cs typeface="Calibri" pitchFamily="34" charset="-120"/>
              </a:rPr>
              <a:t>Compare campaign and channel performance</a:t>
            </a:r>
            <a:endParaRPr lang="en-US" sz="1150" dirty="0"/>
          </a:p>
        </p:txBody>
      </p:sp>
      <p:sp>
        <p:nvSpPr>
          <p:cNvPr id="14" name="Shape 12"/>
          <p:cNvSpPr/>
          <p:nvPr/>
        </p:nvSpPr>
        <p:spPr>
          <a:xfrm>
            <a:off x="548640" y="3419856"/>
            <a:ext cx="274320" cy="274320"/>
          </a:xfrm>
          <a:prstGeom prst="ellipse">
            <a:avLst/>
          </a:prstGeom>
          <a:solidFill>
            <a:srgbClr val="0FB5A6"/>
          </a:solidFill>
          <a:ln/>
        </p:spPr>
      </p:sp>
      <p:sp>
        <p:nvSpPr>
          <p:cNvPr id="15" name="Text 13"/>
          <p:cNvSpPr txBox="1"/>
          <p:nvPr/>
        </p:nvSpPr>
        <p:spPr>
          <a:xfrm>
            <a:off x="548640" y="34198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932688" y="3383280"/>
            <a:ext cx="3154680" cy="365760"/>
          </a:xfrm>
          <a:prstGeom prst="rect">
            <a:avLst/>
          </a:prstGeom>
          <a:noFill/>
          <a:ln/>
        </p:spPr>
        <p:txBody>
          <a:bodyPr wrap="square" lIns="0" tIns="0" rIns="0" bIns="0" rtlCol="0" anchor="ctr"/>
          <a:lstStyle/>
          <a:p>
            <a:pPr indent="0" marL="0">
              <a:buNone/>
            </a:pPr>
            <a:r>
              <a:rPr lang="en-US" sz="1150" dirty="0">
                <a:solidFill>
                  <a:srgbClr val="0B1B3A"/>
                </a:solidFill>
                <a:latin typeface="Calibri" pitchFamily="34" charset="0"/>
                <a:ea typeface="Calibri" pitchFamily="34" charset="-122"/>
                <a:cs typeface="Calibri" pitchFamily="34" charset="-120"/>
              </a:rPr>
              <a:t>Calculate CTR, conversion rate, CPA, CAC, ROAS and ROI</a:t>
            </a:r>
            <a:endParaRPr lang="en-US" sz="1150" dirty="0"/>
          </a:p>
        </p:txBody>
      </p:sp>
      <p:sp>
        <p:nvSpPr>
          <p:cNvPr id="17" name="Shape 15"/>
          <p:cNvSpPr/>
          <p:nvPr/>
        </p:nvSpPr>
        <p:spPr>
          <a:xfrm>
            <a:off x="548640" y="3895344"/>
            <a:ext cx="274320" cy="274320"/>
          </a:xfrm>
          <a:prstGeom prst="ellipse">
            <a:avLst/>
          </a:prstGeom>
          <a:solidFill>
            <a:srgbClr val="0FB5A6"/>
          </a:solidFill>
          <a:ln/>
        </p:spPr>
      </p:sp>
      <p:sp>
        <p:nvSpPr>
          <p:cNvPr id="18" name="Text 16"/>
          <p:cNvSpPr txBox="1"/>
          <p:nvPr/>
        </p:nvSpPr>
        <p:spPr>
          <a:xfrm>
            <a:off x="54864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932688" y="3858768"/>
            <a:ext cx="3154680" cy="365760"/>
          </a:xfrm>
          <a:prstGeom prst="rect">
            <a:avLst/>
          </a:prstGeom>
          <a:noFill/>
          <a:ln/>
        </p:spPr>
        <p:txBody>
          <a:bodyPr wrap="square" lIns="0" tIns="0" rIns="0" bIns="0" rtlCol="0" anchor="ctr"/>
          <a:lstStyle/>
          <a:p>
            <a:pPr indent="0" marL="0">
              <a:buNone/>
            </a:pPr>
            <a:r>
              <a:rPr lang="en-US" sz="1150" dirty="0">
                <a:solidFill>
                  <a:srgbClr val="0B1B3A"/>
                </a:solidFill>
                <a:latin typeface="Calibri" pitchFamily="34" charset="0"/>
                <a:ea typeface="Calibri" pitchFamily="34" charset="-122"/>
                <a:cs typeface="Calibri" pitchFamily="34" charset="-120"/>
              </a:rPr>
              <a:t>Apply and compare multiple attribution models</a:t>
            </a:r>
            <a:endParaRPr lang="en-US" sz="1150" dirty="0"/>
          </a:p>
        </p:txBody>
      </p:sp>
      <p:sp>
        <p:nvSpPr>
          <p:cNvPr id="20" name="Shape 18"/>
          <p:cNvSpPr/>
          <p:nvPr/>
        </p:nvSpPr>
        <p:spPr>
          <a:xfrm>
            <a:off x="548640" y="4370832"/>
            <a:ext cx="274320" cy="274320"/>
          </a:xfrm>
          <a:prstGeom prst="ellipse">
            <a:avLst/>
          </a:prstGeom>
          <a:solidFill>
            <a:srgbClr val="0FB5A6"/>
          </a:solidFill>
          <a:ln/>
        </p:spPr>
      </p:sp>
      <p:sp>
        <p:nvSpPr>
          <p:cNvPr id="21" name="Text 19"/>
          <p:cNvSpPr txBox="1"/>
          <p:nvPr/>
        </p:nvSpPr>
        <p:spPr>
          <a:xfrm>
            <a:off x="548640" y="43708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txBox="1"/>
          <p:nvPr/>
        </p:nvSpPr>
        <p:spPr>
          <a:xfrm>
            <a:off x="932688" y="4334256"/>
            <a:ext cx="3154680" cy="365760"/>
          </a:xfrm>
          <a:prstGeom prst="rect">
            <a:avLst/>
          </a:prstGeom>
          <a:noFill/>
          <a:ln/>
        </p:spPr>
        <p:txBody>
          <a:bodyPr wrap="square" lIns="0" tIns="0" rIns="0" bIns="0" rtlCol="0" anchor="ctr"/>
          <a:lstStyle/>
          <a:p>
            <a:pPr indent="0" marL="0">
              <a:buNone/>
            </a:pPr>
            <a:r>
              <a:rPr lang="en-US" sz="1150" dirty="0">
                <a:solidFill>
                  <a:srgbClr val="0B1B3A"/>
                </a:solidFill>
                <a:latin typeface="Calibri" pitchFamily="34" charset="0"/>
                <a:ea typeface="Calibri" pitchFamily="34" charset="-122"/>
                <a:cs typeface="Calibri" pitchFamily="34" charset="-120"/>
              </a:rPr>
              <a:t>Identify conversion funnel bottlenecks</a:t>
            </a:r>
            <a:endParaRPr lang="en-US" sz="1150" dirty="0"/>
          </a:p>
        </p:txBody>
      </p:sp>
      <p:sp>
        <p:nvSpPr>
          <p:cNvPr id="23" name="Shape 21"/>
          <p:cNvSpPr/>
          <p:nvPr/>
        </p:nvSpPr>
        <p:spPr>
          <a:xfrm>
            <a:off x="4251960" y="2468880"/>
            <a:ext cx="274320" cy="274320"/>
          </a:xfrm>
          <a:prstGeom prst="ellipse">
            <a:avLst/>
          </a:prstGeom>
          <a:solidFill>
            <a:srgbClr val="0FB5A6"/>
          </a:solidFill>
          <a:ln/>
        </p:spPr>
      </p:sp>
      <p:sp>
        <p:nvSpPr>
          <p:cNvPr id="24" name="Text 22"/>
          <p:cNvSpPr txBox="1"/>
          <p:nvPr/>
        </p:nvSpPr>
        <p:spPr>
          <a:xfrm>
            <a:off x="4251960" y="24688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5" name="Text 23"/>
          <p:cNvSpPr txBox="1"/>
          <p:nvPr/>
        </p:nvSpPr>
        <p:spPr>
          <a:xfrm>
            <a:off x="4636008" y="2432304"/>
            <a:ext cx="3154680" cy="365760"/>
          </a:xfrm>
          <a:prstGeom prst="rect">
            <a:avLst/>
          </a:prstGeom>
          <a:noFill/>
          <a:ln/>
        </p:spPr>
        <p:txBody>
          <a:bodyPr wrap="square" lIns="0" tIns="0" rIns="0" bIns="0" rtlCol="0" anchor="ctr"/>
          <a:lstStyle/>
          <a:p>
            <a:pPr indent="0" marL="0">
              <a:buNone/>
            </a:pPr>
            <a:r>
              <a:rPr lang="en-US" sz="1150" dirty="0">
                <a:solidFill>
                  <a:srgbClr val="0B1B3A"/>
                </a:solidFill>
                <a:latin typeface="Calibri" pitchFamily="34" charset="0"/>
                <a:ea typeface="Calibri" pitchFamily="34" charset="-122"/>
                <a:cs typeface="Calibri" pitchFamily="34" charset="-120"/>
              </a:rPr>
              <a:t>Analyse customer cohorts over time</a:t>
            </a:r>
            <a:endParaRPr lang="en-US" sz="1150" dirty="0"/>
          </a:p>
        </p:txBody>
      </p:sp>
      <p:sp>
        <p:nvSpPr>
          <p:cNvPr id="26" name="Shape 24"/>
          <p:cNvSpPr/>
          <p:nvPr/>
        </p:nvSpPr>
        <p:spPr>
          <a:xfrm>
            <a:off x="4251960" y="2944368"/>
            <a:ext cx="274320" cy="274320"/>
          </a:xfrm>
          <a:prstGeom prst="ellipse">
            <a:avLst/>
          </a:prstGeom>
          <a:solidFill>
            <a:srgbClr val="0FB5A6"/>
          </a:solidFill>
          <a:ln/>
        </p:spPr>
      </p:sp>
      <p:sp>
        <p:nvSpPr>
          <p:cNvPr id="27" name="Text 25"/>
          <p:cNvSpPr txBox="1"/>
          <p:nvPr/>
        </p:nvSpPr>
        <p:spPr>
          <a:xfrm>
            <a:off x="4251960" y="29443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8" name="Text 26"/>
          <p:cNvSpPr txBox="1"/>
          <p:nvPr/>
        </p:nvSpPr>
        <p:spPr>
          <a:xfrm>
            <a:off x="4636008" y="2907792"/>
            <a:ext cx="3154680" cy="365760"/>
          </a:xfrm>
          <a:prstGeom prst="rect">
            <a:avLst/>
          </a:prstGeom>
          <a:noFill/>
          <a:ln/>
        </p:spPr>
        <p:txBody>
          <a:bodyPr wrap="square" lIns="0" tIns="0" rIns="0" bIns="0" rtlCol="0" anchor="ctr"/>
          <a:lstStyle/>
          <a:p>
            <a:pPr indent="0" marL="0">
              <a:buNone/>
            </a:pPr>
            <a:r>
              <a:rPr lang="en-US" sz="1150" dirty="0">
                <a:solidFill>
                  <a:srgbClr val="0B1B3A"/>
                </a:solidFill>
                <a:latin typeface="Calibri" pitchFamily="34" charset="0"/>
                <a:ea typeface="Calibri" pitchFamily="34" charset="-122"/>
                <a:cs typeface="Calibri" pitchFamily="34" charset="-120"/>
              </a:rPr>
              <a:t>Predict performance and recommend budget changes using AI</a:t>
            </a:r>
            <a:endParaRPr lang="en-US" sz="1150" dirty="0"/>
          </a:p>
        </p:txBody>
      </p:sp>
      <p:sp>
        <p:nvSpPr>
          <p:cNvPr id="29" name="Shape 27"/>
          <p:cNvSpPr/>
          <p:nvPr/>
        </p:nvSpPr>
        <p:spPr>
          <a:xfrm>
            <a:off x="4251960" y="3419856"/>
            <a:ext cx="274320" cy="274320"/>
          </a:xfrm>
          <a:prstGeom prst="ellipse">
            <a:avLst/>
          </a:prstGeom>
          <a:solidFill>
            <a:srgbClr val="0FB5A6"/>
          </a:solidFill>
          <a:ln/>
        </p:spPr>
      </p:sp>
      <p:sp>
        <p:nvSpPr>
          <p:cNvPr id="30" name="Text 28"/>
          <p:cNvSpPr txBox="1"/>
          <p:nvPr/>
        </p:nvSpPr>
        <p:spPr>
          <a:xfrm>
            <a:off x="4251960" y="34198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1" name="Text 29"/>
          <p:cNvSpPr txBox="1"/>
          <p:nvPr/>
        </p:nvSpPr>
        <p:spPr>
          <a:xfrm>
            <a:off x="4636008" y="3383280"/>
            <a:ext cx="3154680" cy="365760"/>
          </a:xfrm>
          <a:prstGeom prst="rect">
            <a:avLst/>
          </a:prstGeom>
          <a:noFill/>
          <a:ln/>
        </p:spPr>
        <p:txBody>
          <a:bodyPr wrap="square" lIns="0" tIns="0" rIns="0" bIns="0" rtlCol="0" anchor="ctr"/>
          <a:lstStyle/>
          <a:p>
            <a:pPr indent="0" marL="0">
              <a:buNone/>
            </a:pPr>
            <a:r>
              <a:rPr lang="en-US" sz="1150" dirty="0">
                <a:solidFill>
                  <a:srgbClr val="0B1B3A"/>
                </a:solidFill>
                <a:latin typeface="Calibri" pitchFamily="34" charset="0"/>
                <a:ea typeface="Calibri" pitchFamily="34" charset="-122"/>
                <a:cs typeface="Calibri" pitchFamily="34" charset="-120"/>
              </a:rPr>
              <a:t>Provide an interactive, user-driven dashboard</a:t>
            </a:r>
            <a:endParaRPr lang="en-US" sz="1150" dirty="0"/>
          </a:p>
        </p:txBody>
      </p:sp>
      <p:sp>
        <p:nvSpPr>
          <p:cNvPr id="32" name="Shape 30"/>
          <p:cNvSpPr/>
          <p:nvPr/>
        </p:nvSpPr>
        <p:spPr>
          <a:xfrm>
            <a:off x="4251960" y="3895344"/>
            <a:ext cx="274320" cy="274320"/>
          </a:xfrm>
          <a:prstGeom prst="ellipse">
            <a:avLst/>
          </a:prstGeom>
          <a:solidFill>
            <a:srgbClr val="0FB5A6"/>
          </a:solidFill>
          <a:ln/>
        </p:spPr>
      </p:sp>
      <p:sp>
        <p:nvSpPr>
          <p:cNvPr id="33" name="Text 31"/>
          <p:cNvSpPr txBox="1"/>
          <p:nvPr/>
        </p:nvSpPr>
        <p:spPr>
          <a:xfrm>
            <a:off x="425196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4" name="Text 32"/>
          <p:cNvSpPr txBox="1"/>
          <p:nvPr/>
        </p:nvSpPr>
        <p:spPr>
          <a:xfrm>
            <a:off x="4636008" y="3858768"/>
            <a:ext cx="3154680" cy="365760"/>
          </a:xfrm>
          <a:prstGeom prst="rect">
            <a:avLst/>
          </a:prstGeom>
          <a:noFill/>
          <a:ln/>
        </p:spPr>
        <p:txBody>
          <a:bodyPr wrap="square" lIns="0" tIns="0" rIns="0" bIns="0" rtlCol="0" anchor="ctr"/>
          <a:lstStyle/>
          <a:p>
            <a:pPr indent="0" marL="0">
              <a:buNone/>
            </a:pPr>
            <a:r>
              <a:rPr lang="en-US" sz="1150" dirty="0">
                <a:solidFill>
                  <a:srgbClr val="0B1B3A"/>
                </a:solidFill>
                <a:latin typeface="Calibri" pitchFamily="34" charset="0"/>
                <a:ea typeface="Calibri" pitchFamily="34" charset="-122"/>
                <a:cs typeface="Calibri" pitchFamily="34" charset="-120"/>
              </a:rPr>
              <a:t>Enable what-if analysis before a budget decision</a:t>
            </a:r>
            <a:endParaRPr lang="en-US" sz="1150" dirty="0"/>
          </a:p>
        </p:txBody>
      </p:sp>
      <p:sp>
        <p:nvSpPr>
          <p:cNvPr id="35" name="Shape 33"/>
          <p:cNvSpPr/>
          <p:nvPr/>
        </p:nvSpPr>
        <p:spPr>
          <a:xfrm>
            <a:off x="8092440" y="2377440"/>
            <a:ext cx="3520440" cy="2395728"/>
          </a:xfrm>
          <a:prstGeom prst="roundRect">
            <a:avLst>
              <a:gd name="adj" fmla="val 2290"/>
            </a:avLst>
          </a:prstGeom>
          <a:solidFill>
            <a:srgbClr val="FFFFFF"/>
          </a:solidFill>
          <a:ln w="12700">
            <a:solidFill>
              <a:srgbClr val="D6DDEA"/>
            </a:solidFill>
            <a:prstDash val="solid"/>
          </a:ln>
        </p:spPr>
      </p:sp>
      <p:sp>
        <p:nvSpPr>
          <p:cNvPr id="36" name="Text 34"/>
          <p:cNvSpPr txBox="1"/>
          <p:nvPr/>
        </p:nvSpPr>
        <p:spPr>
          <a:xfrm>
            <a:off x="8321040" y="2542032"/>
            <a:ext cx="2743200" cy="219456"/>
          </a:xfrm>
          <a:prstGeom prst="rect">
            <a:avLst/>
          </a:prstGeom>
          <a:noFill/>
          <a:ln/>
        </p:spPr>
        <p:txBody>
          <a:bodyPr wrap="square" lIns="0" tIns="0" rIns="0" bIns="0" rtlCol="0" anchor="ctr"/>
          <a:lstStyle/>
          <a:p>
            <a:pPr indent="0" marL="0">
              <a:buNone/>
            </a:pPr>
            <a:r>
              <a:rPr lang="en-US" sz="950" b="1" spc="150" kern="0" dirty="0">
                <a:solidFill>
                  <a:srgbClr val="0A8377"/>
                </a:solidFill>
                <a:latin typeface="Calibri" pitchFamily="34" charset="0"/>
                <a:ea typeface="Calibri" pitchFamily="34" charset="-122"/>
                <a:cs typeface="Calibri" pitchFamily="34" charset="-120"/>
              </a:rPr>
              <a:t>IN SCOPE</a:t>
            </a:r>
            <a:endParaRPr lang="en-US" sz="950" dirty="0"/>
          </a:p>
        </p:txBody>
      </p:sp>
      <p:sp>
        <p:nvSpPr>
          <p:cNvPr id="37" name="Shape 35"/>
          <p:cNvSpPr/>
          <p:nvPr/>
        </p:nvSpPr>
        <p:spPr>
          <a:xfrm>
            <a:off x="8321040" y="2816352"/>
            <a:ext cx="3063240" cy="265176"/>
          </a:xfrm>
          <a:prstGeom prst="roundRect">
            <a:avLst>
              <a:gd name="adj" fmla="val 20690"/>
            </a:avLst>
          </a:prstGeom>
          <a:solidFill>
            <a:srgbClr val="E3F6F3"/>
          </a:solidFill>
          <a:ln w="9525">
            <a:solidFill>
              <a:srgbClr val="0FB5A6"/>
            </a:solidFill>
            <a:prstDash val="solid"/>
          </a:ln>
        </p:spPr>
      </p:sp>
      <p:sp>
        <p:nvSpPr>
          <p:cNvPr id="38" name="Text 36"/>
          <p:cNvSpPr txBox="1"/>
          <p:nvPr/>
        </p:nvSpPr>
        <p:spPr>
          <a:xfrm>
            <a:off x="8321040" y="2816352"/>
            <a:ext cx="3063240" cy="265176"/>
          </a:xfrm>
          <a:prstGeom prst="rect">
            <a:avLst/>
          </a:prstGeom>
          <a:noFill/>
          <a:ln/>
        </p:spPr>
        <p:txBody>
          <a:bodyPr wrap="square" lIns="0" tIns="0" rIns="0" bIns="0" rtlCol="0" anchor="ctr"/>
          <a:lstStyle/>
          <a:p>
            <a:pPr algn="ctr" indent="0" marL="0">
              <a:buNone/>
            </a:pPr>
            <a:r>
              <a:rPr lang="en-US" sz="1050" b="1" dirty="0">
                <a:solidFill>
                  <a:srgbClr val="0A8377"/>
                </a:solidFill>
                <a:latin typeface="Calibri" pitchFamily="34" charset="0"/>
                <a:ea typeface="Calibri" pitchFamily="34" charset="-122"/>
                <a:cs typeface="Calibri" pitchFamily="34" charset="-120"/>
              </a:rPr>
              <a:t>Campaign performance</a:t>
            </a:r>
            <a:endParaRPr lang="en-US" sz="1050" dirty="0"/>
          </a:p>
        </p:txBody>
      </p:sp>
      <p:sp>
        <p:nvSpPr>
          <p:cNvPr id="39" name="Shape 37"/>
          <p:cNvSpPr/>
          <p:nvPr/>
        </p:nvSpPr>
        <p:spPr>
          <a:xfrm>
            <a:off x="8321040" y="3127248"/>
            <a:ext cx="3063240" cy="265176"/>
          </a:xfrm>
          <a:prstGeom prst="roundRect">
            <a:avLst>
              <a:gd name="adj" fmla="val 20690"/>
            </a:avLst>
          </a:prstGeom>
          <a:solidFill>
            <a:srgbClr val="E3F6F3"/>
          </a:solidFill>
          <a:ln w="9525">
            <a:solidFill>
              <a:srgbClr val="0FB5A6"/>
            </a:solidFill>
            <a:prstDash val="solid"/>
          </a:ln>
        </p:spPr>
      </p:sp>
      <p:sp>
        <p:nvSpPr>
          <p:cNvPr id="40" name="Text 38"/>
          <p:cNvSpPr txBox="1"/>
          <p:nvPr/>
        </p:nvSpPr>
        <p:spPr>
          <a:xfrm>
            <a:off x="8321040" y="3127248"/>
            <a:ext cx="3063240" cy="265176"/>
          </a:xfrm>
          <a:prstGeom prst="rect">
            <a:avLst/>
          </a:prstGeom>
          <a:noFill/>
          <a:ln/>
        </p:spPr>
        <p:txBody>
          <a:bodyPr wrap="square" lIns="0" tIns="0" rIns="0" bIns="0" rtlCol="0" anchor="ctr"/>
          <a:lstStyle/>
          <a:p>
            <a:pPr algn="ctr" indent="0" marL="0">
              <a:buNone/>
            </a:pPr>
            <a:r>
              <a:rPr lang="en-US" sz="1050" b="1" dirty="0">
                <a:solidFill>
                  <a:srgbClr val="0A8377"/>
                </a:solidFill>
                <a:latin typeface="Calibri" pitchFamily="34" charset="0"/>
                <a:ea typeface="Calibri" pitchFamily="34" charset="-122"/>
                <a:cs typeface="Calibri" pitchFamily="34" charset="-120"/>
              </a:rPr>
              <a:t>Attribution modelling</a:t>
            </a:r>
            <a:endParaRPr lang="en-US" sz="1050" dirty="0"/>
          </a:p>
        </p:txBody>
      </p:sp>
      <p:sp>
        <p:nvSpPr>
          <p:cNvPr id="41" name="Shape 39"/>
          <p:cNvSpPr/>
          <p:nvPr/>
        </p:nvSpPr>
        <p:spPr>
          <a:xfrm>
            <a:off x="8321040" y="3438144"/>
            <a:ext cx="3063240" cy="265176"/>
          </a:xfrm>
          <a:prstGeom prst="roundRect">
            <a:avLst>
              <a:gd name="adj" fmla="val 20690"/>
            </a:avLst>
          </a:prstGeom>
          <a:solidFill>
            <a:srgbClr val="E3F6F3"/>
          </a:solidFill>
          <a:ln w="9525">
            <a:solidFill>
              <a:srgbClr val="0FB5A6"/>
            </a:solidFill>
            <a:prstDash val="solid"/>
          </a:ln>
        </p:spPr>
      </p:sp>
      <p:sp>
        <p:nvSpPr>
          <p:cNvPr id="42" name="Text 40"/>
          <p:cNvSpPr txBox="1"/>
          <p:nvPr/>
        </p:nvSpPr>
        <p:spPr>
          <a:xfrm>
            <a:off x="8321040" y="3438144"/>
            <a:ext cx="3063240" cy="265176"/>
          </a:xfrm>
          <a:prstGeom prst="rect">
            <a:avLst/>
          </a:prstGeom>
          <a:noFill/>
          <a:ln/>
        </p:spPr>
        <p:txBody>
          <a:bodyPr wrap="square" lIns="0" tIns="0" rIns="0" bIns="0" rtlCol="0" anchor="ctr"/>
          <a:lstStyle/>
          <a:p>
            <a:pPr algn="ctr" indent="0" marL="0">
              <a:buNone/>
            </a:pPr>
            <a:r>
              <a:rPr lang="en-US" sz="1050" b="1" dirty="0">
                <a:solidFill>
                  <a:srgbClr val="0A8377"/>
                </a:solidFill>
                <a:latin typeface="Calibri" pitchFamily="34" charset="0"/>
                <a:ea typeface="Calibri" pitchFamily="34" charset="-122"/>
                <a:cs typeface="Calibri" pitchFamily="34" charset="-120"/>
              </a:rPr>
              <a:t>Funnel analysis</a:t>
            </a:r>
            <a:endParaRPr lang="en-US" sz="1050" dirty="0"/>
          </a:p>
        </p:txBody>
      </p:sp>
      <p:sp>
        <p:nvSpPr>
          <p:cNvPr id="43" name="Shape 41"/>
          <p:cNvSpPr/>
          <p:nvPr/>
        </p:nvSpPr>
        <p:spPr>
          <a:xfrm>
            <a:off x="8321040" y="3749040"/>
            <a:ext cx="3063240" cy="265176"/>
          </a:xfrm>
          <a:prstGeom prst="roundRect">
            <a:avLst>
              <a:gd name="adj" fmla="val 20690"/>
            </a:avLst>
          </a:prstGeom>
          <a:solidFill>
            <a:srgbClr val="E3F6F3"/>
          </a:solidFill>
          <a:ln w="9525">
            <a:solidFill>
              <a:srgbClr val="0FB5A6"/>
            </a:solidFill>
            <a:prstDash val="solid"/>
          </a:ln>
        </p:spPr>
      </p:sp>
      <p:sp>
        <p:nvSpPr>
          <p:cNvPr id="44" name="Text 42"/>
          <p:cNvSpPr txBox="1"/>
          <p:nvPr/>
        </p:nvSpPr>
        <p:spPr>
          <a:xfrm>
            <a:off x="8321040" y="3749040"/>
            <a:ext cx="3063240" cy="265176"/>
          </a:xfrm>
          <a:prstGeom prst="rect">
            <a:avLst/>
          </a:prstGeom>
          <a:noFill/>
          <a:ln/>
        </p:spPr>
        <p:txBody>
          <a:bodyPr wrap="square" lIns="0" tIns="0" rIns="0" bIns="0" rtlCol="0" anchor="ctr"/>
          <a:lstStyle/>
          <a:p>
            <a:pPr algn="ctr" indent="0" marL="0">
              <a:buNone/>
            </a:pPr>
            <a:r>
              <a:rPr lang="en-US" sz="1050" b="1" dirty="0">
                <a:solidFill>
                  <a:srgbClr val="0A8377"/>
                </a:solidFill>
                <a:latin typeface="Calibri" pitchFamily="34" charset="0"/>
                <a:ea typeface="Calibri" pitchFamily="34" charset="-122"/>
                <a:cs typeface="Calibri" pitchFamily="34" charset="-120"/>
              </a:rPr>
              <a:t>Cohort analysis</a:t>
            </a:r>
            <a:endParaRPr lang="en-US" sz="1050" dirty="0"/>
          </a:p>
        </p:txBody>
      </p:sp>
      <p:sp>
        <p:nvSpPr>
          <p:cNvPr id="45" name="Shape 43"/>
          <p:cNvSpPr/>
          <p:nvPr/>
        </p:nvSpPr>
        <p:spPr>
          <a:xfrm>
            <a:off x="8321040" y="4059936"/>
            <a:ext cx="3063240" cy="265176"/>
          </a:xfrm>
          <a:prstGeom prst="roundRect">
            <a:avLst>
              <a:gd name="adj" fmla="val 20690"/>
            </a:avLst>
          </a:prstGeom>
          <a:solidFill>
            <a:srgbClr val="E3F6F3"/>
          </a:solidFill>
          <a:ln w="9525">
            <a:solidFill>
              <a:srgbClr val="0FB5A6"/>
            </a:solidFill>
            <a:prstDash val="solid"/>
          </a:ln>
        </p:spPr>
      </p:sp>
      <p:sp>
        <p:nvSpPr>
          <p:cNvPr id="46" name="Text 44"/>
          <p:cNvSpPr txBox="1"/>
          <p:nvPr/>
        </p:nvSpPr>
        <p:spPr>
          <a:xfrm>
            <a:off x="8321040" y="4059936"/>
            <a:ext cx="3063240" cy="265176"/>
          </a:xfrm>
          <a:prstGeom prst="rect">
            <a:avLst/>
          </a:prstGeom>
          <a:noFill/>
          <a:ln/>
        </p:spPr>
        <p:txBody>
          <a:bodyPr wrap="square" lIns="0" tIns="0" rIns="0" bIns="0" rtlCol="0" anchor="ctr"/>
          <a:lstStyle/>
          <a:p>
            <a:pPr algn="ctr" indent="0" marL="0">
              <a:buNone/>
            </a:pPr>
            <a:r>
              <a:rPr lang="en-US" sz="1050" b="1" dirty="0">
                <a:solidFill>
                  <a:srgbClr val="0A8377"/>
                </a:solidFill>
                <a:latin typeface="Calibri" pitchFamily="34" charset="0"/>
                <a:ea typeface="Calibri" pitchFamily="34" charset="-122"/>
                <a:cs typeface="Calibri" pitchFamily="34" charset="-120"/>
              </a:rPr>
              <a:t>AI recommendation</a:t>
            </a:r>
            <a:endParaRPr lang="en-US" sz="1050" dirty="0"/>
          </a:p>
        </p:txBody>
      </p:sp>
      <p:sp>
        <p:nvSpPr>
          <p:cNvPr id="47" name="Shape 45"/>
          <p:cNvSpPr/>
          <p:nvPr/>
        </p:nvSpPr>
        <p:spPr>
          <a:xfrm>
            <a:off x="8321040" y="4370832"/>
            <a:ext cx="3063240" cy="265176"/>
          </a:xfrm>
          <a:prstGeom prst="roundRect">
            <a:avLst>
              <a:gd name="adj" fmla="val 20690"/>
            </a:avLst>
          </a:prstGeom>
          <a:solidFill>
            <a:srgbClr val="E3F6F3"/>
          </a:solidFill>
          <a:ln w="9525">
            <a:solidFill>
              <a:srgbClr val="0FB5A6"/>
            </a:solidFill>
            <a:prstDash val="solid"/>
          </a:ln>
        </p:spPr>
      </p:sp>
      <p:sp>
        <p:nvSpPr>
          <p:cNvPr id="48" name="Text 46"/>
          <p:cNvSpPr txBox="1"/>
          <p:nvPr/>
        </p:nvSpPr>
        <p:spPr>
          <a:xfrm>
            <a:off x="8321040" y="4370832"/>
            <a:ext cx="3063240" cy="265176"/>
          </a:xfrm>
          <a:prstGeom prst="rect">
            <a:avLst/>
          </a:prstGeom>
          <a:noFill/>
          <a:ln/>
        </p:spPr>
        <p:txBody>
          <a:bodyPr wrap="square" lIns="0" tIns="0" rIns="0" bIns="0" rtlCol="0" anchor="ctr"/>
          <a:lstStyle/>
          <a:p>
            <a:pPr algn="ctr" indent="0" marL="0">
              <a:buNone/>
            </a:pPr>
            <a:r>
              <a:rPr lang="en-US" sz="1050" b="1" dirty="0">
                <a:solidFill>
                  <a:srgbClr val="0A8377"/>
                </a:solidFill>
                <a:latin typeface="Calibri" pitchFamily="34" charset="0"/>
                <a:ea typeface="Calibri" pitchFamily="34" charset="-122"/>
                <a:cs typeface="Calibri" pitchFamily="34" charset="-120"/>
              </a:rPr>
              <a:t>Interactive dashboard</a:t>
            </a:r>
            <a:endParaRPr lang="en-US" sz="1050" dirty="0"/>
          </a:p>
        </p:txBody>
      </p:sp>
      <p:sp>
        <p:nvSpPr>
          <p:cNvPr id="49" name="Shape 47"/>
          <p:cNvSpPr/>
          <p:nvPr/>
        </p:nvSpPr>
        <p:spPr>
          <a:xfrm>
            <a:off x="8092440" y="4892040"/>
            <a:ext cx="3520440" cy="1417320"/>
          </a:xfrm>
          <a:prstGeom prst="roundRect">
            <a:avLst>
              <a:gd name="adj" fmla="val 3871"/>
            </a:avLst>
          </a:prstGeom>
          <a:solidFill>
            <a:srgbClr val="FDEDE1"/>
          </a:solidFill>
          <a:ln w="12700">
            <a:solidFill>
              <a:srgbClr val="F2762E"/>
            </a:solidFill>
            <a:prstDash val="solid"/>
          </a:ln>
        </p:spPr>
      </p:sp>
      <p:sp>
        <p:nvSpPr>
          <p:cNvPr id="50" name="Text 48"/>
          <p:cNvSpPr txBox="1"/>
          <p:nvPr/>
        </p:nvSpPr>
        <p:spPr>
          <a:xfrm>
            <a:off x="8321040" y="5029200"/>
            <a:ext cx="2743200" cy="219456"/>
          </a:xfrm>
          <a:prstGeom prst="rect">
            <a:avLst/>
          </a:prstGeom>
          <a:noFill/>
          <a:ln/>
        </p:spPr>
        <p:txBody>
          <a:bodyPr wrap="square" lIns="0" tIns="0" rIns="0" bIns="0" rtlCol="0" anchor="ctr"/>
          <a:lstStyle/>
          <a:p>
            <a:pPr indent="0" marL="0">
              <a:buNone/>
            </a:pPr>
            <a:r>
              <a:rPr lang="en-US" sz="950" b="1" spc="150" kern="0" dirty="0">
                <a:solidFill>
                  <a:srgbClr val="B4501A"/>
                </a:solidFill>
                <a:latin typeface="Calibri" pitchFamily="34" charset="0"/>
                <a:ea typeface="Calibri" pitchFamily="34" charset="-122"/>
                <a:cs typeface="Calibri" pitchFamily="34" charset="-120"/>
              </a:rPr>
              <a:t>OUT OF SCOPE</a:t>
            </a:r>
            <a:endParaRPr lang="en-US" sz="950" dirty="0"/>
          </a:p>
        </p:txBody>
      </p:sp>
      <p:sp>
        <p:nvSpPr>
          <p:cNvPr id="51" name="Text 49"/>
          <p:cNvSpPr txBox="1"/>
          <p:nvPr/>
        </p:nvSpPr>
        <p:spPr>
          <a:xfrm>
            <a:off x="8339328" y="5285232"/>
            <a:ext cx="3108960" cy="91440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7A3A13"/>
                </a:solidFill>
                <a:latin typeface="Calibri" pitchFamily="34" charset="0"/>
                <a:ea typeface="Calibri" pitchFamily="34" charset="-122"/>
                <a:cs typeface="Calibri" pitchFamily="34" charset="-120"/>
              </a:rPr>
              <a:t>Automatically changing live advertising budgets</a:t>
            </a:r>
            <a:endParaRPr lang="en-US" sz="1050" dirty="0"/>
          </a:p>
          <a:p>
            <a:pPr marL="342900" indent="-342900">
              <a:spcAft>
                <a:spcPts val="400"/>
              </a:spcAft>
              <a:buSzPct val="100000"/>
              <a:buChar char="•"/>
            </a:pPr>
            <a:r>
              <a:rPr lang="en-US" sz="1050" dirty="0">
                <a:solidFill>
                  <a:srgbClr val="7A3A13"/>
                </a:solidFill>
                <a:latin typeface="Calibri" pitchFamily="34" charset="0"/>
                <a:ea typeface="Calibri" pitchFamily="34" charset="-122"/>
                <a:cs typeface="Calibri" pitchFamily="34" charset="-120"/>
              </a:rPr>
              <a:t>Taking decisions without user approval</a:t>
            </a:r>
            <a:endParaRPr lang="en-US" sz="1050" dirty="0"/>
          </a:p>
          <a:p>
            <a:pPr marL="342900" indent="-342900">
              <a:spcAft>
                <a:spcPts val="400"/>
              </a:spcAft>
              <a:buSzPct val="100000"/>
              <a:buChar char="•"/>
            </a:pPr>
            <a:r>
              <a:rPr lang="en-US" sz="1050" dirty="0">
                <a:solidFill>
                  <a:srgbClr val="7A3A13"/>
                </a:solidFill>
                <a:latin typeface="Calibri" pitchFamily="34" charset="0"/>
                <a:ea typeface="Calibri" pitchFamily="34" charset="-122"/>
                <a:cs typeface="Calibri" pitchFamily="34" charset="-120"/>
              </a:rPr>
              <a:t>Treating model predictions as guaranteed results</a:t>
            </a:r>
            <a:endParaRPr lang="en-US" sz="1050" dirty="0"/>
          </a:p>
        </p:txBody>
      </p:sp>
      <p:sp>
        <p:nvSpPr>
          <p:cNvPr id="52" name="Shape 50"/>
          <p:cNvSpPr/>
          <p:nvPr/>
        </p:nvSpPr>
        <p:spPr>
          <a:xfrm>
            <a:off x="548640" y="5029200"/>
            <a:ext cx="7223760" cy="1280160"/>
          </a:xfrm>
          <a:prstGeom prst="roundRect">
            <a:avLst>
              <a:gd name="adj" fmla="val 4286"/>
            </a:avLst>
          </a:prstGeom>
          <a:solidFill>
            <a:srgbClr val="FFFFFF"/>
          </a:solidFill>
          <a:ln w="12700">
            <a:solidFill>
              <a:srgbClr val="D6DDEA"/>
            </a:solidFill>
            <a:prstDash val="solid"/>
          </a:ln>
        </p:spPr>
      </p:sp>
      <p:sp>
        <p:nvSpPr>
          <p:cNvPr id="53" name="Text 51"/>
          <p:cNvSpPr txBox="1"/>
          <p:nvPr/>
        </p:nvSpPr>
        <p:spPr>
          <a:xfrm>
            <a:off x="822960" y="5193792"/>
            <a:ext cx="6675120" cy="274320"/>
          </a:xfrm>
          <a:prstGeom prst="rect">
            <a:avLst/>
          </a:prstGeom>
          <a:noFill/>
          <a:ln/>
        </p:spPr>
        <p:txBody>
          <a:bodyPr wrap="square" lIns="0" tIns="0" rIns="0" bIns="0" rtlCol="0" anchor="ctr"/>
          <a:lstStyle/>
          <a:p>
            <a:pPr indent="0" marL="0">
              <a:buNone/>
            </a:pPr>
            <a:r>
              <a:rPr lang="en-US" sz="1300" b="1" dirty="0">
                <a:solidFill>
                  <a:srgbClr val="0B1B3A"/>
                </a:solidFill>
                <a:latin typeface="Calibri" pitchFamily="34" charset="0"/>
                <a:ea typeface="Calibri" pitchFamily="34" charset="-122"/>
                <a:cs typeface="Calibri" pitchFamily="34" charset="-120"/>
              </a:rPr>
              <a:t>Positioning: decision support, not automation</a:t>
            </a:r>
            <a:endParaRPr lang="en-US" sz="1300" dirty="0"/>
          </a:p>
        </p:txBody>
      </p:sp>
      <p:sp>
        <p:nvSpPr>
          <p:cNvPr id="54" name="Text 52"/>
          <p:cNvSpPr txBox="1"/>
          <p:nvPr/>
        </p:nvSpPr>
        <p:spPr>
          <a:xfrm>
            <a:off x="822960" y="5486400"/>
            <a:ext cx="6675120" cy="640080"/>
          </a:xfrm>
          <a:prstGeom prst="rect">
            <a:avLst/>
          </a:prstGeom>
          <a:noFill/>
          <a:ln/>
        </p:spPr>
        <p:txBody>
          <a:bodyPr wrap="square" lIns="0" tIns="0" rIns="0" bIns="0" rtlCol="0" anchor="ctr"/>
          <a:lstStyle/>
          <a:p>
            <a:pPr indent="0" marL="0">
              <a:buNone/>
            </a:pPr>
            <a:r>
              <a:rPr lang="en-US" sz="1150" dirty="0">
                <a:solidFill>
                  <a:srgbClr val="5D6B85"/>
                </a:solidFill>
                <a:latin typeface="Calibri" pitchFamily="34" charset="0"/>
                <a:ea typeface="Calibri" pitchFamily="34" charset="-122"/>
                <a:cs typeface="Calibri" pitchFamily="34" charset="-120"/>
              </a:rPr>
              <a:t>The system recommends actions and quantifies their expected effect. The marketing manager remains responsible for reviewing, adjusting and approving every budget recommendation before it is applied.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A8377"/>
                </a:solidFill>
                <a:latin typeface="Calibri" pitchFamily="34" charset="0"/>
                <a:ea typeface="Calibri" pitchFamily="34" charset="-122"/>
                <a:cs typeface="Calibri" pitchFamily="34" charset="-120"/>
              </a:rPr>
              <a:t>USERS AND INTERACTION</a:t>
            </a:r>
            <a:endParaRPr lang="en-US" sz="1050" dirty="0"/>
          </a:p>
        </p:txBody>
      </p:sp>
      <p:sp>
        <p:nvSpPr>
          <p:cNvPr id="3" name="Text 1"/>
          <p:cNvSpPr txBox="1"/>
          <p:nvPr/>
        </p:nvSpPr>
        <p:spPr>
          <a:xfrm>
            <a:off x="548640" y="566928"/>
            <a:ext cx="11064240" cy="548640"/>
          </a:xfrm>
          <a:prstGeom prst="rect">
            <a:avLst/>
          </a:prstGeom>
          <a:noFill/>
          <a:ln/>
        </p:spPr>
        <p:txBody>
          <a:bodyPr wrap="square" lIns="0" tIns="0" rIns="0" bIns="0" rtlCol="0" anchor="ctr"/>
          <a:lstStyle/>
          <a:p>
            <a:pPr indent="0" marL="0">
              <a:buNone/>
            </a:pPr>
            <a:r>
              <a:rPr lang="en-US" sz="3000" b="1" dirty="0">
                <a:solidFill>
                  <a:srgbClr val="0B1B3A"/>
                </a:solidFill>
                <a:latin typeface="Cambria" pitchFamily="34" charset="0"/>
                <a:ea typeface="Cambria" pitchFamily="34" charset="-122"/>
                <a:cs typeface="Cambria" pitchFamily="34" charset="-120"/>
              </a:rPr>
              <a:t>Who Uses the System and How?</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6858000" cy="914400"/>
        </p:xfrm>
        <a:graphic>
          <a:graphicData uri="http://schemas.openxmlformats.org/drawingml/2006/table">
            <a:tbl>
              <a:tblPr/>
              <a:tblGrid>
                <a:gridCol w="1828800"/>
                <a:gridCol w="2468880"/>
                <a:gridCol w="25603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User</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0B1B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Main responsibility</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0B1B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System usage</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0B1B3A"/>
                    </a:solidFill>
                  </a:tcPr>
                </a:tc>
              </a:tr>
              <a:tr h="384048">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Marketing manager</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Approves budget decisions</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Reviews KPIs and AI recommendations</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Marketing analyst</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Investigates campaign performance</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Applies filters, compares models</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Business manager</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Evaluates profitability</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Reviews ROI and revenue trends</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Data administrator</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Maintains data and models</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100" dirty="0">
                          <a:solidFill>
                            <a:srgbClr val="0B1B3A"/>
                          </a:solidFill>
                          <a:latin typeface="Calibri" pitchFamily="34" charset="0"/>
                          <a:ea typeface="Calibri" pitchFamily="34" charset="-122"/>
                          <a:cs typeface="Calibri" pitchFamily="34" charset="-120"/>
                        </a:rPr>
                        <a:t>Refreshes data, monitors quality</a:t>
                      </a:r>
                      <a:endParaRPr lang="en-US" sz="110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401568"/>
            <a:ext cx="6858000" cy="237744"/>
          </a:xfrm>
          <a:prstGeom prst="rect">
            <a:avLst/>
          </a:prstGeom>
          <a:noFill/>
          <a:ln/>
        </p:spPr>
        <p:txBody>
          <a:bodyPr wrap="square" lIns="0" tIns="0" rIns="0" bIns="0" rtlCol="0" anchor="ctr"/>
          <a:lstStyle/>
          <a:p>
            <a:pPr indent="0" marL="0">
              <a:buNone/>
            </a:pPr>
            <a:r>
              <a:rPr lang="en-US" sz="1250" b="1" dirty="0">
                <a:solidFill>
                  <a:srgbClr val="5D6B85"/>
                </a:solidFill>
                <a:latin typeface="Calibri" pitchFamily="34" charset="0"/>
                <a:ea typeface="Calibri" pitchFamily="34" charset="-122"/>
                <a:cs typeface="Calibri" pitchFamily="34" charset="-120"/>
              </a:rPr>
              <a:t>Interactive controls available to the user</a:t>
            </a:r>
            <a:endParaRPr lang="en-US" sz="1250" dirty="0"/>
          </a:p>
        </p:txBody>
      </p:sp>
      <p:sp>
        <p:nvSpPr>
          <p:cNvPr id="6" name="Shape 3"/>
          <p:cNvSpPr/>
          <p:nvPr/>
        </p:nvSpPr>
        <p:spPr>
          <a:xfrm>
            <a:off x="548640" y="3730752"/>
            <a:ext cx="1627632" cy="365760"/>
          </a:xfrm>
          <a:prstGeom prst="roundRect">
            <a:avLst>
              <a:gd name="adj" fmla="val 15000"/>
            </a:avLst>
          </a:prstGeom>
          <a:solidFill>
            <a:srgbClr val="FFFFFF"/>
          </a:solidFill>
          <a:ln w="9525">
            <a:solidFill>
              <a:srgbClr val="0FB5A6"/>
            </a:solidFill>
            <a:prstDash val="solid"/>
          </a:ln>
        </p:spPr>
      </p:sp>
      <p:sp>
        <p:nvSpPr>
          <p:cNvPr id="7" name="Text 4"/>
          <p:cNvSpPr txBox="1"/>
          <p:nvPr/>
        </p:nvSpPr>
        <p:spPr>
          <a:xfrm>
            <a:off x="548640" y="3730752"/>
            <a:ext cx="1627632" cy="365760"/>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Date range</a:t>
            </a:r>
            <a:endParaRPr lang="en-US" sz="1050" dirty="0"/>
          </a:p>
        </p:txBody>
      </p:sp>
      <p:sp>
        <p:nvSpPr>
          <p:cNvPr id="8" name="Shape 5"/>
          <p:cNvSpPr/>
          <p:nvPr/>
        </p:nvSpPr>
        <p:spPr>
          <a:xfrm>
            <a:off x="2286000" y="3730752"/>
            <a:ext cx="1627632" cy="365760"/>
          </a:xfrm>
          <a:prstGeom prst="roundRect">
            <a:avLst>
              <a:gd name="adj" fmla="val 15000"/>
            </a:avLst>
          </a:prstGeom>
          <a:solidFill>
            <a:srgbClr val="FFFFFF"/>
          </a:solidFill>
          <a:ln w="9525">
            <a:solidFill>
              <a:srgbClr val="0FB5A6"/>
            </a:solidFill>
            <a:prstDash val="solid"/>
          </a:ln>
        </p:spPr>
      </p:sp>
      <p:sp>
        <p:nvSpPr>
          <p:cNvPr id="9" name="Text 6"/>
          <p:cNvSpPr txBox="1"/>
          <p:nvPr/>
        </p:nvSpPr>
        <p:spPr>
          <a:xfrm>
            <a:off x="2286000" y="3730752"/>
            <a:ext cx="1627632" cy="365760"/>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Channel filter</a:t>
            </a:r>
            <a:endParaRPr lang="en-US" sz="1050" dirty="0"/>
          </a:p>
        </p:txBody>
      </p:sp>
      <p:sp>
        <p:nvSpPr>
          <p:cNvPr id="10" name="Shape 7"/>
          <p:cNvSpPr/>
          <p:nvPr/>
        </p:nvSpPr>
        <p:spPr>
          <a:xfrm>
            <a:off x="4023360" y="3730752"/>
            <a:ext cx="1627632" cy="365760"/>
          </a:xfrm>
          <a:prstGeom prst="roundRect">
            <a:avLst>
              <a:gd name="adj" fmla="val 15000"/>
            </a:avLst>
          </a:prstGeom>
          <a:solidFill>
            <a:srgbClr val="FFFFFF"/>
          </a:solidFill>
          <a:ln w="9525">
            <a:solidFill>
              <a:srgbClr val="0FB5A6"/>
            </a:solidFill>
            <a:prstDash val="solid"/>
          </a:ln>
        </p:spPr>
      </p:sp>
      <p:sp>
        <p:nvSpPr>
          <p:cNvPr id="11" name="Text 8"/>
          <p:cNvSpPr txBox="1"/>
          <p:nvPr/>
        </p:nvSpPr>
        <p:spPr>
          <a:xfrm>
            <a:off x="4023360" y="3730752"/>
            <a:ext cx="1627632" cy="365760"/>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Campaign filter</a:t>
            </a:r>
            <a:endParaRPr lang="en-US" sz="1050" dirty="0"/>
          </a:p>
        </p:txBody>
      </p:sp>
      <p:sp>
        <p:nvSpPr>
          <p:cNvPr id="12" name="Shape 9"/>
          <p:cNvSpPr/>
          <p:nvPr/>
        </p:nvSpPr>
        <p:spPr>
          <a:xfrm>
            <a:off x="5760720" y="3730752"/>
            <a:ext cx="1627632" cy="365760"/>
          </a:xfrm>
          <a:prstGeom prst="roundRect">
            <a:avLst>
              <a:gd name="adj" fmla="val 15000"/>
            </a:avLst>
          </a:prstGeom>
          <a:solidFill>
            <a:srgbClr val="FFFFFF"/>
          </a:solidFill>
          <a:ln w="9525">
            <a:solidFill>
              <a:srgbClr val="0FB5A6"/>
            </a:solidFill>
            <a:prstDash val="solid"/>
          </a:ln>
        </p:spPr>
      </p:sp>
      <p:sp>
        <p:nvSpPr>
          <p:cNvPr id="13" name="Text 10"/>
          <p:cNvSpPr txBox="1"/>
          <p:nvPr/>
        </p:nvSpPr>
        <p:spPr>
          <a:xfrm>
            <a:off x="5760720" y="3730752"/>
            <a:ext cx="1627632" cy="365760"/>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Attribution model</a:t>
            </a:r>
            <a:endParaRPr lang="en-US" sz="1050" dirty="0"/>
          </a:p>
        </p:txBody>
      </p:sp>
      <p:sp>
        <p:nvSpPr>
          <p:cNvPr id="14" name="Shape 11"/>
          <p:cNvSpPr/>
          <p:nvPr/>
        </p:nvSpPr>
        <p:spPr>
          <a:xfrm>
            <a:off x="548640" y="4187952"/>
            <a:ext cx="1627632" cy="365760"/>
          </a:xfrm>
          <a:prstGeom prst="roundRect">
            <a:avLst>
              <a:gd name="adj" fmla="val 15000"/>
            </a:avLst>
          </a:prstGeom>
          <a:solidFill>
            <a:srgbClr val="FFFFFF"/>
          </a:solidFill>
          <a:ln w="9525">
            <a:solidFill>
              <a:srgbClr val="0FB5A6"/>
            </a:solidFill>
            <a:prstDash val="solid"/>
          </a:ln>
        </p:spPr>
      </p:sp>
      <p:sp>
        <p:nvSpPr>
          <p:cNvPr id="15" name="Text 12"/>
          <p:cNvSpPr txBox="1"/>
          <p:nvPr/>
        </p:nvSpPr>
        <p:spPr>
          <a:xfrm>
            <a:off x="548640" y="4187952"/>
            <a:ext cx="1627632" cy="365760"/>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Funnel stage</a:t>
            </a:r>
            <a:endParaRPr lang="en-US" sz="1050" dirty="0"/>
          </a:p>
        </p:txBody>
      </p:sp>
      <p:sp>
        <p:nvSpPr>
          <p:cNvPr id="16" name="Shape 13"/>
          <p:cNvSpPr/>
          <p:nvPr/>
        </p:nvSpPr>
        <p:spPr>
          <a:xfrm>
            <a:off x="2286000" y="4187952"/>
            <a:ext cx="1627632" cy="365760"/>
          </a:xfrm>
          <a:prstGeom prst="roundRect">
            <a:avLst>
              <a:gd name="adj" fmla="val 15000"/>
            </a:avLst>
          </a:prstGeom>
          <a:solidFill>
            <a:srgbClr val="FFFFFF"/>
          </a:solidFill>
          <a:ln w="9525">
            <a:solidFill>
              <a:srgbClr val="0FB5A6"/>
            </a:solidFill>
            <a:prstDash val="solid"/>
          </a:ln>
        </p:spPr>
      </p:sp>
      <p:sp>
        <p:nvSpPr>
          <p:cNvPr id="17" name="Text 14"/>
          <p:cNvSpPr txBox="1"/>
          <p:nvPr/>
        </p:nvSpPr>
        <p:spPr>
          <a:xfrm>
            <a:off x="2286000" y="4187952"/>
            <a:ext cx="1627632" cy="365760"/>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Cohort selector</a:t>
            </a:r>
            <a:endParaRPr lang="en-US" sz="1050" dirty="0"/>
          </a:p>
        </p:txBody>
      </p:sp>
      <p:sp>
        <p:nvSpPr>
          <p:cNvPr id="18" name="Shape 15"/>
          <p:cNvSpPr/>
          <p:nvPr/>
        </p:nvSpPr>
        <p:spPr>
          <a:xfrm>
            <a:off x="4023360" y="4187952"/>
            <a:ext cx="1627632" cy="365760"/>
          </a:xfrm>
          <a:prstGeom prst="roundRect">
            <a:avLst>
              <a:gd name="adj" fmla="val 15000"/>
            </a:avLst>
          </a:prstGeom>
          <a:solidFill>
            <a:srgbClr val="FFFFFF"/>
          </a:solidFill>
          <a:ln w="9525">
            <a:solidFill>
              <a:srgbClr val="0FB5A6"/>
            </a:solidFill>
            <a:prstDash val="solid"/>
          </a:ln>
        </p:spPr>
      </p:sp>
      <p:sp>
        <p:nvSpPr>
          <p:cNvPr id="19" name="Text 16"/>
          <p:cNvSpPr txBox="1"/>
          <p:nvPr/>
        </p:nvSpPr>
        <p:spPr>
          <a:xfrm>
            <a:off x="4023360" y="4187952"/>
            <a:ext cx="1627632" cy="365760"/>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Budget sliders</a:t>
            </a:r>
            <a:endParaRPr lang="en-US" sz="1050" dirty="0"/>
          </a:p>
        </p:txBody>
      </p:sp>
      <p:sp>
        <p:nvSpPr>
          <p:cNvPr id="20" name="Shape 17"/>
          <p:cNvSpPr/>
          <p:nvPr/>
        </p:nvSpPr>
        <p:spPr>
          <a:xfrm>
            <a:off x="5760720" y="4187952"/>
            <a:ext cx="1627632" cy="365760"/>
          </a:xfrm>
          <a:prstGeom prst="roundRect">
            <a:avLst>
              <a:gd name="adj" fmla="val 15000"/>
            </a:avLst>
          </a:prstGeom>
          <a:solidFill>
            <a:srgbClr val="FFFFFF"/>
          </a:solidFill>
          <a:ln w="9525">
            <a:solidFill>
              <a:srgbClr val="0FB5A6"/>
            </a:solidFill>
            <a:prstDash val="solid"/>
          </a:ln>
        </p:spPr>
      </p:sp>
      <p:sp>
        <p:nvSpPr>
          <p:cNvPr id="21" name="Text 18"/>
          <p:cNvSpPr txBox="1"/>
          <p:nvPr/>
        </p:nvSpPr>
        <p:spPr>
          <a:xfrm>
            <a:off x="5760720" y="4187952"/>
            <a:ext cx="1627632" cy="365760"/>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Run optimisation</a:t>
            </a:r>
            <a:endParaRPr lang="en-US" sz="1050" dirty="0"/>
          </a:p>
        </p:txBody>
      </p:sp>
      <p:sp>
        <p:nvSpPr>
          <p:cNvPr id="22" name="Shape 19"/>
          <p:cNvSpPr/>
          <p:nvPr/>
        </p:nvSpPr>
        <p:spPr>
          <a:xfrm>
            <a:off x="548640" y="4754880"/>
            <a:ext cx="6858000" cy="1554480"/>
          </a:xfrm>
          <a:prstGeom prst="roundRect">
            <a:avLst>
              <a:gd name="adj" fmla="val 3529"/>
            </a:avLst>
          </a:prstGeom>
          <a:solidFill>
            <a:srgbClr val="0B1B3A"/>
          </a:solidFill>
          <a:ln w="12700">
            <a:solidFill>
              <a:srgbClr val="D6DDEA"/>
            </a:solidFill>
            <a:prstDash val="solid"/>
          </a:ln>
        </p:spPr>
      </p:sp>
      <p:sp>
        <p:nvSpPr>
          <p:cNvPr id="23" name="Text 20"/>
          <p:cNvSpPr txBox="1"/>
          <p:nvPr/>
        </p:nvSpPr>
        <p:spPr>
          <a:xfrm>
            <a:off x="822960" y="4919472"/>
            <a:ext cx="6309360" cy="274320"/>
          </a:xfrm>
          <a:prstGeom prst="rect">
            <a:avLst/>
          </a:prstGeom>
          <a:noFill/>
          <a:ln/>
        </p:spPr>
        <p:txBody>
          <a:bodyPr wrap="square" lIns="0" tIns="0" rIns="0" bIns="0" rtlCol="0" anchor="ctr"/>
          <a:lstStyle/>
          <a:p>
            <a:pPr indent="0" marL="0">
              <a:buNone/>
            </a:pPr>
            <a:r>
              <a:rPr lang="en-US" sz="1300" b="1" dirty="0">
                <a:solidFill>
                  <a:srgbClr val="0FB5A6"/>
                </a:solidFill>
                <a:latin typeface="Calibri" pitchFamily="34" charset="0"/>
                <a:ea typeface="Calibri" pitchFamily="34" charset="-122"/>
                <a:cs typeface="Calibri" pitchFamily="34" charset="-120"/>
              </a:rPr>
              <a:t>The user does not passively read a report</a:t>
            </a:r>
            <a:endParaRPr lang="en-US" sz="1300" dirty="0"/>
          </a:p>
        </p:txBody>
      </p:sp>
      <p:sp>
        <p:nvSpPr>
          <p:cNvPr id="24" name="Text 21"/>
          <p:cNvSpPr txBox="1"/>
          <p:nvPr/>
        </p:nvSpPr>
        <p:spPr>
          <a:xfrm>
            <a:off x="822960" y="5212080"/>
            <a:ext cx="6309360" cy="914400"/>
          </a:xfrm>
          <a:prstGeom prst="rect">
            <a:avLst/>
          </a:prstGeom>
          <a:noFill/>
          <a:ln/>
        </p:spPr>
        <p:txBody>
          <a:bodyPr wrap="square" lIns="0" tIns="0" rIns="0" bIns="0" rtlCol="0" anchor="ctr"/>
          <a:lstStyle/>
          <a:p>
            <a:pPr indent="0" marL="0">
              <a:buNone/>
            </a:pPr>
            <a:r>
              <a:rPr lang="en-US" sz="1150" dirty="0">
                <a:solidFill>
                  <a:srgbClr val="A9BEDD"/>
                </a:solidFill>
                <a:latin typeface="Calibri" pitchFamily="34" charset="0"/>
                <a:ea typeface="Calibri" pitchFamily="34" charset="-122"/>
                <a:cs typeface="Calibri" pitchFamily="34" charset="-120"/>
              </a:rPr>
              <a:t>Filters are changed, campaigns are investigated, attribution methods are compared and alternative budgets are entered. The system recalculates every metric and shows the effect of the proposed decision before it is approved.</a:t>
            </a:r>
            <a:endParaRPr lang="en-US" sz="1150" dirty="0"/>
          </a:p>
        </p:txBody>
      </p:sp>
      <p:sp>
        <p:nvSpPr>
          <p:cNvPr id="25" name="Shape 22"/>
          <p:cNvSpPr/>
          <p:nvPr/>
        </p:nvSpPr>
        <p:spPr>
          <a:xfrm>
            <a:off x="7772400" y="1234440"/>
            <a:ext cx="3840480" cy="5074920"/>
          </a:xfrm>
          <a:prstGeom prst="roundRect">
            <a:avLst>
              <a:gd name="adj" fmla="val 1429"/>
            </a:avLst>
          </a:prstGeom>
          <a:solidFill>
            <a:srgbClr val="FFFFFF"/>
          </a:solidFill>
          <a:ln w="12700">
            <a:solidFill>
              <a:srgbClr val="D6DDEA"/>
            </a:solidFill>
            <a:prstDash val="solid"/>
          </a:ln>
        </p:spPr>
      </p:sp>
      <p:sp>
        <p:nvSpPr>
          <p:cNvPr id="26" name="Text 23"/>
          <p:cNvSpPr txBox="1"/>
          <p:nvPr/>
        </p:nvSpPr>
        <p:spPr>
          <a:xfrm>
            <a:off x="8028432" y="1389888"/>
            <a:ext cx="3383280" cy="219456"/>
          </a:xfrm>
          <a:prstGeom prst="rect">
            <a:avLst/>
          </a:prstGeom>
          <a:noFill/>
          <a:ln/>
        </p:spPr>
        <p:txBody>
          <a:bodyPr wrap="square" lIns="0" tIns="0" rIns="0" bIns="0" rtlCol="0" anchor="ctr"/>
          <a:lstStyle/>
          <a:p>
            <a:pPr indent="0" marL="0">
              <a:buNone/>
            </a:pPr>
            <a:r>
              <a:rPr lang="en-US" sz="950" b="1" spc="150" kern="0" dirty="0">
                <a:solidFill>
                  <a:srgbClr val="0A8377"/>
                </a:solidFill>
                <a:latin typeface="Calibri" pitchFamily="34" charset="0"/>
                <a:ea typeface="Calibri" pitchFamily="34" charset="-122"/>
                <a:cs typeface="Calibri" pitchFamily="34" charset="-120"/>
              </a:rPr>
              <a:t>USER INTERACTION JOURNEY</a:t>
            </a:r>
            <a:endParaRPr lang="en-US" sz="950" dirty="0"/>
          </a:p>
        </p:txBody>
      </p:sp>
      <p:sp>
        <p:nvSpPr>
          <p:cNvPr id="27" name="Shape 24"/>
          <p:cNvSpPr/>
          <p:nvPr/>
        </p:nvSpPr>
        <p:spPr>
          <a:xfrm>
            <a:off x="8028432" y="1746504"/>
            <a:ext cx="274320" cy="274320"/>
          </a:xfrm>
          <a:prstGeom prst="ellipse">
            <a:avLst/>
          </a:prstGeom>
          <a:solidFill>
            <a:srgbClr val="0FB5A6"/>
          </a:solidFill>
          <a:ln/>
        </p:spPr>
      </p:sp>
      <p:sp>
        <p:nvSpPr>
          <p:cNvPr id="28" name="Text 25"/>
          <p:cNvSpPr txBox="1"/>
          <p:nvPr/>
        </p:nvSpPr>
        <p:spPr>
          <a:xfrm>
            <a:off x="8028432" y="17465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Text 26"/>
          <p:cNvSpPr txBox="1"/>
          <p:nvPr/>
        </p:nvSpPr>
        <p:spPr>
          <a:xfrm>
            <a:off x="8412480" y="1691640"/>
            <a:ext cx="3017520" cy="384048"/>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Open dashboard</a:t>
            </a:r>
            <a:endParaRPr lang="en-US" sz="1100" dirty="0"/>
          </a:p>
        </p:txBody>
      </p:sp>
      <p:sp>
        <p:nvSpPr>
          <p:cNvPr id="30" name="Shape 27"/>
          <p:cNvSpPr/>
          <p:nvPr/>
        </p:nvSpPr>
        <p:spPr>
          <a:xfrm>
            <a:off x="8165592" y="2020824"/>
            <a:ext cx="0" cy="173736"/>
          </a:xfrm>
          <a:prstGeom prst="line">
            <a:avLst/>
          </a:prstGeom>
          <a:noFill/>
          <a:ln w="12700">
            <a:solidFill>
              <a:srgbClr val="D6DDEA"/>
            </a:solidFill>
            <a:prstDash val="solid"/>
          </a:ln>
        </p:spPr>
      </p:sp>
      <p:sp>
        <p:nvSpPr>
          <p:cNvPr id="31" name="Shape 28"/>
          <p:cNvSpPr/>
          <p:nvPr/>
        </p:nvSpPr>
        <p:spPr>
          <a:xfrm>
            <a:off x="8028432" y="2249424"/>
            <a:ext cx="274320" cy="274320"/>
          </a:xfrm>
          <a:prstGeom prst="ellipse">
            <a:avLst/>
          </a:prstGeom>
          <a:solidFill>
            <a:srgbClr val="0FB5A6"/>
          </a:solidFill>
          <a:ln/>
        </p:spPr>
      </p:sp>
      <p:sp>
        <p:nvSpPr>
          <p:cNvPr id="32" name="Text 29"/>
          <p:cNvSpPr txBox="1"/>
          <p:nvPr/>
        </p:nvSpPr>
        <p:spPr>
          <a:xfrm>
            <a:off x="8028432" y="22494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8412480" y="2194560"/>
            <a:ext cx="3017520" cy="384048"/>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Select date, channel, campaign, region</a:t>
            </a:r>
            <a:endParaRPr lang="en-US" sz="1100" dirty="0"/>
          </a:p>
        </p:txBody>
      </p:sp>
      <p:sp>
        <p:nvSpPr>
          <p:cNvPr id="34" name="Shape 31"/>
          <p:cNvSpPr/>
          <p:nvPr/>
        </p:nvSpPr>
        <p:spPr>
          <a:xfrm>
            <a:off x="8165592" y="2523744"/>
            <a:ext cx="0" cy="173736"/>
          </a:xfrm>
          <a:prstGeom prst="line">
            <a:avLst/>
          </a:prstGeom>
          <a:noFill/>
          <a:ln w="12700">
            <a:solidFill>
              <a:srgbClr val="D6DDEA"/>
            </a:solidFill>
            <a:prstDash val="solid"/>
          </a:ln>
        </p:spPr>
      </p:sp>
      <p:sp>
        <p:nvSpPr>
          <p:cNvPr id="35" name="Shape 32"/>
          <p:cNvSpPr/>
          <p:nvPr/>
        </p:nvSpPr>
        <p:spPr>
          <a:xfrm>
            <a:off x="8028432" y="2752344"/>
            <a:ext cx="274320" cy="274320"/>
          </a:xfrm>
          <a:prstGeom prst="ellipse">
            <a:avLst/>
          </a:prstGeom>
          <a:solidFill>
            <a:srgbClr val="0FB5A6"/>
          </a:solidFill>
          <a:ln/>
        </p:spPr>
      </p:sp>
      <p:sp>
        <p:nvSpPr>
          <p:cNvPr id="36" name="Text 33"/>
          <p:cNvSpPr txBox="1"/>
          <p:nvPr/>
        </p:nvSpPr>
        <p:spPr>
          <a:xfrm>
            <a:off x="8028432" y="2752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7" name="Text 34"/>
          <p:cNvSpPr txBox="1"/>
          <p:nvPr/>
        </p:nvSpPr>
        <p:spPr>
          <a:xfrm>
            <a:off x="8412480" y="2697480"/>
            <a:ext cx="3017520" cy="384048"/>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View KPI summary</a:t>
            </a:r>
            <a:endParaRPr lang="en-US" sz="1100" dirty="0"/>
          </a:p>
        </p:txBody>
      </p:sp>
      <p:sp>
        <p:nvSpPr>
          <p:cNvPr id="38" name="Shape 35"/>
          <p:cNvSpPr/>
          <p:nvPr/>
        </p:nvSpPr>
        <p:spPr>
          <a:xfrm>
            <a:off x="8165592" y="3026664"/>
            <a:ext cx="0" cy="173736"/>
          </a:xfrm>
          <a:prstGeom prst="line">
            <a:avLst/>
          </a:prstGeom>
          <a:noFill/>
          <a:ln w="12700">
            <a:solidFill>
              <a:srgbClr val="D6DDEA"/>
            </a:solidFill>
            <a:prstDash val="solid"/>
          </a:ln>
        </p:spPr>
      </p:sp>
      <p:sp>
        <p:nvSpPr>
          <p:cNvPr id="39" name="Shape 36"/>
          <p:cNvSpPr/>
          <p:nvPr/>
        </p:nvSpPr>
        <p:spPr>
          <a:xfrm>
            <a:off x="8028432" y="3255264"/>
            <a:ext cx="274320" cy="274320"/>
          </a:xfrm>
          <a:prstGeom prst="ellipse">
            <a:avLst/>
          </a:prstGeom>
          <a:solidFill>
            <a:srgbClr val="0FB5A6"/>
          </a:solidFill>
          <a:ln/>
        </p:spPr>
      </p:sp>
      <p:sp>
        <p:nvSpPr>
          <p:cNvPr id="40" name="Text 37"/>
          <p:cNvSpPr txBox="1"/>
          <p:nvPr/>
        </p:nvSpPr>
        <p:spPr>
          <a:xfrm>
            <a:off x="8028432" y="32552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1" name="Text 38"/>
          <p:cNvSpPr txBox="1"/>
          <p:nvPr/>
        </p:nvSpPr>
        <p:spPr>
          <a:xfrm>
            <a:off x="8412480" y="3200400"/>
            <a:ext cx="3017520" cy="384048"/>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Click a channel</a:t>
            </a:r>
            <a:endParaRPr lang="en-US" sz="1100" dirty="0"/>
          </a:p>
        </p:txBody>
      </p:sp>
      <p:sp>
        <p:nvSpPr>
          <p:cNvPr id="42" name="Shape 39"/>
          <p:cNvSpPr/>
          <p:nvPr/>
        </p:nvSpPr>
        <p:spPr>
          <a:xfrm>
            <a:off x="8165592" y="3529584"/>
            <a:ext cx="0" cy="173736"/>
          </a:xfrm>
          <a:prstGeom prst="line">
            <a:avLst/>
          </a:prstGeom>
          <a:noFill/>
          <a:ln w="12700">
            <a:solidFill>
              <a:srgbClr val="D6DDEA"/>
            </a:solidFill>
            <a:prstDash val="solid"/>
          </a:ln>
        </p:spPr>
      </p:sp>
      <p:sp>
        <p:nvSpPr>
          <p:cNvPr id="43" name="Shape 40"/>
          <p:cNvSpPr/>
          <p:nvPr/>
        </p:nvSpPr>
        <p:spPr>
          <a:xfrm>
            <a:off x="8028432" y="3758184"/>
            <a:ext cx="274320" cy="274320"/>
          </a:xfrm>
          <a:prstGeom prst="ellipse">
            <a:avLst/>
          </a:prstGeom>
          <a:solidFill>
            <a:srgbClr val="0FB5A6"/>
          </a:solidFill>
          <a:ln/>
        </p:spPr>
      </p:sp>
      <p:sp>
        <p:nvSpPr>
          <p:cNvPr id="44" name="Text 41"/>
          <p:cNvSpPr txBox="1"/>
          <p:nvPr/>
        </p:nvSpPr>
        <p:spPr>
          <a:xfrm>
            <a:off x="8028432" y="37581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Text 42"/>
          <p:cNvSpPr txBox="1"/>
          <p:nvPr/>
        </p:nvSpPr>
        <p:spPr>
          <a:xfrm>
            <a:off x="8412480" y="3703320"/>
            <a:ext cx="3017520" cy="384048"/>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Drill down to campaign and creative</a:t>
            </a:r>
            <a:endParaRPr lang="en-US" sz="1100" dirty="0"/>
          </a:p>
        </p:txBody>
      </p:sp>
      <p:sp>
        <p:nvSpPr>
          <p:cNvPr id="46" name="Shape 43"/>
          <p:cNvSpPr/>
          <p:nvPr/>
        </p:nvSpPr>
        <p:spPr>
          <a:xfrm>
            <a:off x="8165592" y="4032504"/>
            <a:ext cx="0" cy="173736"/>
          </a:xfrm>
          <a:prstGeom prst="line">
            <a:avLst/>
          </a:prstGeom>
          <a:noFill/>
          <a:ln w="12700">
            <a:solidFill>
              <a:srgbClr val="D6DDEA"/>
            </a:solidFill>
            <a:prstDash val="solid"/>
          </a:ln>
        </p:spPr>
      </p:sp>
      <p:sp>
        <p:nvSpPr>
          <p:cNvPr id="47" name="Shape 44"/>
          <p:cNvSpPr/>
          <p:nvPr/>
        </p:nvSpPr>
        <p:spPr>
          <a:xfrm>
            <a:off x="8028432" y="4261104"/>
            <a:ext cx="274320" cy="274320"/>
          </a:xfrm>
          <a:prstGeom prst="ellipse">
            <a:avLst/>
          </a:prstGeom>
          <a:solidFill>
            <a:srgbClr val="0FB5A6"/>
          </a:solidFill>
          <a:ln/>
        </p:spPr>
      </p:sp>
      <p:sp>
        <p:nvSpPr>
          <p:cNvPr id="48" name="Text 45"/>
          <p:cNvSpPr txBox="1"/>
          <p:nvPr/>
        </p:nvSpPr>
        <p:spPr>
          <a:xfrm>
            <a:off x="8028432" y="4261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9" name="Text 46"/>
          <p:cNvSpPr txBox="1"/>
          <p:nvPr/>
        </p:nvSpPr>
        <p:spPr>
          <a:xfrm>
            <a:off x="8412480" y="4206240"/>
            <a:ext cx="3017520" cy="384048"/>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Compare attribution models</a:t>
            </a:r>
            <a:endParaRPr lang="en-US" sz="1100" dirty="0"/>
          </a:p>
        </p:txBody>
      </p:sp>
      <p:sp>
        <p:nvSpPr>
          <p:cNvPr id="50" name="Shape 47"/>
          <p:cNvSpPr/>
          <p:nvPr/>
        </p:nvSpPr>
        <p:spPr>
          <a:xfrm>
            <a:off x="8165592" y="4535424"/>
            <a:ext cx="0" cy="173736"/>
          </a:xfrm>
          <a:prstGeom prst="line">
            <a:avLst/>
          </a:prstGeom>
          <a:noFill/>
          <a:ln w="12700">
            <a:solidFill>
              <a:srgbClr val="D6DDEA"/>
            </a:solidFill>
            <a:prstDash val="solid"/>
          </a:ln>
        </p:spPr>
      </p:sp>
      <p:sp>
        <p:nvSpPr>
          <p:cNvPr id="51" name="Shape 48"/>
          <p:cNvSpPr/>
          <p:nvPr/>
        </p:nvSpPr>
        <p:spPr>
          <a:xfrm>
            <a:off x="8028432" y="4764024"/>
            <a:ext cx="274320" cy="274320"/>
          </a:xfrm>
          <a:prstGeom prst="ellipse">
            <a:avLst/>
          </a:prstGeom>
          <a:solidFill>
            <a:srgbClr val="0FB5A6"/>
          </a:solidFill>
          <a:ln/>
        </p:spPr>
      </p:sp>
      <p:sp>
        <p:nvSpPr>
          <p:cNvPr id="52" name="Text 49"/>
          <p:cNvSpPr txBox="1"/>
          <p:nvPr/>
        </p:nvSpPr>
        <p:spPr>
          <a:xfrm>
            <a:off x="8028432" y="47640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3" name="Text 50"/>
          <p:cNvSpPr txBox="1"/>
          <p:nvPr/>
        </p:nvSpPr>
        <p:spPr>
          <a:xfrm>
            <a:off x="8412480" y="4709160"/>
            <a:ext cx="3017520" cy="384048"/>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Adjust budget sliders</a:t>
            </a:r>
            <a:endParaRPr lang="en-US" sz="1100" dirty="0"/>
          </a:p>
        </p:txBody>
      </p:sp>
      <p:sp>
        <p:nvSpPr>
          <p:cNvPr id="54" name="Shape 51"/>
          <p:cNvSpPr/>
          <p:nvPr/>
        </p:nvSpPr>
        <p:spPr>
          <a:xfrm>
            <a:off x="8165592" y="5038344"/>
            <a:ext cx="0" cy="173736"/>
          </a:xfrm>
          <a:prstGeom prst="line">
            <a:avLst/>
          </a:prstGeom>
          <a:noFill/>
          <a:ln w="12700">
            <a:solidFill>
              <a:srgbClr val="D6DDEA"/>
            </a:solidFill>
            <a:prstDash val="solid"/>
          </a:ln>
        </p:spPr>
      </p:sp>
      <p:sp>
        <p:nvSpPr>
          <p:cNvPr id="55" name="Shape 52"/>
          <p:cNvSpPr/>
          <p:nvPr/>
        </p:nvSpPr>
        <p:spPr>
          <a:xfrm>
            <a:off x="8028432" y="5266944"/>
            <a:ext cx="274320" cy="274320"/>
          </a:xfrm>
          <a:prstGeom prst="ellipse">
            <a:avLst/>
          </a:prstGeom>
          <a:solidFill>
            <a:srgbClr val="0FB5A6"/>
          </a:solidFill>
          <a:ln/>
        </p:spPr>
      </p:sp>
      <p:sp>
        <p:nvSpPr>
          <p:cNvPr id="56" name="Text 53"/>
          <p:cNvSpPr txBox="1"/>
          <p:nvPr/>
        </p:nvSpPr>
        <p:spPr>
          <a:xfrm>
            <a:off x="8028432" y="52669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7" name="Text 54"/>
          <p:cNvSpPr txBox="1"/>
          <p:nvPr/>
        </p:nvSpPr>
        <p:spPr>
          <a:xfrm>
            <a:off x="8412480" y="5212080"/>
            <a:ext cx="3017520" cy="384048"/>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View predicted ROI</a:t>
            </a:r>
            <a:endParaRPr lang="en-US" sz="1100" dirty="0"/>
          </a:p>
        </p:txBody>
      </p:sp>
      <p:sp>
        <p:nvSpPr>
          <p:cNvPr id="58" name="Shape 55"/>
          <p:cNvSpPr/>
          <p:nvPr/>
        </p:nvSpPr>
        <p:spPr>
          <a:xfrm>
            <a:off x="8165592" y="5541264"/>
            <a:ext cx="0" cy="173736"/>
          </a:xfrm>
          <a:prstGeom prst="line">
            <a:avLst/>
          </a:prstGeom>
          <a:noFill/>
          <a:ln w="12700">
            <a:solidFill>
              <a:srgbClr val="D6DDEA"/>
            </a:solidFill>
            <a:prstDash val="solid"/>
          </a:ln>
        </p:spPr>
      </p:sp>
      <p:sp>
        <p:nvSpPr>
          <p:cNvPr id="59" name="Shape 56"/>
          <p:cNvSpPr/>
          <p:nvPr/>
        </p:nvSpPr>
        <p:spPr>
          <a:xfrm>
            <a:off x="8028432" y="5769864"/>
            <a:ext cx="274320" cy="274320"/>
          </a:xfrm>
          <a:prstGeom prst="ellipse">
            <a:avLst/>
          </a:prstGeom>
          <a:solidFill>
            <a:srgbClr val="F2762E"/>
          </a:solidFill>
          <a:ln/>
        </p:spPr>
      </p:sp>
      <p:sp>
        <p:nvSpPr>
          <p:cNvPr id="60" name="Text 57"/>
          <p:cNvSpPr txBox="1"/>
          <p:nvPr/>
        </p:nvSpPr>
        <p:spPr>
          <a:xfrm>
            <a:off x="8028432" y="57698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1" name="Text 58"/>
          <p:cNvSpPr txBox="1"/>
          <p:nvPr/>
        </p:nvSpPr>
        <p:spPr>
          <a:xfrm>
            <a:off x="8412480" y="5715000"/>
            <a:ext cx="3017520" cy="384048"/>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Approve, export or share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A8377"/>
                </a:solidFill>
                <a:latin typeface="Calibri" pitchFamily="34" charset="0"/>
                <a:ea typeface="Calibri" pitchFamily="34" charset="-122"/>
                <a:cs typeface="Calibri" pitchFamily="34" charset="-120"/>
              </a:rPr>
              <a:t>DATA SOURCES AND SYSTEM ARCHITECTURE</a:t>
            </a:r>
            <a:endParaRPr lang="en-US" sz="1050" dirty="0"/>
          </a:p>
        </p:txBody>
      </p:sp>
      <p:sp>
        <p:nvSpPr>
          <p:cNvPr id="3" name="Text 1"/>
          <p:cNvSpPr txBox="1"/>
          <p:nvPr/>
        </p:nvSpPr>
        <p:spPr>
          <a:xfrm>
            <a:off x="548640" y="566928"/>
            <a:ext cx="11064240" cy="548640"/>
          </a:xfrm>
          <a:prstGeom prst="rect">
            <a:avLst/>
          </a:prstGeom>
          <a:noFill/>
          <a:ln/>
        </p:spPr>
        <p:txBody>
          <a:bodyPr wrap="square" lIns="0" tIns="0" rIns="0" bIns="0" rtlCol="0" anchor="ctr"/>
          <a:lstStyle/>
          <a:p>
            <a:pPr indent="0" marL="0">
              <a:buNone/>
            </a:pPr>
            <a:r>
              <a:rPr lang="en-US" sz="3000" b="1" dirty="0">
                <a:solidFill>
                  <a:srgbClr val="0B1B3A"/>
                </a:solidFill>
                <a:latin typeface="Cambria" pitchFamily="34" charset="0"/>
                <a:ea typeface="Cambria" pitchFamily="34" charset="-122"/>
                <a:cs typeface="Cambria" pitchFamily="34" charset="-120"/>
              </a:rPr>
              <a:t>From Marketing Data to Business Decisions</a:t>
            </a:r>
            <a:endParaRPr lang="en-US" sz="3000" dirty="0"/>
          </a:p>
        </p:txBody>
      </p:sp>
      <p:sp>
        <p:nvSpPr>
          <p:cNvPr id="4" name="Shape 2"/>
          <p:cNvSpPr/>
          <p:nvPr/>
        </p:nvSpPr>
        <p:spPr>
          <a:xfrm>
            <a:off x="548640" y="1234440"/>
            <a:ext cx="3200400" cy="4892040"/>
          </a:xfrm>
          <a:prstGeom prst="roundRect">
            <a:avLst>
              <a:gd name="adj" fmla="val 1714"/>
            </a:avLst>
          </a:prstGeom>
          <a:solidFill>
            <a:srgbClr val="FFFFFF"/>
          </a:solidFill>
          <a:ln w="12700">
            <a:solidFill>
              <a:srgbClr val="D6DDEA"/>
            </a:solidFill>
            <a:prstDash val="solid"/>
          </a:ln>
        </p:spPr>
      </p:sp>
      <p:sp>
        <p:nvSpPr>
          <p:cNvPr id="5" name="Text 3"/>
          <p:cNvSpPr txBox="1"/>
          <p:nvPr/>
        </p:nvSpPr>
        <p:spPr>
          <a:xfrm>
            <a:off x="777240" y="1389888"/>
            <a:ext cx="2743200" cy="219456"/>
          </a:xfrm>
          <a:prstGeom prst="rect">
            <a:avLst/>
          </a:prstGeom>
          <a:noFill/>
          <a:ln/>
        </p:spPr>
        <p:txBody>
          <a:bodyPr wrap="square" lIns="0" tIns="0" rIns="0" bIns="0" rtlCol="0" anchor="ctr"/>
          <a:lstStyle/>
          <a:p>
            <a:pPr indent="0" marL="0">
              <a:buNone/>
            </a:pPr>
            <a:r>
              <a:rPr lang="en-US" sz="950" b="1" spc="150" kern="0" dirty="0">
                <a:solidFill>
                  <a:srgbClr val="0A8377"/>
                </a:solidFill>
                <a:latin typeface="Calibri" pitchFamily="34" charset="0"/>
                <a:ea typeface="Calibri" pitchFamily="34" charset="-122"/>
                <a:cs typeface="Calibri" pitchFamily="34" charset="-120"/>
              </a:rPr>
              <a:t>DATA SOURCES</a:t>
            </a:r>
            <a:endParaRPr lang="en-US" sz="950" dirty="0"/>
          </a:p>
        </p:txBody>
      </p:sp>
      <p:sp>
        <p:nvSpPr>
          <p:cNvPr id="6" name="Shape 4"/>
          <p:cNvSpPr/>
          <p:nvPr/>
        </p:nvSpPr>
        <p:spPr>
          <a:xfrm>
            <a:off x="777240" y="1719072"/>
            <a:ext cx="2743200" cy="566928"/>
          </a:xfrm>
          <a:prstGeom prst="roundRect">
            <a:avLst>
              <a:gd name="adj" fmla="val 9677"/>
            </a:avLst>
          </a:prstGeom>
          <a:solidFill>
            <a:srgbClr val="F4F7FB"/>
          </a:solidFill>
          <a:ln w="12700">
            <a:solidFill>
              <a:srgbClr val="D6DDEA"/>
            </a:solidFill>
            <a:prstDash val="solid"/>
          </a:ln>
        </p:spPr>
      </p:sp>
      <p:sp>
        <p:nvSpPr>
          <p:cNvPr id="7" name="Text 5"/>
          <p:cNvSpPr txBox="1"/>
          <p:nvPr/>
        </p:nvSpPr>
        <p:spPr>
          <a:xfrm>
            <a:off x="914400" y="1719072"/>
            <a:ext cx="2514600" cy="566928"/>
          </a:xfrm>
          <a:prstGeom prst="rect">
            <a:avLst/>
          </a:prstGeom>
          <a:noFill/>
          <a:ln/>
        </p:spPr>
        <p:txBody>
          <a:bodyPr wrap="square" lIns="0" tIns="0" rIns="0" bIns="0" rtlCol="0" anchor="ctr"/>
          <a:lstStyle/>
          <a:p>
            <a:pPr indent="0" marL="0">
              <a:buNone/>
            </a:pPr>
            <a:r>
              <a:rPr lang="en-US" sz="1050" dirty="0">
                <a:solidFill>
                  <a:srgbClr val="0B1B3A"/>
                </a:solidFill>
                <a:latin typeface="Calibri" pitchFamily="34" charset="0"/>
                <a:ea typeface="Calibri" pitchFamily="34" charset="-122"/>
                <a:cs typeface="Calibri" pitchFamily="34" charset="-120"/>
              </a:rPr>
              <a:t>Search advertising (Google Ads)</a:t>
            </a:r>
            <a:endParaRPr lang="en-US" sz="1050" dirty="0"/>
          </a:p>
        </p:txBody>
      </p:sp>
      <p:sp>
        <p:nvSpPr>
          <p:cNvPr id="8" name="Shape 6"/>
          <p:cNvSpPr/>
          <p:nvPr/>
        </p:nvSpPr>
        <p:spPr>
          <a:xfrm>
            <a:off x="3822192" y="2002536"/>
            <a:ext cx="201168" cy="0"/>
          </a:xfrm>
          <a:prstGeom prst="line">
            <a:avLst/>
          </a:prstGeom>
          <a:noFill/>
          <a:ln w="19050">
            <a:solidFill>
              <a:srgbClr val="D6DDEA"/>
            </a:solidFill>
            <a:prstDash val="solid"/>
            <a:tailEnd type="triangle"/>
          </a:ln>
        </p:spPr>
      </p:sp>
      <p:sp>
        <p:nvSpPr>
          <p:cNvPr id="9" name="Shape 7"/>
          <p:cNvSpPr/>
          <p:nvPr/>
        </p:nvSpPr>
        <p:spPr>
          <a:xfrm>
            <a:off x="777240" y="2432304"/>
            <a:ext cx="2743200" cy="566928"/>
          </a:xfrm>
          <a:prstGeom prst="roundRect">
            <a:avLst>
              <a:gd name="adj" fmla="val 9677"/>
            </a:avLst>
          </a:prstGeom>
          <a:solidFill>
            <a:srgbClr val="F4F7FB"/>
          </a:solidFill>
          <a:ln w="12700">
            <a:solidFill>
              <a:srgbClr val="D6DDEA"/>
            </a:solidFill>
            <a:prstDash val="solid"/>
          </a:ln>
        </p:spPr>
      </p:sp>
      <p:sp>
        <p:nvSpPr>
          <p:cNvPr id="10" name="Text 8"/>
          <p:cNvSpPr txBox="1"/>
          <p:nvPr/>
        </p:nvSpPr>
        <p:spPr>
          <a:xfrm>
            <a:off x="914400" y="2432304"/>
            <a:ext cx="2514600" cy="566928"/>
          </a:xfrm>
          <a:prstGeom prst="rect">
            <a:avLst/>
          </a:prstGeom>
          <a:noFill/>
          <a:ln/>
        </p:spPr>
        <p:txBody>
          <a:bodyPr wrap="square" lIns="0" tIns="0" rIns="0" bIns="0" rtlCol="0" anchor="ctr"/>
          <a:lstStyle/>
          <a:p>
            <a:pPr indent="0" marL="0">
              <a:buNone/>
            </a:pPr>
            <a:r>
              <a:rPr lang="en-US" sz="1050" dirty="0">
                <a:solidFill>
                  <a:srgbClr val="0B1B3A"/>
                </a:solidFill>
                <a:latin typeface="Calibri" pitchFamily="34" charset="0"/>
                <a:ea typeface="Calibri" pitchFamily="34" charset="-122"/>
                <a:cs typeface="Calibri" pitchFamily="34" charset="-120"/>
              </a:rPr>
              <a:t>Social advertising (Meta, LinkedIn)</a:t>
            </a:r>
            <a:endParaRPr lang="en-US" sz="1050" dirty="0"/>
          </a:p>
        </p:txBody>
      </p:sp>
      <p:sp>
        <p:nvSpPr>
          <p:cNvPr id="11" name="Shape 9"/>
          <p:cNvSpPr/>
          <p:nvPr/>
        </p:nvSpPr>
        <p:spPr>
          <a:xfrm>
            <a:off x="3822192" y="2715768"/>
            <a:ext cx="201168" cy="0"/>
          </a:xfrm>
          <a:prstGeom prst="line">
            <a:avLst/>
          </a:prstGeom>
          <a:noFill/>
          <a:ln w="19050">
            <a:solidFill>
              <a:srgbClr val="D6DDEA"/>
            </a:solidFill>
            <a:prstDash val="solid"/>
            <a:tailEnd type="triangle"/>
          </a:ln>
        </p:spPr>
      </p:sp>
      <p:sp>
        <p:nvSpPr>
          <p:cNvPr id="12" name="Shape 10"/>
          <p:cNvSpPr/>
          <p:nvPr/>
        </p:nvSpPr>
        <p:spPr>
          <a:xfrm>
            <a:off x="777240" y="3145536"/>
            <a:ext cx="2743200" cy="566928"/>
          </a:xfrm>
          <a:prstGeom prst="roundRect">
            <a:avLst>
              <a:gd name="adj" fmla="val 9677"/>
            </a:avLst>
          </a:prstGeom>
          <a:solidFill>
            <a:srgbClr val="F4F7FB"/>
          </a:solidFill>
          <a:ln w="12700">
            <a:solidFill>
              <a:srgbClr val="D6DDEA"/>
            </a:solidFill>
            <a:prstDash val="solid"/>
          </a:ln>
        </p:spPr>
      </p:sp>
      <p:sp>
        <p:nvSpPr>
          <p:cNvPr id="13" name="Text 11"/>
          <p:cNvSpPr txBox="1"/>
          <p:nvPr/>
        </p:nvSpPr>
        <p:spPr>
          <a:xfrm>
            <a:off x="914400" y="3145536"/>
            <a:ext cx="2514600" cy="566928"/>
          </a:xfrm>
          <a:prstGeom prst="rect">
            <a:avLst/>
          </a:prstGeom>
          <a:noFill/>
          <a:ln/>
        </p:spPr>
        <p:txBody>
          <a:bodyPr wrap="square" lIns="0" tIns="0" rIns="0" bIns="0" rtlCol="0" anchor="ctr"/>
          <a:lstStyle/>
          <a:p>
            <a:pPr indent="0" marL="0">
              <a:buNone/>
            </a:pPr>
            <a:r>
              <a:rPr lang="en-US" sz="1050" dirty="0">
                <a:solidFill>
                  <a:srgbClr val="0B1B3A"/>
                </a:solidFill>
                <a:latin typeface="Calibri" pitchFamily="34" charset="0"/>
                <a:ea typeface="Calibri" pitchFamily="34" charset="-122"/>
                <a:cs typeface="Calibri" pitchFamily="34" charset="-120"/>
              </a:rPr>
              <a:t>Email campaign platform</a:t>
            </a:r>
            <a:endParaRPr lang="en-US" sz="1050" dirty="0"/>
          </a:p>
        </p:txBody>
      </p:sp>
      <p:sp>
        <p:nvSpPr>
          <p:cNvPr id="14" name="Shape 12"/>
          <p:cNvSpPr/>
          <p:nvPr/>
        </p:nvSpPr>
        <p:spPr>
          <a:xfrm>
            <a:off x="3822192" y="3429000"/>
            <a:ext cx="201168" cy="0"/>
          </a:xfrm>
          <a:prstGeom prst="line">
            <a:avLst/>
          </a:prstGeom>
          <a:noFill/>
          <a:ln w="19050">
            <a:solidFill>
              <a:srgbClr val="D6DDEA"/>
            </a:solidFill>
            <a:prstDash val="solid"/>
            <a:tailEnd type="triangle"/>
          </a:ln>
        </p:spPr>
      </p:sp>
      <p:sp>
        <p:nvSpPr>
          <p:cNvPr id="15" name="Shape 13"/>
          <p:cNvSpPr/>
          <p:nvPr/>
        </p:nvSpPr>
        <p:spPr>
          <a:xfrm>
            <a:off x="777240" y="3858768"/>
            <a:ext cx="2743200" cy="566928"/>
          </a:xfrm>
          <a:prstGeom prst="roundRect">
            <a:avLst>
              <a:gd name="adj" fmla="val 9677"/>
            </a:avLst>
          </a:prstGeom>
          <a:solidFill>
            <a:srgbClr val="F4F7FB"/>
          </a:solidFill>
          <a:ln w="12700">
            <a:solidFill>
              <a:srgbClr val="D6DDEA"/>
            </a:solidFill>
            <a:prstDash val="solid"/>
          </a:ln>
        </p:spPr>
      </p:sp>
      <p:sp>
        <p:nvSpPr>
          <p:cNvPr id="16" name="Text 14"/>
          <p:cNvSpPr txBox="1"/>
          <p:nvPr/>
        </p:nvSpPr>
        <p:spPr>
          <a:xfrm>
            <a:off x="914400" y="3858768"/>
            <a:ext cx="2514600" cy="566928"/>
          </a:xfrm>
          <a:prstGeom prst="rect">
            <a:avLst/>
          </a:prstGeom>
          <a:noFill/>
          <a:ln/>
        </p:spPr>
        <p:txBody>
          <a:bodyPr wrap="square" lIns="0" tIns="0" rIns="0" bIns="0" rtlCol="0" anchor="ctr"/>
          <a:lstStyle/>
          <a:p>
            <a:pPr indent="0" marL="0">
              <a:buNone/>
            </a:pPr>
            <a:r>
              <a:rPr lang="en-US" sz="1050" dirty="0">
                <a:solidFill>
                  <a:srgbClr val="0B1B3A"/>
                </a:solidFill>
                <a:latin typeface="Calibri" pitchFamily="34" charset="0"/>
                <a:ea typeface="Calibri" pitchFamily="34" charset="-122"/>
                <a:cs typeface="Calibri" pitchFamily="34" charset="-120"/>
              </a:rPr>
              <a:t>Website and product analytics</a:t>
            </a:r>
            <a:endParaRPr lang="en-US" sz="1050" dirty="0"/>
          </a:p>
        </p:txBody>
      </p:sp>
      <p:sp>
        <p:nvSpPr>
          <p:cNvPr id="17" name="Shape 15"/>
          <p:cNvSpPr/>
          <p:nvPr/>
        </p:nvSpPr>
        <p:spPr>
          <a:xfrm>
            <a:off x="3822192" y="4142232"/>
            <a:ext cx="201168" cy="0"/>
          </a:xfrm>
          <a:prstGeom prst="line">
            <a:avLst/>
          </a:prstGeom>
          <a:noFill/>
          <a:ln w="19050">
            <a:solidFill>
              <a:srgbClr val="D6DDEA"/>
            </a:solidFill>
            <a:prstDash val="solid"/>
            <a:tailEnd type="triangle"/>
          </a:ln>
        </p:spPr>
      </p:sp>
      <p:sp>
        <p:nvSpPr>
          <p:cNvPr id="18" name="Shape 16"/>
          <p:cNvSpPr/>
          <p:nvPr/>
        </p:nvSpPr>
        <p:spPr>
          <a:xfrm>
            <a:off x="777240" y="4572000"/>
            <a:ext cx="2743200" cy="566928"/>
          </a:xfrm>
          <a:prstGeom prst="roundRect">
            <a:avLst>
              <a:gd name="adj" fmla="val 9677"/>
            </a:avLst>
          </a:prstGeom>
          <a:solidFill>
            <a:srgbClr val="F4F7FB"/>
          </a:solidFill>
          <a:ln w="12700">
            <a:solidFill>
              <a:srgbClr val="D6DDEA"/>
            </a:solidFill>
            <a:prstDash val="solid"/>
          </a:ln>
        </p:spPr>
      </p:sp>
      <p:sp>
        <p:nvSpPr>
          <p:cNvPr id="19" name="Text 17"/>
          <p:cNvSpPr txBox="1"/>
          <p:nvPr/>
        </p:nvSpPr>
        <p:spPr>
          <a:xfrm>
            <a:off x="914400" y="4572000"/>
            <a:ext cx="2514600" cy="566928"/>
          </a:xfrm>
          <a:prstGeom prst="rect">
            <a:avLst/>
          </a:prstGeom>
          <a:noFill/>
          <a:ln/>
        </p:spPr>
        <p:txBody>
          <a:bodyPr wrap="square" lIns="0" tIns="0" rIns="0" bIns="0" rtlCol="0" anchor="ctr"/>
          <a:lstStyle/>
          <a:p>
            <a:pPr indent="0" marL="0">
              <a:buNone/>
            </a:pPr>
            <a:r>
              <a:rPr lang="en-US" sz="1050" dirty="0">
                <a:solidFill>
                  <a:srgbClr val="0B1B3A"/>
                </a:solidFill>
                <a:latin typeface="Calibri" pitchFamily="34" charset="0"/>
                <a:ea typeface="Calibri" pitchFamily="34" charset="-122"/>
                <a:cs typeface="Calibri" pitchFamily="34" charset="-120"/>
              </a:rPr>
              <a:t>CRM leads and customer records</a:t>
            </a:r>
            <a:endParaRPr lang="en-US" sz="1050" dirty="0"/>
          </a:p>
        </p:txBody>
      </p:sp>
      <p:sp>
        <p:nvSpPr>
          <p:cNvPr id="20" name="Shape 18"/>
          <p:cNvSpPr/>
          <p:nvPr/>
        </p:nvSpPr>
        <p:spPr>
          <a:xfrm>
            <a:off x="3822192" y="4855464"/>
            <a:ext cx="201168" cy="0"/>
          </a:xfrm>
          <a:prstGeom prst="line">
            <a:avLst/>
          </a:prstGeom>
          <a:noFill/>
          <a:ln w="19050">
            <a:solidFill>
              <a:srgbClr val="D6DDEA"/>
            </a:solidFill>
            <a:prstDash val="solid"/>
            <a:tailEnd type="triangle"/>
          </a:ln>
        </p:spPr>
      </p:sp>
      <p:sp>
        <p:nvSpPr>
          <p:cNvPr id="21" name="Shape 19"/>
          <p:cNvSpPr/>
          <p:nvPr/>
        </p:nvSpPr>
        <p:spPr>
          <a:xfrm>
            <a:off x="777240" y="5285232"/>
            <a:ext cx="2743200" cy="566928"/>
          </a:xfrm>
          <a:prstGeom prst="roundRect">
            <a:avLst>
              <a:gd name="adj" fmla="val 9677"/>
            </a:avLst>
          </a:prstGeom>
          <a:solidFill>
            <a:srgbClr val="F4F7FB"/>
          </a:solidFill>
          <a:ln w="12700">
            <a:solidFill>
              <a:srgbClr val="D6DDEA"/>
            </a:solidFill>
            <a:prstDash val="solid"/>
          </a:ln>
        </p:spPr>
      </p:sp>
      <p:sp>
        <p:nvSpPr>
          <p:cNvPr id="22" name="Text 20"/>
          <p:cNvSpPr txBox="1"/>
          <p:nvPr/>
        </p:nvSpPr>
        <p:spPr>
          <a:xfrm>
            <a:off x="914400" y="5285232"/>
            <a:ext cx="2514600" cy="566928"/>
          </a:xfrm>
          <a:prstGeom prst="rect">
            <a:avLst/>
          </a:prstGeom>
          <a:noFill/>
          <a:ln/>
        </p:spPr>
        <p:txBody>
          <a:bodyPr wrap="square" lIns="0" tIns="0" rIns="0" bIns="0" rtlCol="0" anchor="ctr"/>
          <a:lstStyle/>
          <a:p>
            <a:pPr indent="0" marL="0">
              <a:buNone/>
            </a:pPr>
            <a:r>
              <a:rPr lang="en-US" sz="1050" dirty="0">
                <a:solidFill>
                  <a:srgbClr val="0B1B3A"/>
                </a:solidFill>
                <a:latin typeface="Calibri" pitchFamily="34" charset="0"/>
                <a:ea typeface="Calibri" pitchFamily="34" charset="-122"/>
                <a:cs typeface="Calibri" pitchFamily="34" charset="-120"/>
              </a:rPr>
              <a:t>Sales and transaction database</a:t>
            </a:r>
            <a:endParaRPr lang="en-US" sz="1050" dirty="0"/>
          </a:p>
        </p:txBody>
      </p:sp>
      <p:sp>
        <p:nvSpPr>
          <p:cNvPr id="23" name="Shape 21"/>
          <p:cNvSpPr/>
          <p:nvPr/>
        </p:nvSpPr>
        <p:spPr>
          <a:xfrm>
            <a:off x="3822192" y="5568696"/>
            <a:ext cx="201168" cy="0"/>
          </a:xfrm>
          <a:prstGeom prst="line">
            <a:avLst/>
          </a:prstGeom>
          <a:noFill/>
          <a:ln w="19050">
            <a:solidFill>
              <a:srgbClr val="D6DDEA"/>
            </a:solidFill>
            <a:prstDash val="solid"/>
            <a:tailEnd type="triangle"/>
          </a:ln>
        </p:spPr>
      </p:sp>
      <p:sp>
        <p:nvSpPr>
          <p:cNvPr id="24" name="Shape 22"/>
          <p:cNvSpPr/>
          <p:nvPr/>
        </p:nvSpPr>
        <p:spPr>
          <a:xfrm>
            <a:off x="4069080" y="1234440"/>
            <a:ext cx="3017520" cy="822960"/>
          </a:xfrm>
          <a:prstGeom prst="roundRect">
            <a:avLst>
              <a:gd name="adj" fmla="val 6667"/>
            </a:avLst>
          </a:prstGeom>
          <a:solidFill>
            <a:srgbClr val="FFFFFF"/>
          </a:solidFill>
          <a:ln w="15875">
            <a:solidFill>
              <a:srgbClr val="0FB5A6"/>
            </a:solidFill>
            <a:prstDash val="solid"/>
          </a:ln>
        </p:spPr>
      </p:sp>
      <p:sp>
        <p:nvSpPr>
          <p:cNvPr id="25" name="Text 23"/>
          <p:cNvSpPr txBox="1"/>
          <p:nvPr/>
        </p:nvSpPr>
        <p:spPr>
          <a:xfrm>
            <a:off x="4206240" y="1234440"/>
            <a:ext cx="2743200" cy="822960"/>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Data ingestion layer</a:t>
            </a:r>
            <a:endParaRPr lang="en-US" sz="1250" dirty="0"/>
          </a:p>
        </p:txBody>
      </p:sp>
      <p:sp>
        <p:nvSpPr>
          <p:cNvPr id="26" name="Text 24"/>
          <p:cNvSpPr txBox="1"/>
          <p:nvPr/>
        </p:nvSpPr>
        <p:spPr>
          <a:xfrm>
            <a:off x="7315200" y="1289304"/>
            <a:ext cx="4297680" cy="713232"/>
          </a:xfrm>
          <a:prstGeom prst="rect">
            <a:avLst/>
          </a:prstGeom>
          <a:noFill/>
          <a:ln/>
        </p:spPr>
        <p:txBody>
          <a:bodyPr wrap="square" lIns="0" tIns="0" rIns="0" bIns="0" rtlCol="0" anchor="ctr"/>
          <a:lstStyle/>
          <a:p>
            <a:pPr indent="0" marL="0">
              <a:buNone/>
            </a:pPr>
            <a:r>
              <a:rPr lang="en-US" sz="1050" dirty="0">
                <a:solidFill>
                  <a:srgbClr val="5D6B85"/>
                </a:solidFill>
                <a:latin typeface="Calibri" pitchFamily="34" charset="0"/>
                <a:ea typeface="Calibri" pitchFamily="34" charset="-122"/>
                <a:cs typeface="Calibri" pitchFamily="34" charset="-120"/>
              </a:rPr>
              <a:t>Scheduled API pulls, CSV uploads and ETL jobs bring raw campaign, web and sales data into one place.</a:t>
            </a:r>
            <a:endParaRPr lang="en-US" sz="1050" dirty="0"/>
          </a:p>
        </p:txBody>
      </p:sp>
      <p:sp>
        <p:nvSpPr>
          <p:cNvPr id="27" name="Shape 25"/>
          <p:cNvSpPr/>
          <p:nvPr/>
        </p:nvSpPr>
        <p:spPr>
          <a:xfrm>
            <a:off x="5577840" y="2075688"/>
            <a:ext cx="0" cy="137160"/>
          </a:xfrm>
          <a:prstGeom prst="line">
            <a:avLst/>
          </a:prstGeom>
          <a:noFill/>
          <a:ln w="19050">
            <a:solidFill>
              <a:srgbClr val="0FB5A6"/>
            </a:solidFill>
            <a:prstDash val="solid"/>
            <a:tailEnd type="triangle"/>
          </a:ln>
        </p:spPr>
      </p:sp>
      <p:sp>
        <p:nvSpPr>
          <p:cNvPr id="28" name="Shape 26"/>
          <p:cNvSpPr/>
          <p:nvPr/>
        </p:nvSpPr>
        <p:spPr>
          <a:xfrm>
            <a:off x="4069080" y="2231136"/>
            <a:ext cx="3017520" cy="822960"/>
          </a:xfrm>
          <a:prstGeom prst="roundRect">
            <a:avLst>
              <a:gd name="adj" fmla="val 6667"/>
            </a:avLst>
          </a:prstGeom>
          <a:solidFill>
            <a:srgbClr val="FFFFFF"/>
          </a:solidFill>
          <a:ln w="15875">
            <a:solidFill>
              <a:srgbClr val="0FB5A6"/>
            </a:solidFill>
            <a:prstDash val="solid"/>
          </a:ln>
        </p:spPr>
      </p:sp>
      <p:sp>
        <p:nvSpPr>
          <p:cNvPr id="29" name="Text 27"/>
          <p:cNvSpPr txBox="1"/>
          <p:nvPr/>
        </p:nvSpPr>
        <p:spPr>
          <a:xfrm>
            <a:off x="4206240" y="2231136"/>
            <a:ext cx="2743200" cy="822960"/>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Clean data layer</a:t>
            </a:r>
            <a:endParaRPr lang="en-US" sz="1250" dirty="0"/>
          </a:p>
        </p:txBody>
      </p:sp>
      <p:sp>
        <p:nvSpPr>
          <p:cNvPr id="30" name="Text 28"/>
          <p:cNvSpPr txBox="1"/>
          <p:nvPr/>
        </p:nvSpPr>
        <p:spPr>
          <a:xfrm>
            <a:off x="7315200" y="2286000"/>
            <a:ext cx="4297680" cy="713232"/>
          </a:xfrm>
          <a:prstGeom prst="rect">
            <a:avLst/>
          </a:prstGeom>
          <a:noFill/>
          <a:ln/>
        </p:spPr>
        <p:txBody>
          <a:bodyPr wrap="square" lIns="0" tIns="0" rIns="0" bIns="0" rtlCol="0" anchor="ctr"/>
          <a:lstStyle/>
          <a:p>
            <a:pPr indent="0" marL="0">
              <a:buNone/>
            </a:pPr>
            <a:r>
              <a:rPr lang="en-US" sz="1050" dirty="0">
                <a:solidFill>
                  <a:srgbClr val="5D6B85"/>
                </a:solidFill>
                <a:latin typeface="Calibri" pitchFamily="34" charset="0"/>
                <a:ea typeface="Calibri" pitchFamily="34" charset="-122"/>
                <a:cs typeface="Calibri" pitchFamily="34" charset="-120"/>
              </a:rPr>
              <a:t>PostgreSQL / BigQuery. Campaign names, channels, dates, user IDs and revenue are standardised and de-duplicated.</a:t>
            </a:r>
            <a:endParaRPr lang="en-US" sz="1050" dirty="0"/>
          </a:p>
        </p:txBody>
      </p:sp>
      <p:sp>
        <p:nvSpPr>
          <p:cNvPr id="31" name="Shape 29"/>
          <p:cNvSpPr/>
          <p:nvPr/>
        </p:nvSpPr>
        <p:spPr>
          <a:xfrm>
            <a:off x="5577840" y="3072384"/>
            <a:ext cx="0" cy="137160"/>
          </a:xfrm>
          <a:prstGeom prst="line">
            <a:avLst/>
          </a:prstGeom>
          <a:noFill/>
          <a:ln w="19050">
            <a:solidFill>
              <a:srgbClr val="0FB5A6"/>
            </a:solidFill>
            <a:prstDash val="solid"/>
            <a:tailEnd type="triangle"/>
          </a:ln>
        </p:spPr>
      </p:sp>
      <p:sp>
        <p:nvSpPr>
          <p:cNvPr id="32" name="Shape 30"/>
          <p:cNvSpPr/>
          <p:nvPr/>
        </p:nvSpPr>
        <p:spPr>
          <a:xfrm>
            <a:off x="4069080" y="3227832"/>
            <a:ext cx="3017520" cy="822960"/>
          </a:xfrm>
          <a:prstGeom prst="roundRect">
            <a:avLst>
              <a:gd name="adj" fmla="val 6667"/>
            </a:avLst>
          </a:prstGeom>
          <a:solidFill>
            <a:srgbClr val="0B1B3A"/>
          </a:solidFill>
          <a:ln w="15875">
            <a:solidFill>
              <a:srgbClr val="0B1B3A"/>
            </a:solidFill>
            <a:prstDash val="solid"/>
          </a:ln>
        </p:spPr>
      </p:sp>
      <p:sp>
        <p:nvSpPr>
          <p:cNvPr id="33" name="Text 31"/>
          <p:cNvSpPr txBox="1"/>
          <p:nvPr/>
        </p:nvSpPr>
        <p:spPr>
          <a:xfrm>
            <a:off x="4206240" y="3227832"/>
            <a:ext cx="2743200" cy="8229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Analytics and AI layer</a:t>
            </a:r>
            <a:endParaRPr lang="en-US" sz="1250" dirty="0"/>
          </a:p>
        </p:txBody>
      </p:sp>
      <p:sp>
        <p:nvSpPr>
          <p:cNvPr id="34" name="Text 32"/>
          <p:cNvSpPr txBox="1"/>
          <p:nvPr/>
        </p:nvSpPr>
        <p:spPr>
          <a:xfrm>
            <a:off x="7315200" y="3282696"/>
            <a:ext cx="4297680" cy="713232"/>
          </a:xfrm>
          <a:prstGeom prst="rect">
            <a:avLst/>
          </a:prstGeom>
          <a:noFill/>
          <a:ln/>
        </p:spPr>
        <p:txBody>
          <a:bodyPr wrap="square" lIns="0" tIns="0" rIns="0" bIns="0" rtlCol="0" anchor="ctr"/>
          <a:lstStyle/>
          <a:p>
            <a:pPr indent="0" marL="0">
              <a:buNone/>
            </a:pPr>
            <a:r>
              <a:rPr lang="en-US" sz="1050" dirty="0">
                <a:solidFill>
                  <a:srgbClr val="5D6B85"/>
                </a:solidFill>
                <a:latin typeface="Calibri" pitchFamily="34" charset="0"/>
                <a:ea typeface="Calibri" pitchFamily="34" charset="-122"/>
                <a:cs typeface="Calibri" pitchFamily="34" charset="-120"/>
              </a:rPr>
              <a:t>KPI computation, attribution models, funnel analysis, cohort analysis, prediction and budget optimisation.</a:t>
            </a:r>
            <a:endParaRPr lang="en-US" sz="1050" dirty="0"/>
          </a:p>
        </p:txBody>
      </p:sp>
      <p:sp>
        <p:nvSpPr>
          <p:cNvPr id="35" name="Shape 33"/>
          <p:cNvSpPr/>
          <p:nvPr/>
        </p:nvSpPr>
        <p:spPr>
          <a:xfrm>
            <a:off x="5577840" y="4069080"/>
            <a:ext cx="0" cy="137160"/>
          </a:xfrm>
          <a:prstGeom prst="line">
            <a:avLst/>
          </a:prstGeom>
          <a:noFill/>
          <a:ln w="19050">
            <a:solidFill>
              <a:srgbClr val="0FB5A6"/>
            </a:solidFill>
            <a:prstDash val="solid"/>
            <a:tailEnd type="triangle"/>
          </a:ln>
        </p:spPr>
      </p:sp>
      <p:sp>
        <p:nvSpPr>
          <p:cNvPr id="36" name="Shape 34"/>
          <p:cNvSpPr/>
          <p:nvPr/>
        </p:nvSpPr>
        <p:spPr>
          <a:xfrm>
            <a:off x="4069080" y="4224528"/>
            <a:ext cx="3017520" cy="822960"/>
          </a:xfrm>
          <a:prstGeom prst="roundRect">
            <a:avLst>
              <a:gd name="adj" fmla="val 6667"/>
            </a:avLst>
          </a:prstGeom>
          <a:solidFill>
            <a:srgbClr val="FFFFFF"/>
          </a:solidFill>
          <a:ln w="15875">
            <a:solidFill>
              <a:srgbClr val="0FB5A6"/>
            </a:solidFill>
            <a:prstDash val="solid"/>
          </a:ln>
        </p:spPr>
      </p:sp>
      <p:sp>
        <p:nvSpPr>
          <p:cNvPr id="37" name="Text 35"/>
          <p:cNvSpPr txBox="1"/>
          <p:nvPr/>
        </p:nvSpPr>
        <p:spPr>
          <a:xfrm>
            <a:off x="4206240" y="4224528"/>
            <a:ext cx="2743200" cy="822960"/>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Interactive dashboard</a:t>
            </a:r>
            <a:endParaRPr lang="en-US" sz="1250" dirty="0"/>
          </a:p>
        </p:txBody>
      </p:sp>
      <p:sp>
        <p:nvSpPr>
          <p:cNvPr id="38" name="Text 36"/>
          <p:cNvSpPr txBox="1"/>
          <p:nvPr/>
        </p:nvSpPr>
        <p:spPr>
          <a:xfrm>
            <a:off x="7315200" y="4279392"/>
            <a:ext cx="4297680" cy="713232"/>
          </a:xfrm>
          <a:prstGeom prst="rect">
            <a:avLst/>
          </a:prstGeom>
          <a:noFill/>
          <a:ln/>
        </p:spPr>
        <p:txBody>
          <a:bodyPr wrap="square" lIns="0" tIns="0" rIns="0" bIns="0" rtlCol="0" anchor="ctr"/>
          <a:lstStyle/>
          <a:p>
            <a:pPr indent="0" marL="0">
              <a:buNone/>
            </a:pPr>
            <a:r>
              <a:rPr lang="en-US" sz="1050" dirty="0">
                <a:solidFill>
                  <a:srgbClr val="5D6B85"/>
                </a:solidFill>
                <a:latin typeface="Calibri" pitchFamily="34" charset="0"/>
                <a:ea typeface="Calibri" pitchFamily="34" charset="-122"/>
                <a:cs typeface="Calibri" pitchFamily="34" charset="-120"/>
              </a:rPr>
              <a:t>Filters, drill-through, model comparison and what-if budget scenarios for the end user.</a:t>
            </a:r>
            <a:endParaRPr lang="en-US" sz="1050" dirty="0"/>
          </a:p>
        </p:txBody>
      </p:sp>
      <p:sp>
        <p:nvSpPr>
          <p:cNvPr id="39" name="Shape 37"/>
          <p:cNvSpPr/>
          <p:nvPr/>
        </p:nvSpPr>
        <p:spPr>
          <a:xfrm>
            <a:off x="5577840" y="5065776"/>
            <a:ext cx="0" cy="137160"/>
          </a:xfrm>
          <a:prstGeom prst="line">
            <a:avLst/>
          </a:prstGeom>
          <a:noFill/>
          <a:ln w="19050">
            <a:solidFill>
              <a:srgbClr val="0FB5A6"/>
            </a:solidFill>
            <a:prstDash val="solid"/>
            <a:tailEnd type="triangle"/>
          </a:ln>
        </p:spPr>
      </p:sp>
      <p:sp>
        <p:nvSpPr>
          <p:cNvPr id="40" name="Shape 38"/>
          <p:cNvSpPr/>
          <p:nvPr/>
        </p:nvSpPr>
        <p:spPr>
          <a:xfrm>
            <a:off x="4069080" y="5221224"/>
            <a:ext cx="3017520" cy="822960"/>
          </a:xfrm>
          <a:prstGeom prst="roundRect">
            <a:avLst>
              <a:gd name="adj" fmla="val 6667"/>
            </a:avLst>
          </a:prstGeom>
          <a:solidFill>
            <a:srgbClr val="F2762E"/>
          </a:solidFill>
          <a:ln w="15875">
            <a:solidFill>
              <a:srgbClr val="F2762E"/>
            </a:solidFill>
            <a:prstDash val="solid"/>
          </a:ln>
        </p:spPr>
      </p:sp>
      <p:sp>
        <p:nvSpPr>
          <p:cNvPr id="41" name="Text 39"/>
          <p:cNvSpPr txBox="1"/>
          <p:nvPr/>
        </p:nvSpPr>
        <p:spPr>
          <a:xfrm>
            <a:off x="4206240" y="5221224"/>
            <a:ext cx="2743200" cy="8229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Marketing decision</a:t>
            </a:r>
            <a:endParaRPr lang="en-US" sz="1250" dirty="0"/>
          </a:p>
        </p:txBody>
      </p:sp>
      <p:sp>
        <p:nvSpPr>
          <p:cNvPr id="42" name="Text 40"/>
          <p:cNvSpPr txBox="1"/>
          <p:nvPr/>
        </p:nvSpPr>
        <p:spPr>
          <a:xfrm>
            <a:off x="7315200" y="5276088"/>
            <a:ext cx="4297680" cy="713232"/>
          </a:xfrm>
          <a:prstGeom prst="rect">
            <a:avLst/>
          </a:prstGeom>
          <a:noFill/>
          <a:ln/>
        </p:spPr>
        <p:txBody>
          <a:bodyPr wrap="square" lIns="0" tIns="0" rIns="0" bIns="0" rtlCol="0" anchor="ctr"/>
          <a:lstStyle/>
          <a:p>
            <a:pPr indent="0" marL="0">
              <a:buNone/>
            </a:pPr>
            <a:r>
              <a:rPr lang="en-US" sz="1050" dirty="0">
                <a:solidFill>
                  <a:srgbClr val="5D6B85"/>
                </a:solidFill>
                <a:latin typeface="Calibri" pitchFamily="34" charset="0"/>
                <a:ea typeface="Calibri" pitchFamily="34" charset="-122"/>
                <a:cs typeface="Calibri" pitchFamily="34" charset="-120"/>
              </a:rPr>
              <a:t>Approved budget action, exported report and a recorded justification for the decision.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A8377"/>
                </a:solidFill>
                <a:latin typeface="Calibri" pitchFamily="34" charset="0"/>
                <a:ea typeface="Calibri" pitchFamily="34" charset="-122"/>
                <a:cs typeface="Calibri" pitchFamily="34" charset="-120"/>
              </a:rPr>
              <a:t>DATA MODEL</a:t>
            </a:r>
            <a:endParaRPr lang="en-US" sz="1050" dirty="0"/>
          </a:p>
        </p:txBody>
      </p:sp>
      <p:sp>
        <p:nvSpPr>
          <p:cNvPr id="3" name="Text 1"/>
          <p:cNvSpPr txBox="1"/>
          <p:nvPr/>
        </p:nvSpPr>
        <p:spPr>
          <a:xfrm>
            <a:off x="548640" y="566928"/>
            <a:ext cx="11064240" cy="548640"/>
          </a:xfrm>
          <a:prstGeom prst="rect">
            <a:avLst/>
          </a:prstGeom>
          <a:noFill/>
          <a:ln/>
        </p:spPr>
        <p:txBody>
          <a:bodyPr wrap="square" lIns="0" tIns="0" rIns="0" bIns="0" rtlCol="0" anchor="ctr"/>
          <a:lstStyle/>
          <a:p>
            <a:pPr indent="0" marL="0">
              <a:buNone/>
            </a:pPr>
            <a:r>
              <a:rPr lang="en-US" sz="3000" b="1" dirty="0">
                <a:solidFill>
                  <a:srgbClr val="0B1B3A"/>
                </a:solidFill>
                <a:latin typeface="Cambria" pitchFamily="34" charset="0"/>
                <a:ea typeface="Cambria" pitchFamily="34" charset="-122"/>
                <a:cs typeface="Cambria" pitchFamily="34" charset="-120"/>
              </a:rPr>
              <a:t>Data Model for Campaign Analysis</a:t>
            </a:r>
            <a:endParaRPr lang="en-US" sz="3000" dirty="0"/>
          </a:p>
        </p:txBody>
      </p:sp>
      <p:sp>
        <p:nvSpPr>
          <p:cNvPr id="4" name="Shape 2"/>
          <p:cNvSpPr/>
          <p:nvPr/>
        </p:nvSpPr>
        <p:spPr>
          <a:xfrm>
            <a:off x="822960" y="1243584"/>
            <a:ext cx="2468880" cy="1261872"/>
          </a:xfrm>
          <a:prstGeom prst="roundRect">
            <a:avLst>
              <a:gd name="adj" fmla="val 4348"/>
            </a:avLst>
          </a:prstGeom>
          <a:solidFill>
            <a:srgbClr val="FFFFFF"/>
          </a:solidFill>
          <a:ln w="12700">
            <a:solidFill>
              <a:srgbClr val="D6DDEA"/>
            </a:solidFill>
            <a:prstDash val="solid"/>
          </a:ln>
          <a:effectLst>
            <a:outerShdw sx="100000" sy="100000" kx="0" ky="0" algn="bl" rotWithShape="0" blurRad="88900" dist="12700" dir="5400000">
              <a:srgbClr val="AFBACD">
                <a:alpha val="30000"/>
              </a:srgbClr>
            </a:outerShdw>
          </a:effectLst>
        </p:spPr>
      </p:sp>
      <p:sp>
        <p:nvSpPr>
          <p:cNvPr id="5" name="Shape 3"/>
          <p:cNvSpPr/>
          <p:nvPr/>
        </p:nvSpPr>
        <p:spPr>
          <a:xfrm>
            <a:off x="832104" y="1252728"/>
            <a:ext cx="2450592" cy="329184"/>
          </a:xfrm>
          <a:prstGeom prst="rect">
            <a:avLst/>
          </a:prstGeom>
          <a:solidFill>
            <a:srgbClr val="0B1B3A"/>
          </a:solidFill>
          <a:ln w="12700">
            <a:solidFill>
              <a:srgbClr val="0B1B3A"/>
            </a:solidFill>
            <a:prstDash val="solid"/>
          </a:ln>
        </p:spPr>
      </p:sp>
      <p:sp>
        <p:nvSpPr>
          <p:cNvPr id="6" name="Text 4"/>
          <p:cNvSpPr txBox="1"/>
          <p:nvPr/>
        </p:nvSpPr>
        <p:spPr>
          <a:xfrm>
            <a:off x="950976" y="1252728"/>
            <a:ext cx="2212848"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Campaign</a:t>
            </a:r>
            <a:endParaRPr lang="en-US" sz="1150" dirty="0"/>
          </a:p>
        </p:txBody>
      </p:sp>
      <p:sp>
        <p:nvSpPr>
          <p:cNvPr id="7" name="Text 5"/>
          <p:cNvSpPr txBox="1"/>
          <p:nvPr/>
        </p:nvSpPr>
        <p:spPr>
          <a:xfrm>
            <a:off x="950976" y="1627632"/>
            <a:ext cx="2212848" cy="804672"/>
          </a:xfrm>
          <a:prstGeom prst="rect">
            <a:avLst/>
          </a:prstGeom>
          <a:noFill/>
          <a:ln/>
        </p:spPr>
        <p:txBody>
          <a:bodyPr wrap="square" lIns="0" tIns="0" rIns="0" bIns="0" rtlCol="0" anchor="ctr"/>
          <a:lstStyle/>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campaign_id  PK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channel</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budget</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start_date</a:t>
            </a:r>
            <a:endParaRPr lang="en-US" sz="950" dirty="0"/>
          </a:p>
        </p:txBody>
      </p:sp>
      <p:sp>
        <p:nvSpPr>
          <p:cNvPr id="8" name="Shape 6"/>
          <p:cNvSpPr/>
          <p:nvPr/>
        </p:nvSpPr>
        <p:spPr>
          <a:xfrm>
            <a:off x="822960" y="2770632"/>
            <a:ext cx="2468880" cy="1261872"/>
          </a:xfrm>
          <a:prstGeom prst="roundRect">
            <a:avLst>
              <a:gd name="adj" fmla="val 4348"/>
            </a:avLst>
          </a:prstGeom>
          <a:solidFill>
            <a:srgbClr val="FFFFFF"/>
          </a:solidFill>
          <a:ln w="12700">
            <a:solidFill>
              <a:srgbClr val="D6DDEA"/>
            </a:solidFill>
            <a:prstDash val="solid"/>
          </a:ln>
          <a:effectLst>
            <a:outerShdw sx="100000" sy="100000" kx="0" ky="0" algn="bl" rotWithShape="0" blurRad="88900" dist="12700" dir="5400000">
              <a:srgbClr val="AFBACD">
                <a:alpha val="30000"/>
              </a:srgbClr>
            </a:outerShdw>
          </a:effectLst>
        </p:spPr>
      </p:sp>
      <p:sp>
        <p:nvSpPr>
          <p:cNvPr id="9" name="Shape 7"/>
          <p:cNvSpPr/>
          <p:nvPr/>
        </p:nvSpPr>
        <p:spPr>
          <a:xfrm>
            <a:off x="832104" y="2779776"/>
            <a:ext cx="2450592" cy="329184"/>
          </a:xfrm>
          <a:prstGeom prst="rect">
            <a:avLst/>
          </a:prstGeom>
          <a:solidFill>
            <a:srgbClr val="0B1B3A"/>
          </a:solidFill>
          <a:ln w="12700">
            <a:solidFill>
              <a:srgbClr val="0B1B3A"/>
            </a:solidFill>
            <a:prstDash val="solid"/>
          </a:ln>
        </p:spPr>
      </p:sp>
      <p:sp>
        <p:nvSpPr>
          <p:cNvPr id="10" name="Text 8"/>
          <p:cNvSpPr txBox="1"/>
          <p:nvPr/>
        </p:nvSpPr>
        <p:spPr>
          <a:xfrm>
            <a:off x="950976" y="2779776"/>
            <a:ext cx="2212848"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Ad</a:t>
            </a:r>
            <a:endParaRPr lang="en-US" sz="1150" dirty="0"/>
          </a:p>
        </p:txBody>
      </p:sp>
      <p:sp>
        <p:nvSpPr>
          <p:cNvPr id="11" name="Text 9"/>
          <p:cNvSpPr txBox="1"/>
          <p:nvPr/>
        </p:nvSpPr>
        <p:spPr>
          <a:xfrm>
            <a:off x="950976" y="3154680"/>
            <a:ext cx="2212848" cy="804672"/>
          </a:xfrm>
          <a:prstGeom prst="rect">
            <a:avLst/>
          </a:prstGeom>
          <a:noFill/>
          <a:ln/>
        </p:spPr>
        <p:txBody>
          <a:bodyPr wrap="square" lIns="0" tIns="0" rIns="0" bIns="0" rtlCol="0" anchor="ctr"/>
          <a:lstStyle/>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ad_id  PK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campaign_id  FK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creative_type</a:t>
            </a:r>
            <a:endParaRPr lang="en-US" sz="950" dirty="0"/>
          </a:p>
        </p:txBody>
      </p:sp>
      <p:sp>
        <p:nvSpPr>
          <p:cNvPr id="12" name="Shape 10"/>
          <p:cNvSpPr/>
          <p:nvPr/>
        </p:nvSpPr>
        <p:spPr>
          <a:xfrm>
            <a:off x="822960" y="4297680"/>
            <a:ext cx="2468880" cy="1261872"/>
          </a:xfrm>
          <a:prstGeom prst="roundRect">
            <a:avLst>
              <a:gd name="adj" fmla="val 4348"/>
            </a:avLst>
          </a:prstGeom>
          <a:solidFill>
            <a:srgbClr val="FFFFFF"/>
          </a:solidFill>
          <a:ln w="12700">
            <a:solidFill>
              <a:srgbClr val="D6DDEA"/>
            </a:solidFill>
            <a:prstDash val="solid"/>
          </a:ln>
          <a:effectLst>
            <a:outerShdw sx="100000" sy="100000" kx="0" ky="0" algn="bl" rotWithShape="0" blurRad="88900" dist="12700" dir="5400000">
              <a:srgbClr val="AFBACD">
                <a:alpha val="30000"/>
              </a:srgbClr>
            </a:outerShdw>
          </a:effectLst>
        </p:spPr>
      </p:sp>
      <p:sp>
        <p:nvSpPr>
          <p:cNvPr id="13" name="Shape 11"/>
          <p:cNvSpPr/>
          <p:nvPr/>
        </p:nvSpPr>
        <p:spPr>
          <a:xfrm>
            <a:off x="832104" y="4306824"/>
            <a:ext cx="2450592" cy="329184"/>
          </a:xfrm>
          <a:prstGeom prst="rect">
            <a:avLst/>
          </a:prstGeom>
          <a:solidFill>
            <a:srgbClr val="0A8377"/>
          </a:solidFill>
          <a:ln w="12700">
            <a:solidFill>
              <a:srgbClr val="0A8377"/>
            </a:solidFill>
            <a:prstDash val="solid"/>
          </a:ln>
        </p:spPr>
      </p:sp>
      <p:sp>
        <p:nvSpPr>
          <p:cNvPr id="14" name="Text 12"/>
          <p:cNvSpPr txBox="1"/>
          <p:nvPr/>
        </p:nvSpPr>
        <p:spPr>
          <a:xfrm>
            <a:off x="950976" y="4306824"/>
            <a:ext cx="2212848"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Touchpoint</a:t>
            </a:r>
            <a:endParaRPr lang="en-US" sz="1150" dirty="0"/>
          </a:p>
        </p:txBody>
      </p:sp>
      <p:sp>
        <p:nvSpPr>
          <p:cNvPr id="15" name="Text 13"/>
          <p:cNvSpPr txBox="1"/>
          <p:nvPr/>
        </p:nvSpPr>
        <p:spPr>
          <a:xfrm>
            <a:off x="950976" y="4681728"/>
            <a:ext cx="2212848" cy="804672"/>
          </a:xfrm>
          <a:prstGeom prst="rect">
            <a:avLst/>
          </a:prstGeom>
          <a:noFill/>
          <a:ln/>
        </p:spPr>
        <p:txBody>
          <a:bodyPr wrap="square" lIns="0" tIns="0" rIns="0" bIns="0" rtlCol="0" anchor="ctr"/>
          <a:lstStyle/>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touchpoint_id  PK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ad_id  FK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channel / timestamp</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cost</a:t>
            </a:r>
            <a:endParaRPr lang="en-US" sz="950" dirty="0"/>
          </a:p>
        </p:txBody>
      </p:sp>
      <p:sp>
        <p:nvSpPr>
          <p:cNvPr id="16" name="Shape 14"/>
          <p:cNvSpPr/>
          <p:nvPr/>
        </p:nvSpPr>
        <p:spPr>
          <a:xfrm>
            <a:off x="4846320" y="2770632"/>
            <a:ext cx="2468880" cy="1261872"/>
          </a:xfrm>
          <a:prstGeom prst="roundRect">
            <a:avLst>
              <a:gd name="adj" fmla="val 4348"/>
            </a:avLst>
          </a:prstGeom>
          <a:solidFill>
            <a:srgbClr val="FFFFFF"/>
          </a:solidFill>
          <a:ln w="12700">
            <a:solidFill>
              <a:srgbClr val="D6DDEA"/>
            </a:solidFill>
            <a:prstDash val="solid"/>
          </a:ln>
          <a:effectLst>
            <a:outerShdw sx="100000" sy="100000" kx="0" ky="0" algn="bl" rotWithShape="0" blurRad="88900" dist="12700" dir="5400000">
              <a:srgbClr val="AFBACD">
                <a:alpha val="30000"/>
              </a:srgbClr>
            </a:outerShdw>
          </a:effectLst>
        </p:spPr>
      </p:sp>
      <p:sp>
        <p:nvSpPr>
          <p:cNvPr id="17" name="Shape 15"/>
          <p:cNvSpPr/>
          <p:nvPr/>
        </p:nvSpPr>
        <p:spPr>
          <a:xfrm>
            <a:off x="4855464" y="2779776"/>
            <a:ext cx="2450592" cy="329184"/>
          </a:xfrm>
          <a:prstGeom prst="rect">
            <a:avLst/>
          </a:prstGeom>
          <a:solidFill>
            <a:srgbClr val="0B1B3A"/>
          </a:solidFill>
          <a:ln w="12700">
            <a:solidFill>
              <a:srgbClr val="0B1B3A"/>
            </a:solidFill>
            <a:prstDash val="solid"/>
          </a:ln>
        </p:spPr>
      </p:sp>
      <p:sp>
        <p:nvSpPr>
          <p:cNvPr id="18" name="Text 16"/>
          <p:cNvSpPr txBox="1"/>
          <p:nvPr/>
        </p:nvSpPr>
        <p:spPr>
          <a:xfrm>
            <a:off x="4974336" y="2779776"/>
            <a:ext cx="2212848"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Conversion</a:t>
            </a:r>
            <a:endParaRPr lang="en-US" sz="1150" dirty="0"/>
          </a:p>
        </p:txBody>
      </p:sp>
      <p:sp>
        <p:nvSpPr>
          <p:cNvPr id="19" name="Text 17"/>
          <p:cNvSpPr txBox="1"/>
          <p:nvPr/>
        </p:nvSpPr>
        <p:spPr>
          <a:xfrm>
            <a:off x="4974336" y="3154680"/>
            <a:ext cx="2212848" cy="804672"/>
          </a:xfrm>
          <a:prstGeom prst="rect">
            <a:avLst/>
          </a:prstGeom>
          <a:noFill/>
          <a:ln/>
        </p:spPr>
        <p:txBody>
          <a:bodyPr wrap="square" lIns="0" tIns="0" rIns="0" bIns="0" rtlCol="0" anchor="ctr"/>
          <a:lstStyle/>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conversion_id  PK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customer_id  FK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revenue</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timestamp</a:t>
            </a:r>
            <a:endParaRPr lang="en-US" sz="950" dirty="0"/>
          </a:p>
        </p:txBody>
      </p:sp>
      <p:sp>
        <p:nvSpPr>
          <p:cNvPr id="20" name="Shape 18"/>
          <p:cNvSpPr/>
          <p:nvPr/>
        </p:nvSpPr>
        <p:spPr>
          <a:xfrm>
            <a:off x="4846320" y="4297680"/>
            <a:ext cx="2468880" cy="1261872"/>
          </a:xfrm>
          <a:prstGeom prst="roundRect">
            <a:avLst>
              <a:gd name="adj" fmla="val 4348"/>
            </a:avLst>
          </a:prstGeom>
          <a:solidFill>
            <a:srgbClr val="FFFFFF"/>
          </a:solidFill>
          <a:ln w="12700">
            <a:solidFill>
              <a:srgbClr val="D6DDEA"/>
            </a:solidFill>
            <a:prstDash val="solid"/>
          </a:ln>
          <a:effectLst>
            <a:outerShdw sx="100000" sy="100000" kx="0" ky="0" algn="bl" rotWithShape="0" blurRad="88900" dist="12700" dir="5400000">
              <a:srgbClr val="AFBACD">
                <a:alpha val="30000"/>
              </a:srgbClr>
            </a:outerShdw>
          </a:effectLst>
        </p:spPr>
      </p:sp>
      <p:sp>
        <p:nvSpPr>
          <p:cNvPr id="21" name="Shape 19"/>
          <p:cNvSpPr/>
          <p:nvPr/>
        </p:nvSpPr>
        <p:spPr>
          <a:xfrm>
            <a:off x="4855464" y="4306824"/>
            <a:ext cx="2450592" cy="329184"/>
          </a:xfrm>
          <a:prstGeom prst="rect">
            <a:avLst/>
          </a:prstGeom>
          <a:solidFill>
            <a:srgbClr val="0B1B3A"/>
          </a:solidFill>
          <a:ln w="12700">
            <a:solidFill>
              <a:srgbClr val="0B1B3A"/>
            </a:solidFill>
            <a:prstDash val="solid"/>
          </a:ln>
        </p:spPr>
      </p:sp>
      <p:sp>
        <p:nvSpPr>
          <p:cNvPr id="22" name="Text 20"/>
          <p:cNvSpPr txBox="1"/>
          <p:nvPr/>
        </p:nvSpPr>
        <p:spPr>
          <a:xfrm>
            <a:off x="4974336" y="4306824"/>
            <a:ext cx="2212848"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Customer</a:t>
            </a:r>
            <a:endParaRPr lang="en-US" sz="1150" dirty="0"/>
          </a:p>
        </p:txBody>
      </p:sp>
      <p:sp>
        <p:nvSpPr>
          <p:cNvPr id="23" name="Text 21"/>
          <p:cNvSpPr txBox="1"/>
          <p:nvPr/>
        </p:nvSpPr>
        <p:spPr>
          <a:xfrm>
            <a:off x="4974336" y="4681728"/>
            <a:ext cx="2212848" cy="804672"/>
          </a:xfrm>
          <a:prstGeom prst="rect">
            <a:avLst/>
          </a:prstGeom>
          <a:noFill/>
          <a:ln/>
        </p:spPr>
        <p:txBody>
          <a:bodyPr wrap="square" lIns="0" tIns="0" rIns="0" bIns="0" rtlCol="0" anchor="ctr"/>
          <a:lstStyle/>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customer_id  PK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signup_date</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cohort_id  FK</a:t>
            </a:r>
            <a:endParaRPr lang="en-US" sz="950" dirty="0"/>
          </a:p>
        </p:txBody>
      </p:sp>
      <p:sp>
        <p:nvSpPr>
          <p:cNvPr id="24" name="Shape 22"/>
          <p:cNvSpPr/>
          <p:nvPr/>
        </p:nvSpPr>
        <p:spPr>
          <a:xfrm>
            <a:off x="8869680" y="2770632"/>
            <a:ext cx="2743200" cy="1261872"/>
          </a:xfrm>
          <a:prstGeom prst="roundRect">
            <a:avLst>
              <a:gd name="adj" fmla="val 4348"/>
            </a:avLst>
          </a:prstGeom>
          <a:solidFill>
            <a:srgbClr val="FFFFFF"/>
          </a:solidFill>
          <a:ln w="12700">
            <a:solidFill>
              <a:srgbClr val="D6DDEA"/>
            </a:solidFill>
            <a:prstDash val="solid"/>
          </a:ln>
          <a:effectLst>
            <a:outerShdw sx="100000" sy="100000" kx="0" ky="0" algn="bl" rotWithShape="0" blurRad="88900" dist="12700" dir="5400000">
              <a:srgbClr val="AFBACD">
                <a:alpha val="30000"/>
              </a:srgbClr>
            </a:outerShdw>
          </a:effectLst>
        </p:spPr>
      </p:sp>
      <p:sp>
        <p:nvSpPr>
          <p:cNvPr id="25" name="Shape 23"/>
          <p:cNvSpPr/>
          <p:nvPr/>
        </p:nvSpPr>
        <p:spPr>
          <a:xfrm>
            <a:off x="8878824" y="2779776"/>
            <a:ext cx="2724912" cy="329184"/>
          </a:xfrm>
          <a:prstGeom prst="rect">
            <a:avLst/>
          </a:prstGeom>
          <a:solidFill>
            <a:srgbClr val="F2762E"/>
          </a:solidFill>
          <a:ln w="12700">
            <a:solidFill>
              <a:srgbClr val="F2762E"/>
            </a:solidFill>
            <a:prstDash val="solid"/>
          </a:ln>
        </p:spPr>
      </p:sp>
      <p:sp>
        <p:nvSpPr>
          <p:cNvPr id="26" name="Text 24"/>
          <p:cNvSpPr txBox="1"/>
          <p:nvPr/>
        </p:nvSpPr>
        <p:spPr>
          <a:xfrm>
            <a:off x="8997696" y="2779776"/>
            <a:ext cx="2487168"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AttributionResult</a:t>
            </a:r>
            <a:endParaRPr lang="en-US" sz="1150" dirty="0"/>
          </a:p>
        </p:txBody>
      </p:sp>
      <p:sp>
        <p:nvSpPr>
          <p:cNvPr id="27" name="Text 25"/>
          <p:cNvSpPr txBox="1"/>
          <p:nvPr/>
        </p:nvSpPr>
        <p:spPr>
          <a:xfrm>
            <a:off x="8997696" y="3154680"/>
            <a:ext cx="2487168" cy="804672"/>
          </a:xfrm>
          <a:prstGeom prst="rect">
            <a:avLst/>
          </a:prstGeom>
          <a:noFill/>
          <a:ln/>
        </p:spPr>
        <p:txBody>
          <a:bodyPr wrap="square" lIns="0" tIns="0" rIns="0" bIns="0" rtlCol="0" anchor="ctr"/>
          <a:lstStyle/>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attribution_id  PK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conversion_id  FK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model_type</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attributed_value</a:t>
            </a:r>
            <a:endParaRPr lang="en-US" sz="950" dirty="0"/>
          </a:p>
        </p:txBody>
      </p:sp>
      <p:sp>
        <p:nvSpPr>
          <p:cNvPr id="28" name="Shape 26"/>
          <p:cNvSpPr/>
          <p:nvPr/>
        </p:nvSpPr>
        <p:spPr>
          <a:xfrm>
            <a:off x="8869680" y="4297680"/>
            <a:ext cx="2743200" cy="1261872"/>
          </a:xfrm>
          <a:prstGeom prst="roundRect">
            <a:avLst>
              <a:gd name="adj" fmla="val 4348"/>
            </a:avLst>
          </a:prstGeom>
          <a:solidFill>
            <a:srgbClr val="FFFFFF"/>
          </a:solidFill>
          <a:ln w="12700">
            <a:solidFill>
              <a:srgbClr val="D6DDEA"/>
            </a:solidFill>
            <a:prstDash val="solid"/>
          </a:ln>
          <a:effectLst>
            <a:outerShdw sx="100000" sy="100000" kx="0" ky="0" algn="bl" rotWithShape="0" blurRad="88900" dist="12700" dir="5400000">
              <a:srgbClr val="AFBACD">
                <a:alpha val="30000"/>
              </a:srgbClr>
            </a:outerShdw>
          </a:effectLst>
        </p:spPr>
      </p:sp>
      <p:sp>
        <p:nvSpPr>
          <p:cNvPr id="29" name="Shape 27"/>
          <p:cNvSpPr/>
          <p:nvPr/>
        </p:nvSpPr>
        <p:spPr>
          <a:xfrm>
            <a:off x="8878824" y="4306824"/>
            <a:ext cx="2724912" cy="329184"/>
          </a:xfrm>
          <a:prstGeom prst="rect">
            <a:avLst/>
          </a:prstGeom>
          <a:solidFill>
            <a:srgbClr val="0B1B3A"/>
          </a:solidFill>
          <a:ln w="12700">
            <a:solidFill>
              <a:srgbClr val="0B1B3A"/>
            </a:solidFill>
            <a:prstDash val="solid"/>
          </a:ln>
        </p:spPr>
      </p:sp>
      <p:sp>
        <p:nvSpPr>
          <p:cNvPr id="30" name="Text 28"/>
          <p:cNvSpPr txBox="1"/>
          <p:nvPr/>
        </p:nvSpPr>
        <p:spPr>
          <a:xfrm>
            <a:off x="8997696" y="4306824"/>
            <a:ext cx="2487168"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Cohort</a:t>
            </a:r>
            <a:endParaRPr lang="en-US" sz="1150" dirty="0"/>
          </a:p>
        </p:txBody>
      </p:sp>
      <p:sp>
        <p:nvSpPr>
          <p:cNvPr id="31" name="Text 29"/>
          <p:cNvSpPr txBox="1"/>
          <p:nvPr/>
        </p:nvSpPr>
        <p:spPr>
          <a:xfrm>
            <a:off x="8997696" y="4681728"/>
            <a:ext cx="2487168" cy="804672"/>
          </a:xfrm>
          <a:prstGeom prst="rect">
            <a:avLst/>
          </a:prstGeom>
          <a:noFill/>
          <a:ln/>
        </p:spPr>
        <p:txBody>
          <a:bodyPr wrap="square" lIns="0" tIns="0" rIns="0" bIns="0" rtlCol="0" anchor="ctr"/>
          <a:lstStyle/>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cohort_id  PK</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cohort_month</a:t>
            </a:r>
            <a:endParaRPr lang="en-US" sz="950" dirty="0"/>
          </a:p>
          <a:p>
            <a:pPr indent="0" marL="0">
              <a:lnSpc>
                <a:spcPts val="1300"/>
              </a:lnSpc>
              <a:buNone/>
            </a:pPr>
            <a:r>
              <a:rPr lang="en-US" sz="950" dirty="0">
                <a:solidFill>
                  <a:srgbClr val="0B1B3A"/>
                </a:solidFill>
                <a:latin typeface="Courier New" pitchFamily="34" charset="0"/>
                <a:ea typeface="Courier New" pitchFamily="34" charset="-122"/>
                <a:cs typeface="Courier New" pitchFamily="34" charset="-120"/>
              </a:rPr>
              <a:t>definition</a:t>
            </a:r>
            <a:endParaRPr lang="en-US" sz="950" dirty="0"/>
          </a:p>
        </p:txBody>
      </p:sp>
      <p:sp>
        <p:nvSpPr>
          <p:cNvPr id="32" name="Shape 30"/>
          <p:cNvSpPr/>
          <p:nvPr/>
        </p:nvSpPr>
        <p:spPr>
          <a:xfrm>
            <a:off x="2057400" y="2505456"/>
            <a:ext cx="0" cy="265176"/>
          </a:xfrm>
          <a:prstGeom prst="line">
            <a:avLst/>
          </a:prstGeom>
          <a:noFill/>
          <a:ln w="19050">
            <a:solidFill>
              <a:srgbClr val="0FB5A6"/>
            </a:solidFill>
            <a:prstDash val="solid"/>
            <a:tailEnd type="triangle"/>
          </a:ln>
        </p:spPr>
      </p:sp>
      <p:sp>
        <p:nvSpPr>
          <p:cNvPr id="33" name="Text 31"/>
          <p:cNvSpPr txBox="1"/>
          <p:nvPr/>
        </p:nvSpPr>
        <p:spPr>
          <a:xfrm>
            <a:off x="2148840" y="2523744"/>
            <a:ext cx="685800" cy="201168"/>
          </a:xfrm>
          <a:prstGeom prst="rect">
            <a:avLst/>
          </a:prstGeom>
          <a:noFill/>
          <a:ln/>
        </p:spPr>
        <p:txBody>
          <a:bodyPr wrap="square" lIns="0" tIns="0" rIns="0" bIns="0" rtlCol="0" anchor="ctr"/>
          <a:lstStyle/>
          <a:p>
            <a:pPr algn="ctr" indent="0" marL="0">
              <a:buNone/>
            </a:pPr>
            <a:r>
              <a:rPr lang="en-US" sz="900" b="1" dirty="0">
                <a:solidFill>
                  <a:srgbClr val="0A8377"/>
                </a:solidFill>
                <a:latin typeface="Calibri" pitchFamily="34" charset="0"/>
                <a:ea typeface="Calibri" pitchFamily="34" charset="-122"/>
                <a:cs typeface="Calibri" pitchFamily="34" charset="-120"/>
              </a:rPr>
              <a:t>1 : N</a:t>
            </a:r>
            <a:endParaRPr lang="en-US" sz="900" dirty="0"/>
          </a:p>
        </p:txBody>
      </p:sp>
      <p:sp>
        <p:nvSpPr>
          <p:cNvPr id="34" name="Shape 32"/>
          <p:cNvSpPr/>
          <p:nvPr/>
        </p:nvSpPr>
        <p:spPr>
          <a:xfrm>
            <a:off x="2057400" y="4032504"/>
            <a:ext cx="0" cy="265176"/>
          </a:xfrm>
          <a:prstGeom prst="line">
            <a:avLst/>
          </a:prstGeom>
          <a:noFill/>
          <a:ln w="19050">
            <a:solidFill>
              <a:srgbClr val="0FB5A6"/>
            </a:solidFill>
            <a:prstDash val="solid"/>
            <a:tailEnd type="triangle"/>
          </a:ln>
        </p:spPr>
      </p:sp>
      <p:sp>
        <p:nvSpPr>
          <p:cNvPr id="35" name="Text 33"/>
          <p:cNvSpPr txBox="1"/>
          <p:nvPr/>
        </p:nvSpPr>
        <p:spPr>
          <a:xfrm>
            <a:off x="2148840" y="4050792"/>
            <a:ext cx="685800" cy="201168"/>
          </a:xfrm>
          <a:prstGeom prst="rect">
            <a:avLst/>
          </a:prstGeom>
          <a:noFill/>
          <a:ln/>
        </p:spPr>
        <p:txBody>
          <a:bodyPr wrap="square" lIns="0" tIns="0" rIns="0" bIns="0" rtlCol="0" anchor="ctr"/>
          <a:lstStyle/>
          <a:p>
            <a:pPr algn="ctr" indent="0" marL="0">
              <a:buNone/>
            </a:pPr>
            <a:r>
              <a:rPr lang="en-US" sz="900" b="1" dirty="0">
                <a:solidFill>
                  <a:srgbClr val="0A8377"/>
                </a:solidFill>
                <a:latin typeface="Calibri" pitchFamily="34" charset="0"/>
                <a:ea typeface="Calibri" pitchFamily="34" charset="-122"/>
                <a:cs typeface="Calibri" pitchFamily="34" charset="-120"/>
              </a:rPr>
              <a:t>1 : N</a:t>
            </a:r>
            <a:endParaRPr lang="en-US" sz="900" dirty="0"/>
          </a:p>
        </p:txBody>
      </p:sp>
      <p:sp>
        <p:nvSpPr>
          <p:cNvPr id="36" name="Shape 34"/>
          <p:cNvSpPr/>
          <p:nvPr/>
        </p:nvSpPr>
        <p:spPr>
          <a:xfrm>
            <a:off x="3291840" y="4983480"/>
            <a:ext cx="1554480" cy="0"/>
          </a:xfrm>
          <a:prstGeom prst="line">
            <a:avLst/>
          </a:prstGeom>
          <a:noFill/>
          <a:ln w="19050">
            <a:solidFill>
              <a:srgbClr val="0FB5A6"/>
            </a:solidFill>
            <a:prstDash val="solid"/>
            <a:tailEnd type="triangle"/>
          </a:ln>
        </p:spPr>
      </p:sp>
      <p:sp>
        <p:nvSpPr>
          <p:cNvPr id="37" name="Text 35"/>
          <p:cNvSpPr txBox="1"/>
          <p:nvPr/>
        </p:nvSpPr>
        <p:spPr>
          <a:xfrm>
            <a:off x="3730752" y="4736592"/>
            <a:ext cx="685800" cy="201168"/>
          </a:xfrm>
          <a:prstGeom prst="rect">
            <a:avLst/>
          </a:prstGeom>
          <a:noFill/>
          <a:ln/>
        </p:spPr>
        <p:txBody>
          <a:bodyPr wrap="square" lIns="0" tIns="0" rIns="0" bIns="0" rtlCol="0" anchor="ctr"/>
          <a:lstStyle/>
          <a:p>
            <a:pPr algn="ctr" indent="0" marL="0">
              <a:buNone/>
            </a:pPr>
            <a:r>
              <a:rPr lang="en-US" sz="900" b="1" dirty="0">
                <a:solidFill>
                  <a:srgbClr val="0A8377"/>
                </a:solidFill>
                <a:latin typeface="Calibri" pitchFamily="34" charset="0"/>
                <a:ea typeface="Calibri" pitchFamily="34" charset="-122"/>
                <a:cs typeface="Calibri" pitchFamily="34" charset="-120"/>
              </a:rPr>
              <a:t>N : 1</a:t>
            </a:r>
            <a:endParaRPr lang="en-US" sz="900" dirty="0"/>
          </a:p>
        </p:txBody>
      </p:sp>
      <p:sp>
        <p:nvSpPr>
          <p:cNvPr id="38" name="Shape 36"/>
          <p:cNvSpPr/>
          <p:nvPr/>
        </p:nvSpPr>
        <p:spPr>
          <a:xfrm>
            <a:off x="6080760" y="4032504"/>
            <a:ext cx="0" cy="265176"/>
          </a:xfrm>
          <a:prstGeom prst="line">
            <a:avLst/>
          </a:prstGeom>
          <a:noFill/>
          <a:ln w="19050">
            <a:solidFill>
              <a:srgbClr val="0FB5A6"/>
            </a:solidFill>
            <a:prstDash val="solid"/>
            <a:headEnd type="triangle"/>
          </a:ln>
        </p:spPr>
      </p:sp>
      <p:sp>
        <p:nvSpPr>
          <p:cNvPr id="39" name="Text 37"/>
          <p:cNvSpPr txBox="1"/>
          <p:nvPr/>
        </p:nvSpPr>
        <p:spPr>
          <a:xfrm>
            <a:off x="6172200" y="4050792"/>
            <a:ext cx="685800" cy="201168"/>
          </a:xfrm>
          <a:prstGeom prst="rect">
            <a:avLst/>
          </a:prstGeom>
          <a:noFill/>
          <a:ln/>
        </p:spPr>
        <p:txBody>
          <a:bodyPr wrap="square" lIns="0" tIns="0" rIns="0" bIns="0" rtlCol="0" anchor="ctr"/>
          <a:lstStyle/>
          <a:p>
            <a:pPr algn="ctr" indent="0" marL="0">
              <a:buNone/>
            </a:pPr>
            <a:r>
              <a:rPr lang="en-US" sz="900" b="1" dirty="0">
                <a:solidFill>
                  <a:srgbClr val="0A8377"/>
                </a:solidFill>
                <a:latin typeface="Calibri" pitchFamily="34" charset="0"/>
                <a:ea typeface="Calibri" pitchFamily="34" charset="-122"/>
                <a:cs typeface="Calibri" pitchFamily="34" charset="-120"/>
              </a:rPr>
              <a:t>1 : N</a:t>
            </a:r>
            <a:endParaRPr lang="en-US" sz="900" dirty="0"/>
          </a:p>
        </p:txBody>
      </p:sp>
      <p:sp>
        <p:nvSpPr>
          <p:cNvPr id="40" name="Shape 38"/>
          <p:cNvSpPr/>
          <p:nvPr/>
        </p:nvSpPr>
        <p:spPr>
          <a:xfrm>
            <a:off x="7315200" y="3410712"/>
            <a:ext cx="1554480" cy="0"/>
          </a:xfrm>
          <a:prstGeom prst="line">
            <a:avLst/>
          </a:prstGeom>
          <a:noFill/>
          <a:ln w="19050">
            <a:solidFill>
              <a:srgbClr val="0FB5A6"/>
            </a:solidFill>
            <a:prstDash val="solid"/>
            <a:tailEnd type="triangle"/>
          </a:ln>
        </p:spPr>
      </p:sp>
      <p:sp>
        <p:nvSpPr>
          <p:cNvPr id="41" name="Text 39"/>
          <p:cNvSpPr txBox="1"/>
          <p:nvPr/>
        </p:nvSpPr>
        <p:spPr>
          <a:xfrm>
            <a:off x="7754112" y="3163824"/>
            <a:ext cx="685800" cy="201168"/>
          </a:xfrm>
          <a:prstGeom prst="rect">
            <a:avLst/>
          </a:prstGeom>
          <a:noFill/>
          <a:ln/>
        </p:spPr>
        <p:txBody>
          <a:bodyPr wrap="square" lIns="0" tIns="0" rIns="0" bIns="0" rtlCol="0" anchor="ctr"/>
          <a:lstStyle/>
          <a:p>
            <a:pPr algn="ctr" indent="0" marL="0">
              <a:buNone/>
            </a:pPr>
            <a:r>
              <a:rPr lang="en-US" sz="900" b="1" dirty="0">
                <a:solidFill>
                  <a:srgbClr val="0A8377"/>
                </a:solidFill>
                <a:latin typeface="Calibri" pitchFamily="34" charset="0"/>
                <a:ea typeface="Calibri" pitchFamily="34" charset="-122"/>
                <a:cs typeface="Calibri" pitchFamily="34" charset="-120"/>
              </a:rPr>
              <a:t>1 : N</a:t>
            </a:r>
            <a:endParaRPr lang="en-US" sz="900" dirty="0"/>
          </a:p>
        </p:txBody>
      </p:sp>
      <p:sp>
        <p:nvSpPr>
          <p:cNvPr id="42" name="Shape 40"/>
          <p:cNvSpPr/>
          <p:nvPr/>
        </p:nvSpPr>
        <p:spPr>
          <a:xfrm>
            <a:off x="7315200" y="4937760"/>
            <a:ext cx="1554480" cy="0"/>
          </a:xfrm>
          <a:prstGeom prst="line">
            <a:avLst/>
          </a:prstGeom>
          <a:noFill/>
          <a:ln w="19050">
            <a:solidFill>
              <a:srgbClr val="0FB5A6"/>
            </a:solidFill>
            <a:prstDash val="solid"/>
            <a:tailEnd type="triangle"/>
          </a:ln>
        </p:spPr>
      </p:sp>
      <p:sp>
        <p:nvSpPr>
          <p:cNvPr id="43" name="Text 41"/>
          <p:cNvSpPr txBox="1"/>
          <p:nvPr/>
        </p:nvSpPr>
        <p:spPr>
          <a:xfrm>
            <a:off x="7754112" y="4690872"/>
            <a:ext cx="685800" cy="201168"/>
          </a:xfrm>
          <a:prstGeom prst="rect">
            <a:avLst/>
          </a:prstGeom>
          <a:noFill/>
          <a:ln/>
        </p:spPr>
        <p:txBody>
          <a:bodyPr wrap="square" lIns="0" tIns="0" rIns="0" bIns="0" rtlCol="0" anchor="ctr"/>
          <a:lstStyle/>
          <a:p>
            <a:pPr algn="ctr" indent="0" marL="0">
              <a:buNone/>
            </a:pPr>
            <a:r>
              <a:rPr lang="en-US" sz="900" b="1" dirty="0">
                <a:solidFill>
                  <a:srgbClr val="0A8377"/>
                </a:solidFill>
                <a:latin typeface="Calibri" pitchFamily="34" charset="0"/>
                <a:ea typeface="Calibri" pitchFamily="34" charset="-122"/>
                <a:cs typeface="Calibri" pitchFamily="34" charset="-120"/>
              </a:rPr>
              <a:t>N : 1</a:t>
            </a:r>
            <a:endParaRPr lang="en-US" sz="900" dirty="0"/>
          </a:p>
        </p:txBody>
      </p:sp>
      <p:sp>
        <p:nvSpPr>
          <p:cNvPr id="44" name="Shape 42"/>
          <p:cNvSpPr/>
          <p:nvPr/>
        </p:nvSpPr>
        <p:spPr>
          <a:xfrm>
            <a:off x="4846320" y="1243584"/>
            <a:ext cx="6766560" cy="1261872"/>
          </a:xfrm>
          <a:prstGeom prst="roundRect">
            <a:avLst>
              <a:gd name="adj" fmla="val 4348"/>
            </a:avLst>
          </a:prstGeom>
          <a:solidFill>
            <a:srgbClr val="0B1B3A"/>
          </a:solidFill>
          <a:ln w="12700">
            <a:solidFill>
              <a:srgbClr val="0B1B3A"/>
            </a:solidFill>
            <a:prstDash val="solid"/>
          </a:ln>
        </p:spPr>
      </p:sp>
      <p:sp>
        <p:nvSpPr>
          <p:cNvPr id="45" name="Text 43"/>
          <p:cNvSpPr txBox="1"/>
          <p:nvPr/>
        </p:nvSpPr>
        <p:spPr>
          <a:xfrm>
            <a:off x="5120640" y="1389888"/>
            <a:ext cx="4572000" cy="219456"/>
          </a:xfrm>
          <a:prstGeom prst="rect">
            <a:avLst/>
          </a:prstGeom>
          <a:noFill/>
          <a:ln/>
        </p:spPr>
        <p:txBody>
          <a:bodyPr wrap="square" lIns="0" tIns="0" rIns="0" bIns="0" rtlCol="0" anchor="ctr"/>
          <a:lstStyle/>
          <a:p>
            <a:pPr indent="0" marL="0">
              <a:buNone/>
            </a:pPr>
            <a:r>
              <a:rPr lang="en-US" sz="950" b="1" spc="150" kern="0" dirty="0">
                <a:solidFill>
                  <a:srgbClr val="0FB5A6"/>
                </a:solidFill>
                <a:latin typeface="Calibri" pitchFamily="34" charset="0"/>
                <a:ea typeface="Calibri" pitchFamily="34" charset="-122"/>
                <a:cs typeface="Calibri" pitchFamily="34" charset="-120"/>
              </a:rPr>
              <a:t>HOW TO READ THIS MODEL</a:t>
            </a:r>
            <a:endParaRPr lang="en-US" sz="950" dirty="0"/>
          </a:p>
        </p:txBody>
      </p:sp>
      <p:sp>
        <p:nvSpPr>
          <p:cNvPr id="46" name="Text 44"/>
          <p:cNvSpPr txBox="1"/>
          <p:nvPr/>
        </p:nvSpPr>
        <p:spPr>
          <a:xfrm>
            <a:off x="5120640" y="1655064"/>
            <a:ext cx="6263640" cy="777240"/>
          </a:xfrm>
          <a:prstGeom prst="rect">
            <a:avLst/>
          </a:prstGeom>
          <a:noFill/>
          <a:ln/>
        </p:spPr>
        <p:txBody>
          <a:bodyPr wrap="square" lIns="0" tIns="0" rIns="0" bIns="0" rtlCol="0" anchor="ctr"/>
          <a:lstStyle/>
          <a:p>
            <a:pPr indent="0" marL="0">
              <a:buNone/>
            </a:pPr>
            <a:r>
              <a:rPr lang="en-US" sz="1100" dirty="0">
                <a:solidFill>
                  <a:srgbClr val="A9BEDD"/>
                </a:solidFill>
                <a:latin typeface="Calibri" pitchFamily="34" charset="0"/>
                <a:ea typeface="Calibri" pitchFamily="34" charset="-122"/>
                <a:cs typeface="Calibri" pitchFamily="34" charset="-120"/>
              </a:rPr>
              <a:t>The Touchpoint table is the centre of the design: it records every interaction on the path to a purchase, so the system can see whether a customer met social, search or email before converting. Each Conversion can then be scored by several attribution models in parallel.</a:t>
            </a:r>
            <a:endParaRPr lang="en-US" sz="1100" dirty="0"/>
          </a:p>
        </p:txBody>
      </p:sp>
      <p:sp>
        <p:nvSpPr>
          <p:cNvPr id="47" name="Shape 45"/>
          <p:cNvSpPr/>
          <p:nvPr/>
        </p:nvSpPr>
        <p:spPr>
          <a:xfrm>
            <a:off x="548640" y="5870448"/>
            <a:ext cx="11064240" cy="566928"/>
          </a:xfrm>
          <a:prstGeom prst="roundRect">
            <a:avLst>
              <a:gd name="adj" fmla="val 9677"/>
            </a:avLst>
          </a:prstGeom>
          <a:solidFill>
            <a:srgbClr val="FFFFFF"/>
          </a:solidFill>
          <a:ln w="12700">
            <a:solidFill>
              <a:srgbClr val="D6DDEA"/>
            </a:solidFill>
            <a:prstDash val="solid"/>
          </a:ln>
        </p:spPr>
      </p:sp>
      <p:sp>
        <p:nvSpPr>
          <p:cNvPr id="48" name="Text 46"/>
          <p:cNvSpPr txBox="1"/>
          <p:nvPr/>
        </p:nvSpPr>
        <p:spPr>
          <a:xfrm>
            <a:off x="685800" y="5943600"/>
            <a:ext cx="3611880" cy="219456"/>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  One campaign contains many ads</a:t>
            </a:r>
            <a:endParaRPr lang="en-US" sz="950" dirty="0"/>
          </a:p>
        </p:txBody>
      </p:sp>
      <p:sp>
        <p:nvSpPr>
          <p:cNvPr id="49" name="Text 47"/>
          <p:cNvSpPr txBox="1"/>
          <p:nvPr/>
        </p:nvSpPr>
        <p:spPr>
          <a:xfrm>
            <a:off x="4343400" y="5943600"/>
            <a:ext cx="3611880" cy="219456"/>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  One ad generates many touchpoints</a:t>
            </a:r>
            <a:endParaRPr lang="en-US" sz="950" dirty="0"/>
          </a:p>
        </p:txBody>
      </p:sp>
      <p:sp>
        <p:nvSpPr>
          <p:cNvPr id="50" name="Text 48"/>
          <p:cNvSpPr txBox="1"/>
          <p:nvPr/>
        </p:nvSpPr>
        <p:spPr>
          <a:xfrm>
            <a:off x="8001000" y="5943600"/>
            <a:ext cx="3611880" cy="219456"/>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  A customer has many touchpoints</a:t>
            </a:r>
            <a:endParaRPr lang="en-US" sz="950" dirty="0"/>
          </a:p>
        </p:txBody>
      </p:sp>
      <p:sp>
        <p:nvSpPr>
          <p:cNvPr id="51" name="Text 49"/>
          <p:cNvSpPr txBox="1"/>
          <p:nvPr/>
        </p:nvSpPr>
        <p:spPr>
          <a:xfrm>
            <a:off x="685800" y="6181344"/>
            <a:ext cx="3611880" cy="219456"/>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  A customer generates one or more conversions</a:t>
            </a:r>
            <a:endParaRPr lang="en-US" sz="950" dirty="0"/>
          </a:p>
        </p:txBody>
      </p:sp>
      <p:sp>
        <p:nvSpPr>
          <p:cNvPr id="52" name="Text 50"/>
          <p:cNvSpPr txBox="1"/>
          <p:nvPr/>
        </p:nvSpPr>
        <p:spPr>
          <a:xfrm>
            <a:off x="4343400" y="6181344"/>
            <a:ext cx="3611880" cy="219456"/>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  Each conversion is scored by several models</a:t>
            </a:r>
            <a:endParaRPr lang="en-US" sz="950" dirty="0"/>
          </a:p>
        </p:txBody>
      </p:sp>
      <p:sp>
        <p:nvSpPr>
          <p:cNvPr id="53" name="Text 51"/>
          <p:cNvSpPr txBox="1"/>
          <p:nvPr/>
        </p:nvSpPr>
        <p:spPr>
          <a:xfrm>
            <a:off x="8001000" y="6181344"/>
            <a:ext cx="3611880" cy="219456"/>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  Every customer belongs to one cohort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A8377"/>
                </a:solidFill>
                <a:latin typeface="Calibri" pitchFamily="34" charset="0"/>
                <a:ea typeface="Calibri" pitchFamily="34" charset="-122"/>
                <a:cs typeface="Calibri" pitchFamily="34" charset="-120"/>
              </a:rPr>
              <a:t>PERFORMANCE, FUNNEL AND COHORT ANALYSIS</a:t>
            </a:r>
            <a:endParaRPr lang="en-US" sz="1050" dirty="0"/>
          </a:p>
        </p:txBody>
      </p:sp>
      <p:sp>
        <p:nvSpPr>
          <p:cNvPr id="3" name="Text 1"/>
          <p:cNvSpPr txBox="1"/>
          <p:nvPr/>
        </p:nvSpPr>
        <p:spPr>
          <a:xfrm>
            <a:off x="548640" y="566928"/>
            <a:ext cx="11064240" cy="548640"/>
          </a:xfrm>
          <a:prstGeom prst="rect">
            <a:avLst/>
          </a:prstGeom>
          <a:noFill/>
          <a:ln/>
        </p:spPr>
        <p:txBody>
          <a:bodyPr wrap="square" lIns="0" tIns="0" rIns="0" bIns="0" rtlCol="0" anchor="ctr"/>
          <a:lstStyle/>
          <a:p>
            <a:pPr indent="0" marL="0">
              <a:buNone/>
            </a:pPr>
            <a:r>
              <a:rPr lang="en-US" sz="3000" b="1" dirty="0">
                <a:solidFill>
                  <a:srgbClr val="0B1B3A"/>
                </a:solidFill>
                <a:latin typeface="Cambria" pitchFamily="34" charset="0"/>
                <a:ea typeface="Cambria" pitchFamily="34" charset="-122"/>
                <a:cs typeface="Cambria" pitchFamily="34" charset="-120"/>
              </a:rPr>
              <a:t>Measuring the Customer Journey</a:t>
            </a:r>
            <a:endParaRPr lang="en-US" sz="3000" dirty="0"/>
          </a:p>
        </p:txBody>
      </p:sp>
      <p:sp>
        <p:nvSpPr>
          <p:cNvPr id="4" name="Shape 2"/>
          <p:cNvSpPr/>
          <p:nvPr/>
        </p:nvSpPr>
        <p:spPr>
          <a:xfrm>
            <a:off x="548640" y="1207008"/>
            <a:ext cx="2103120" cy="713232"/>
          </a:xfrm>
          <a:prstGeom prst="roundRect">
            <a:avLst>
              <a:gd name="adj" fmla="val 7692"/>
            </a:avLst>
          </a:prstGeom>
          <a:solidFill>
            <a:srgbClr val="FFFFFF"/>
          </a:solidFill>
          <a:ln w="12700">
            <a:solidFill>
              <a:srgbClr val="D6DDEA"/>
            </a:solidFill>
            <a:prstDash val="solid"/>
          </a:ln>
        </p:spPr>
      </p:sp>
      <p:sp>
        <p:nvSpPr>
          <p:cNvPr id="5" name="Text 3"/>
          <p:cNvSpPr txBox="1"/>
          <p:nvPr/>
        </p:nvSpPr>
        <p:spPr>
          <a:xfrm>
            <a:off x="676656" y="1298448"/>
            <a:ext cx="1874520" cy="219456"/>
          </a:xfrm>
          <a:prstGeom prst="rect">
            <a:avLst/>
          </a:prstGeom>
          <a:noFill/>
          <a:ln/>
        </p:spPr>
        <p:txBody>
          <a:bodyPr wrap="square" lIns="0" tIns="0" rIns="0" bIns="0" rtlCol="0" anchor="ctr"/>
          <a:lstStyle/>
          <a:p>
            <a:pPr indent="0" marL="0">
              <a:buNone/>
            </a:pPr>
            <a:r>
              <a:rPr lang="en-US" sz="1150" b="1" dirty="0">
                <a:solidFill>
                  <a:srgbClr val="0A8377"/>
                </a:solidFill>
                <a:latin typeface="Calibri" pitchFamily="34" charset="0"/>
                <a:ea typeface="Calibri" pitchFamily="34" charset="-122"/>
                <a:cs typeface="Calibri" pitchFamily="34" charset="-120"/>
              </a:rPr>
              <a:t>CTR</a:t>
            </a:r>
            <a:endParaRPr lang="en-US" sz="1150" dirty="0"/>
          </a:p>
        </p:txBody>
      </p:sp>
      <p:sp>
        <p:nvSpPr>
          <p:cNvPr id="6" name="Text 4"/>
          <p:cNvSpPr txBox="1"/>
          <p:nvPr/>
        </p:nvSpPr>
        <p:spPr>
          <a:xfrm>
            <a:off x="676656" y="1517904"/>
            <a:ext cx="1874520" cy="347472"/>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Clicks / Impressions × 100</a:t>
            </a:r>
            <a:endParaRPr lang="en-US" sz="950" dirty="0"/>
          </a:p>
        </p:txBody>
      </p:sp>
      <p:sp>
        <p:nvSpPr>
          <p:cNvPr id="7" name="Shape 5"/>
          <p:cNvSpPr/>
          <p:nvPr/>
        </p:nvSpPr>
        <p:spPr>
          <a:xfrm>
            <a:off x="2798064" y="1207008"/>
            <a:ext cx="2103120" cy="713232"/>
          </a:xfrm>
          <a:prstGeom prst="roundRect">
            <a:avLst>
              <a:gd name="adj" fmla="val 7692"/>
            </a:avLst>
          </a:prstGeom>
          <a:solidFill>
            <a:srgbClr val="FFFFFF"/>
          </a:solidFill>
          <a:ln w="12700">
            <a:solidFill>
              <a:srgbClr val="D6DDEA"/>
            </a:solidFill>
            <a:prstDash val="solid"/>
          </a:ln>
        </p:spPr>
      </p:sp>
      <p:sp>
        <p:nvSpPr>
          <p:cNvPr id="8" name="Text 6"/>
          <p:cNvSpPr txBox="1"/>
          <p:nvPr/>
        </p:nvSpPr>
        <p:spPr>
          <a:xfrm>
            <a:off x="2926080" y="1298448"/>
            <a:ext cx="1874520" cy="219456"/>
          </a:xfrm>
          <a:prstGeom prst="rect">
            <a:avLst/>
          </a:prstGeom>
          <a:noFill/>
          <a:ln/>
        </p:spPr>
        <p:txBody>
          <a:bodyPr wrap="square" lIns="0" tIns="0" rIns="0" bIns="0" rtlCol="0" anchor="ctr"/>
          <a:lstStyle/>
          <a:p>
            <a:pPr indent="0" marL="0">
              <a:buNone/>
            </a:pPr>
            <a:r>
              <a:rPr lang="en-US" sz="1150" b="1" dirty="0">
                <a:solidFill>
                  <a:srgbClr val="0A8377"/>
                </a:solidFill>
                <a:latin typeface="Calibri" pitchFamily="34" charset="0"/>
                <a:ea typeface="Calibri" pitchFamily="34" charset="-122"/>
                <a:cs typeface="Calibri" pitchFamily="34" charset="-120"/>
              </a:rPr>
              <a:t>Conversion rate</a:t>
            </a:r>
            <a:endParaRPr lang="en-US" sz="1150" dirty="0"/>
          </a:p>
        </p:txBody>
      </p:sp>
      <p:sp>
        <p:nvSpPr>
          <p:cNvPr id="9" name="Text 7"/>
          <p:cNvSpPr txBox="1"/>
          <p:nvPr/>
        </p:nvSpPr>
        <p:spPr>
          <a:xfrm>
            <a:off x="2926080" y="1517904"/>
            <a:ext cx="1874520" cy="347472"/>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Conversions / Clicks × 100</a:t>
            </a:r>
            <a:endParaRPr lang="en-US" sz="950" dirty="0"/>
          </a:p>
        </p:txBody>
      </p:sp>
      <p:sp>
        <p:nvSpPr>
          <p:cNvPr id="10" name="Shape 8"/>
          <p:cNvSpPr/>
          <p:nvPr/>
        </p:nvSpPr>
        <p:spPr>
          <a:xfrm>
            <a:off x="5047488" y="1207008"/>
            <a:ext cx="2103120" cy="713232"/>
          </a:xfrm>
          <a:prstGeom prst="roundRect">
            <a:avLst>
              <a:gd name="adj" fmla="val 7692"/>
            </a:avLst>
          </a:prstGeom>
          <a:solidFill>
            <a:srgbClr val="FFFFFF"/>
          </a:solidFill>
          <a:ln w="12700">
            <a:solidFill>
              <a:srgbClr val="D6DDEA"/>
            </a:solidFill>
            <a:prstDash val="solid"/>
          </a:ln>
        </p:spPr>
      </p:sp>
      <p:sp>
        <p:nvSpPr>
          <p:cNvPr id="11" name="Text 9"/>
          <p:cNvSpPr txBox="1"/>
          <p:nvPr/>
        </p:nvSpPr>
        <p:spPr>
          <a:xfrm>
            <a:off x="5175504" y="1298448"/>
            <a:ext cx="1874520" cy="219456"/>
          </a:xfrm>
          <a:prstGeom prst="rect">
            <a:avLst/>
          </a:prstGeom>
          <a:noFill/>
          <a:ln/>
        </p:spPr>
        <p:txBody>
          <a:bodyPr wrap="square" lIns="0" tIns="0" rIns="0" bIns="0" rtlCol="0" anchor="ctr"/>
          <a:lstStyle/>
          <a:p>
            <a:pPr indent="0" marL="0">
              <a:buNone/>
            </a:pPr>
            <a:r>
              <a:rPr lang="en-US" sz="1150" b="1" dirty="0">
                <a:solidFill>
                  <a:srgbClr val="0A8377"/>
                </a:solidFill>
                <a:latin typeface="Calibri" pitchFamily="34" charset="0"/>
                <a:ea typeface="Calibri" pitchFamily="34" charset="-122"/>
                <a:cs typeface="Calibri" pitchFamily="34" charset="-120"/>
              </a:rPr>
              <a:t>CPA</a:t>
            </a:r>
            <a:endParaRPr lang="en-US" sz="1150" dirty="0"/>
          </a:p>
        </p:txBody>
      </p:sp>
      <p:sp>
        <p:nvSpPr>
          <p:cNvPr id="12" name="Text 10"/>
          <p:cNvSpPr txBox="1"/>
          <p:nvPr/>
        </p:nvSpPr>
        <p:spPr>
          <a:xfrm>
            <a:off x="5175504" y="1517904"/>
            <a:ext cx="1874520" cy="347472"/>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Spend / Conversions</a:t>
            </a:r>
            <a:endParaRPr lang="en-US" sz="950" dirty="0"/>
          </a:p>
        </p:txBody>
      </p:sp>
      <p:sp>
        <p:nvSpPr>
          <p:cNvPr id="13" name="Shape 11"/>
          <p:cNvSpPr/>
          <p:nvPr/>
        </p:nvSpPr>
        <p:spPr>
          <a:xfrm>
            <a:off x="7296912" y="1207008"/>
            <a:ext cx="2103120" cy="713232"/>
          </a:xfrm>
          <a:prstGeom prst="roundRect">
            <a:avLst>
              <a:gd name="adj" fmla="val 7692"/>
            </a:avLst>
          </a:prstGeom>
          <a:solidFill>
            <a:srgbClr val="FFFFFF"/>
          </a:solidFill>
          <a:ln w="12700">
            <a:solidFill>
              <a:srgbClr val="D6DDEA"/>
            </a:solidFill>
            <a:prstDash val="solid"/>
          </a:ln>
        </p:spPr>
      </p:sp>
      <p:sp>
        <p:nvSpPr>
          <p:cNvPr id="14" name="Text 12"/>
          <p:cNvSpPr txBox="1"/>
          <p:nvPr/>
        </p:nvSpPr>
        <p:spPr>
          <a:xfrm>
            <a:off x="7424928" y="1298448"/>
            <a:ext cx="1874520" cy="219456"/>
          </a:xfrm>
          <a:prstGeom prst="rect">
            <a:avLst/>
          </a:prstGeom>
          <a:noFill/>
          <a:ln/>
        </p:spPr>
        <p:txBody>
          <a:bodyPr wrap="square" lIns="0" tIns="0" rIns="0" bIns="0" rtlCol="0" anchor="ctr"/>
          <a:lstStyle/>
          <a:p>
            <a:pPr indent="0" marL="0">
              <a:buNone/>
            </a:pPr>
            <a:r>
              <a:rPr lang="en-US" sz="1150" b="1" dirty="0">
                <a:solidFill>
                  <a:srgbClr val="0A8377"/>
                </a:solidFill>
                <a:latin typeface="Calibri" pitchFamily="34" charset="0"/>
                <a:ea typeface="Calibri" pitchFamily="34" charset="-122"/>
                <a:cs typeface="Calibri" pitchFamily="34" charset="-120"/>
              </a:rPr>
              <a:t>ROAS</a:t>
            </a:r>
            <a:endParaRPr lang="en-US" sz="1150" dirty="0"/>
          </a:p>
        </p:txBody>
      </p:sp>
      <p:sp>
        <p:nvSpPr>
          <p:cNvPr id="15" name="Text 13"/>
          <p:cNvSpPr txBox="1"/>
          <p:nvPr/>
        </p:nvSpPr>
        <p:spPr>
          <a:xfrm>
            <a:off x="7424928" y="1517904"/>
            <a:ext cx="1874520" cy="347472"/>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Revenue / Spend</a:t>
            </a:r>
            <a:endParaRPr lang="en-US" sz="950" dirty="0"/>
          </a:p>
        </p:txBody>
      </p:sp>
      <p:sp>
        <p:nvSpPr>
          <p:cNvPr id="16" name="Shape 14"/>
          <p:cNvSpPr/>
          <p:nvPr/>
        </p:nvSpPr>
        <p:spPr>
          <a:xfrm>
            <a:off x="9546336" y="1207008"/>
            <a:ext cx="2103120" cy="713232"/>
          </a:xfrm>
          <a:prstGeom prst="roundRect">
            <a:avLst>
              <a:gd name="adj" fmla="val 7692"/>
            </a:avLst>
          </a:prstGeom>
          <a:solidFill>
            <a:srgbClr val="FFFFFF"/>
          </a:solidFill>
          <a:ln w="12700">
            <a:solidFill>
              <a:srgbClr val="D6DDEA"/>
            </a:solidFill>
            <a:prstDash val="solid"/>
          </a:ln>
        </p:spPr>
      </p:sp>
      <p:sp>
        <p:nvSpPr>
          <p:cNvPr id="17" name="Text 15"/>
          <p:cNvSpPr txBox="1"/>
          <p:nvPr/>
        </p:nvSpPr>
        <p:spPr>
          <a:xfrm>
            <a:off x="9674352" y="1298448"/>
            <a:ext cx="1874520" cy="219456"/>
          </a:xfrm>
          <a:prstGeom prst="rect">
            <a:avLst/>
          </a:prstGeom>
          <a:noFill/>
          <a:ln/>
        </p:spPr>
        <p:txBody>
          <a:bodyPr wrap="square" lIns="0" tIns="0" rIns="0" bIns="0" rtlCol="0" anchor="ctr"/>
          <a:lstStyle/>
          <a:p>
            <a:pPr indent="0" marL="0">
              <a:buNone/>
            </a:pPr>
            <a:r>
              <a:rPr lang="en-US" sz="1150" b="1" dirty="0">
                <a:solidFill>
                  <a:srgbClr val="0A8377"/>
                </a:solidFill>
                <a:latin typeface="Calibri" pitchFamily="34" charset="0"/>
                <a:ea typeface="Calibri" pitchFamily="34" charset="-122"/>
                <a:cs typeface="Calibri" pitchFamily="34" charset="-120"/>
              </a:rPr>
              <a:t>ROI</a:t>
            </a:r>
            <a:endParaRPr lang="en-US" sz="1150" dirty="0"/>
          </a:p>
        </p:txBody>
      </p:sp>
      <p:sp>
        <p:nvSpPr>
          <p:cNvPr id="18" name="Text 16"/>
          <p:cNvSpPr txBox="1"/>
          <p:nvPr/>
        </p:nvSpPr>
        <p:spPr>
          <a:xfrm>
            <a:off x="9674352" y="1517904"/>
            <a:ext cx="1874520" cy="347472"/>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(Revenue − Spend) / Spend × 100</a:t>
            </a:r>
            <a:endParaRPr lang="en-US" sz="950" dirty="0"/>
          </a:p>
        </p:txBody>
      </p:sp>
      <p:sp>
        <p:nvSpPr>
          <p:cNvPr id="19" name="Text 17"/>
          <p:cNvSpPr txBox="1"/>
          <p:nvPr/>
        </p:nvSpPr>
        <p:spPr>
          <a:xfrm>
            <a:off x="548640" y="2121408"/>
            <a:ext cx="5486400" cy="237744"/>
          </a:xfrm>
          <a:prstGeom prst="rect">
            <a:avLst/>
          </a:prstGeom>
          <a:noFill/>
          <a:ln/>
        </p:spPr>
        <p:txBody>
          <a:bodyPr wrap="square" lIns="0" tIns="0" rIns="0" bIns="0" rtlCol="0" anchor="ctr"/>
          <a:lstStyle/>
          <a:p>
            <a:pPr indent="0" marL="0">
              <a:buNone/>
            </a:pPr>
            <a:r>
              <a:rPr lang="en-US" sz="1250" b="1" dirty="0">
                <a:solidFill>
                  <a:srgbClr val="5D6B85"/>
                </a:solidFill>
                <a:latin typeface="Calibri" pitchFamily="34" charset="0"/>
                <a:ea typeface="Calibri" pitchFamily="34" charset="-122"/>
                <a:cs typeface="Calibri" pitchFamily="34" charset="-120"/>
              </a:rPr>
              <a:t>Conversion funnel  (sample data)</a:t>
            </a:r>
            <a:endParaRPr lang="en-US" sz="1250" dirty="0"/>
          </a:p>
        </p:txBody>
      </p:sp>
      <p:sp>
        <p:nvSpPr>
          <p:cNvPr id="20" name="Shape 18"/>
          <p:cNvSpPr/>
          <p:nvPr/>
        </p:nvSpPr>
        <p:spPr>
          <a:xfrm>
            <a:off x="548640" y="2450592"/>
            <a:ext cx="5394960" cy="402336"/>
          </a:xfrm>
          <a:prstGeom prst="rect">
            <a:avLst/>
          </a:prstGeom>
          <a:solidFill>
            <a:srgbClr val="0B1B3A"/>
          </a:solidFill>
          <a:ln w="12700">
            <a:solidFill>
              <a:srgbClr val="FFFFFF"/>
            </a:solidFill>
            <a:prstDash val="solid"/>
          </a:ln>
        </p:spPr>
      </p:sp>
      <p:sp>
        <p:nvSpPr>
          <p:cNvPr id="21" name="Text 19"/>
          <p:cNvSpPr txBox="1"/>
          <p:nvPr/>
        </p:nvSpPr>
        <p:spPr>
          <a:xfrm>
            <a:off x="548640" y="2450592"/>
            <a:ext cx="539496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Impressions     100,000</a:t>
            </a:r>
            <a:endParaRPr lang="en-US" sz="1100" dirty="0"/>
          </a:p>
        </p:txBody>
      </p:sp>
      <p:sp>
        <p:nvSpPr>
          <p:cNvPr id="22" name="Shape 20"/>
          <p:cNvSpPr/>
          <p:nvPr/>
        </p:nvSpPr>
        <p:spPr>
          <a:xfrm>
            <a:off x="960120" y="2935224"/>
            <a:ext cx="4572000" cy="402336"/>
          </a:xfrm>
          <a:prstGeom prst="rect">
            <a:avLst/>
          </a:prstGeom>
          <a:solidFill>
            <a:srgbClr val="17305C">
              <a:alpha val="92000"/>
            </a:srgbClr>
          </a:solidFill>
          <a:ln w="12700">
            <a:solidFill>
              <a:srgbClr val="FFFFFF"/>
            </a:solidFill>
            <a:prstDash val="solid"/>
          </a:ln>
        </p:spPr>
      </p:sp>
      <p:sp>
        <p:nvSpPr>
          <p:cNvPr id="23" name="Text 21"/>
          <p:cNvSpPr txBox="1"/>
          <p:nvPr/>
        </p:nvSpPr>
        <p:spPr>
          <a:xfrm>
            <a:off x="960120" y="2935224"/>
            <a:ext cx="457200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Clicks     5,000</a:t>
            </a:r>
            <a:endParaRPr lang="en-US" sz="1100" dirty="0"/>
          </a:p>
        </p:txBody>
      </p:sp>
      <p:sp>
        <p:nvSpPr>
          <p:cNvPr id="24" name="Shape 22"/>
          <p:cNvSpPr/>
          <p:nvPr/>
        </p:nvSpPr>
        <p:spPr>
          <a:xfrm>
            <a:off x="1325880" y="3419856"/>
            <a:ext cx="3840480" cy="402336"/>
          </a:xfrm>
          <a:prstGeom prst="rect">
            <a:avLst/>
          </a:prstGeom>
          <a:solidFill>
            <a:srgbClr val="17305C">
              <a:alpha val="84000"/>
            </a:srgbClr>
          </a:solidFill>
          <a:ln w="12700">
            <a:solidFill>
              <a:srgbClr val="FFFFFF"/>
            </a:solidFill>
            <a:prstDash val="solid"/>
          </a:ln>
        </p:spPr>
      </p:sp>
      <p:sp>
        <p:nvSpPr>
          <p:cNvPr id="25" name="Text 23"/>
          <p:cNvSpPr txBox="1"/>
          <p:nvPr/>
        </p:nvSpPr>
        <p:spPr>
          <a:xfrm>
            <a:off x="1325880" y="3419856"/>
            <a:ext cx="384048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Website visits     4,200</a:t>
            </a:r>
            <a:endParaRPr lang="en-US" sz="1100" dirty="0"/>
          </a:p>
        </p:txBody>
      </p:sp>
      <p:sp>
        <p:nvSpPr>
          <p:cNvPr id="26" name="Shape 24"/>
          <p:cNvSpPr/>
          <p:nvPr/>
        </p:nvSpPr>
        <p:spPr>
          <a:xfrm>
            <a:off x="1737360" y="3904488"/>
            <a:ext cx="3017520" cy="402336"/>
          </a:xfrm>
          <a:prstGeom prst="rect">
            <a:avLst/>
          </a:prstGeom>
          <a:solidFill>
            <a:srgbClr val="17305C">
              <a:alpha val="76000"/>
            </a:srgbClr>
          </a:solidFill>
          <a:ln w="12700">
            <a:solidFill>
              <a:srgbClr val="FFFFFF"/>
            </a:solidFill>
            <a:prstDash val="solid"/>
          </a:ln>
        </p:spPr>
      </p:sp>
      <p:sp>
        <p:nvSpPr>
          <p:cNvPr id="27" name="Text 25"/>
          <p:cNvSpPr txBox="1"/>
          <p:nvPr/>
        </p:nvSpPr>
        <p:spPr>
          <a:xfrm>
            <a:off x="1737360" y="3904488"/>
            <a:ext cx="301752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Leads     800</a:t>
            </a:r>
            <a:endParaRPr lang="en-US" sz="1100" dirty="0"/>
          </a:p>
        </p:txBody>
      </p:sp>
      <p:sp>
        <p:nvSpPr>
          <p:cNvPr id="28" name="Shape 26"/>
          <p:cNvSpPr/>
          <p:nvPr/>
        </p:nvSpPr>
        <p:spPr>
          <a:xfrm>
            <a:off x="2103120" y="4389120"/>
            <a:ext cx="2286000" cy="402336"/>
          </a:xfrm>
          <a:prstGeom prst="rect">
            <a:avLst/>
          </a:prstGeom>
          <a:solidFill>
            <a:srgbClr val="17305C">
              <a:alpha val="68000"/>
            </a:srgbClr>
          </a:solidFill>
          <a:ln w="12700">
            <a:solidFill>
              <a:srgbClr val="FFFFFF"/>
            </a:solidFill>
            <a:prstDash val="solid"/>
          </a:ln>
        </p:spPr>
      </p:sp>
      <p:sp>
        <p:nvSpPr>
          <p:cNvPr id="29" name="Text 27"/>
          <p:cNvSpPr txBox="1"/>
          <p:nvPr/>
        </p:nvSpPr>
        <p:spPr>
          <a:xfrm>
            <a:off x="2103120" y="4389120"/>
            <a:ext cx="228600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Conversions     160</a:t>
            </a:r>
            <a:endParaRPr lang="en-US" sz="1100" dirty="0"/>
          </a:p>
        </p:txBody>
      </p:sp>
      <p:sp>
        <p:nvSpPr>
          <p:cNvPr id="30" name="Shape 28"/>
          <p:cNvSpPr/>
          <p:nvPr/>
        </p:nvSpPr>
        <p:spPr>
          <a:xfrm>
            <a:off x="2423160" y="4873752"/>
            <a:ext cx="1645920" cy="402336"/>
          </a:xfrm>
          <a:prstGeom prst="rect">
            <a:avLst/>
          </a:prstGeom>
          <a:solidFill>
            <a:srgbClr val="F2762E"/>
          </a:solidFill>
          <a:ln w="12700">
            <a:solidFill>
              <a:srgbClr val="FFFFFF"/>
            </a:solidFill>
            <a:prstDash val="solid"/>
          </a:ln>
        </p:spPr>
      </p:sp>
      <p:sp>
        <p:nvSpPr>
          <p:cNvPr id="31" name="Text 29"/>
          <p:cNvSpPr txBox="1"/>
          <p:nvPr/>
        </p:nvSpPr>
        <p:spPr>
          <a:xfrm>
            <a:off x="2423160" y="4873752"/>
            <a:ext cx="164592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Revenue     ₹16,00,000</a:t>
            </a:r>
            <a:endParaRPr lang="en-US" sz="1100" dirty="0"/>
          </a:p>
        </p:txBody>
      </p:sp>
      <p:sp>
        <p:nvSpPr>
          <p:cNvPr id="32" name="Shape 30"/>
          <p:cNvSpPr/>
          <p:nvPr/>
        </p:nvSpPr>
        <p:spPr>
          <a:xfrm>
            <a:off x="548640" y="5394960"/>
            <a:ext cx="5394960" cy="1051560"/>
          </a:xfrm>
          <a:prstGeom prst="roundRect">
            <a:avLst>
              <a:gd name="adj" fmla="val 5217"/>
            </a:avLst>
          </a:prstGeom>
          <a:solidFill>
            <a:srgbClr val="FDEDE1"/>
          </a:solidFill>
          <a:ln w="12700">
            <a:solidFill>
              <a:srgbClr val="F2762E"/>
            </a:solidFill>
            <a:prstDash val="solid"/>
          </a:ln>
        </p:spPr>
      </p:sp>
      <p:sp>
        <p:nvSpPr>
          <p:cNvPr id="33" name="Text 31"/>
          <p:cNvSpPr txBox="1"/>
          <p:nvPr/>
        </p:nvSpPr>
        <p:spPr>
          <a:xfrm>
            <a:off x="749808" y="5504688"/>
            <a:ext cx="3657600" cy="201168"/>
          </a:xfrm>
          <a:prstGeom prst="rect">
            <a:avLst/>
          </a:prstGeom>
          <a:noFill/>
          <a:ln/>
        </p:spPr>
        <p:txBody>
          <a:bodyPr wrap="square" lIns="0" tIns="0" rIns="0" bIns="0" rtlCol="0" anchor="ctr"/>
          <a:lstStyle/>
          <a:p>
            <a:pPr indent="0" marL="0">
              <a:buNone/>
            </a:pPr>
            <a:r>
              <a:rPr lang="en-US" sz="950" b="1" spc="150" kern="0" dirty="0">
                <a:solidFill>
                  <a:srgbClr val="B4501A"/>
                </a:solidFill>
                <a:latin typeface="Calibri" pitchFamily="34" charset="0"/>
                <a:ea typeface="Calibri" pitchFamily="34" charset="-122"/>
                <a:cs typeface="Calibri" pitchFamily="34" charset="-120"/>
              </a:rPr>
              <a:t>DROP-OFF DIAGNOSTICS</a:t>
            </a:r>
            <a:endParaRPr lang="en-US" sz="950" dirty="0"/>
          </a:p>
        </p:txBody>
      </p:sp>
      <p:sp>
        <p:nvSpPr>
          <p:cNvPr id="34" name="Text 32"/>
          <p:cNvSpPr txBox="1"/>
          <p:nvPr/>
        </p:nvSpPr>
        <p:spPr>
          <a:xfrm>
            <a:off x="749808" y="5760720"/>
            <a:ext cx="2514600" cy="237744"/>
          </a:xfrm>
          <a:prstGeom prst="rect">
            <a:avLst/>
          </a:prstGeom>
          <a:noFill/>
          <a:ln/>
        </p:spPr>
        <p:txBody>
          <a:bodyPr wrap="square" lIns="0" tIns="0" rIns="0" bIns="0" rtlCol="0" anchor="ctr"/>
          <a:lstStyle/>
          <a:p>
            <a:pPr indent="0" marL="0">
              <a:buNone/>
            </a:pPr>
            <a:r>
              <a:rPr lang="en-US" sz="950" dirty="0">
                <a:solidFill>
                  <a:srgbClr val="7A3A13"/>
                </a:solidFill>
                <a:latin typeface="Calibri" pitchFamily="34" charset="0"/>
                <a:ea typeface="Calibri" pitchFamily="34" charset="-122"/>
                <a:cs typeface="Calibri" pitchFamily="34" charset="-120"/>
              </a:rPr>
              <a:t>Impression → click: creative or targeting</a:t>
            </a:r>
            <a:endParaRPr lang="en-US" sz="950" dirty="0"/>
          </a:p>
        </p:txBody>
      </p:sp>
      <p:sp>
        <p:nvSpPr>
          <p:cNvPr id="35" name="Text 33"/>
          <p:cNvSpPr txBox="1"/>
          <p:nvPr/>
        </p:nvSpPr>
        <p:spPr>
          <a:xfrm>
            <a:off x="3355848" y="5760720"/>
            <a:ext cx="2514600" cy="237744"/>
          </a:xfrm>
          <a:prstGeom prst="rect">
            <a:avLst/>
          </a:prstGeom>
          <a:noFill/>
          <a:ln/>
        </p:spPr>
        <p:txBody>
          <a:bodyPr wrap="square" lIns="0" tIns="0" rIns="0" bIns="0" rtlCol="0" anchor="ctr"/>
          <a:lstStyle/>
          <a:p>
            <a:pPr indent="0" marL="0">
              <a:buNone/>
            </a:pPr>
            <a:r>
              <a:rPr lang="en-US" sz="950" dirty="0">
                <a:solidFill>
                  <a:srgbClr val="7A3A13"/>
                </a:solidFill>
                <a:latin typeface="Calibri" pitchFamily="34" charset="0"/>
                <a:ea typeface="Calibri" pitchFamily="34" charset="-122"/>
                <a:cs typeface="Calibri" pitchFamily="34" charset="-120"/>
              </a:rPr>
              <a:t>Click → visit: landing page or tracking</a:t>
            </a:r>
            <a:endParaRPr lang="en-US" sz="950" dirty="0"/>
          </a:p>
        </p:txBody>
      </p:sp>
      <p:sp>
        <p:nvSpPr>
          <p:cNvPr id="36" name="Text 34"/>
          <p:cNvSpPr txBox="1"/>
          <p:nvPr/>
        </p:nvSpPr>
        <p:spPr>
          <a:xfrm>
            <a:off x="749808" y="6035040"/>
            <a:ext cx="2514600" cy="237744"/>
          </a:xfrm>
          <a:prstGeom prst="rect">
            <a:avLst/>
          </a:prstGeom>
          <a:noFill/>
          <a:ln/>
        </p:spPr>
        <p:txBody>
          <a:bodyPr wrap="square" lIns="0" tIns="0" rIns="0" bIns="0" rtlCol="0" anchor="ctr"/>
          <a:lstStyle/>
          <a:p>
            <a:pPr indent="0" marL="0">
              <a:buNone/>
            </a:pPr>
            <a:r>
              <a:rPr lang="en-US" sz="950" dirty="0">
                <a:solidFill>
                  <a:srgbClr val="7A3A13"/>
                </a:solidFill>
                <a:latin typeface="Calibri" pitchFamily="34" charset="0"/>
                <a:ea typeface="Calibri" pitchFamily="34" charset="-122"/>
                <a:cs typeface="Calibri" pitchFamily="34" charset="-120"/>
              </a:rPr>
              <a:t>Visit → lead: content or form design</a:t>
            </a:r>
            <a:endParaRPr lang="en-US" sz="950" dirty="0"/>
          </a:p>
        </p:txBody>
      </p:sp>
      <p:sp>
        <p:nvSpPr>
          <p:cNvPr id="37" name="Text 35"/>
          <p:cNvSpPr txBox="1"/>
          <p:nvPr/>
        </p:nvSpPr>
        <p:spPr>
          <a:xfrm>
            <a:off x="3355848" y="6035040"/>
            <a:ext cx="2514600" cy="237744"/>
          </a:xfrm>
          <a:prstGeom prst="rect">
            <a:avLst/>
          </a:prstGeom>
          <a:noFill/>
          <a:ln/>
        </p:spPr>
        <p:txBody>
          <a:bodyPr wrap="square" lIns="0" tIns="0" rIns="0" bIns="0" rtlCol="0" anchor="ctr"/>
          <a:lstStyle/>
          <a:p>
            <a:pPr indent="0" marL="0">
              <a:buNone/>
            </a:pPr>
            <a:r>
              <a:rPr lang="en-US" sz="950" dirty="0">
                <a:solidFill>
                  <a:srgbClr val="7A3A13"/>
                </a:solidFill>
                <a:latin typeface="Calibri" pitchFamily="34" charset="0"/>
                <a:ea typeface="Calibri" pitchFamily="34" charset="-122"/>
                <a:cs typeface="Calibri" pitchFamily="34" charset="-120"/>
              </a:rPr>
              <a:t>Lead → conversion: follow-up or offer</a:t>
            </a:r>
            <a:endParaRPr lang="en-US" sz="950" dirty="0"/>
          </a:p>
        </p:txBody>
      </p:sp>
      <p:sp>
        <p:nvSpPr>
          <p:cNvPr id="38" name="Text 36"/>
          <p:cNvSpPr txBox="1"/>
          <p:nvPr/>
        </p:nvSpPr>
        <p:spPr>
          <a:xfrm>
            <a:off x="6309360" y="2121408"/>
            <a:ext cx="5486400" cy="237744"/>
          </a:xfrm>
          <a:prstGeom prst="rect">
            <a:avLst/>
          </a:prstGeom>
          <a:noFill/>
          <a:ln/>
        </p:spPr>
        <p:txBody>
          <a:bodyPr wrap="square" lIns="0" tIns="0" rIns="0" bIns="0" rtlCol="0" anchor="ctr"/>
          <a:lstStyle/>
          <a:p>
            <a:pPr indent="0" marL="0">
              <a:buNone/>
            </a:pPr>
            <a:r>
              <a:rPr lang="en-US" sz="1250" b="1" dirty="0">
                <a:solidFill>
                  <a:srgbClr val="5D6B85"/>
                </a:solidFill>
                <a:latin typeface="Calibri" pitchFamily="34" charset="0"/>
                <a:ea typeface="Calibri" pitchFamily="34" charset="-122"/>
                <a:cs typeface="Calibri" pitchFamily="34" charset="-120"/>
              </a:rPr>
              <a:t>Cohort retention heatmap  (sample data)</a:t>
            </a:r>
            <a:endParaRPr lang="en-US" sz="1250" dirty="0"/>
          </a:p>
        </p:txBody>
      </p:sp>
      <p:sp>
        <p:nvSpPr>
          <p:cNvPr id="39" name="Text 37"/>
          <p:cNvSpPr txBox="1"/>
          <p:nvPr/>
        </p:nvSpPr>
        <p:spPr>
          <a:xfrm>
            <a:off x="7498080" y="2450592"/>
            <a:ext cx="1024128" cy="256032"/>
          </a:xfrm>
          <a:prstGeom prst="rect">
            <a:avLst/>
          </a:prstGeom>
          <a:noFill/>
          <a:ln/>
        </p:spPr>
        <p:txBody>
          <a:bodyPr wrap="square" lIns="0" tIns="0" rIns="0" bIns="0" rtlCol="0" anchor="ctr"/>
          <a:lstStyle/>
          <a:p>
            <a:pPr algn="ctr" indent="0" marL="0">
              <a:buNone/>
            </a:pPr>
            <a:r>
              <a:rPr lang="en-US" sz="1000" b="1" dirty="0">
                <a:solidFill>
                  <a:srgbClr val="5D6B85"/>
                </a:solidFill>
                <a:latin typeface="Calibri" pitchFamily="34" charset="0"/>
                <a:ea typeface="Calibri" pitchFamily="34" charset="-122"/>
                <a:cs typeface="Calibri" pitchFamily="34" charset="-120"/>
              </a:rPr>
              <a:t>Month 0</a:t>
            </a:r>
            <a:endParaRPr lang="en-US" sz="1000" dirty="0"/>
          </a:p>
        </p:txBody>
      </p:sp>
      <p:sp>
        <p:nvSpPr>
          <p:cNvPr id="40" name="Text 38"/>
          <p:cNvSpPr txBox="1"/>
          <p:nvPr/>
        </p:nvSpPr>
        <p:spPr>
          <a:xfrm>
            <a:off x="8522208" y="2450592"/>
            <a:ext cx="1024128" cy="256032"/>
          </a:xfrm>
          <a:prstGeom prst="rect">
            <a:avLst/>
          </a:prstGeom>
          <a:noFill/>
          <a:ln/>
        </p:spPr>
        <p:txBody>
          <a:bodyPr wrap="square" lIns="0" tIns="0" rIns="0" bIns="0" rtlCol="0" anchor="ctr"/>
          <a:lstStyle/>
          <a:p>
            <a:pPr algn="ctr" indent="0" marL="0">
              <a:buNone/>
            </a:pPr>
            <a:r>
              <a:rPr lang="en-US" sz="1000" b="1" dirty="0">
                <a:solidFill>
                  <a:srgbClr val="5D6B85"/>
                </a:solidFill>
                <a:latin typeface="Calibri" pitchFamily="34" charset="0"/>
                <a:ea typeface="Calibri" pitchFamily="34" charset="-122"/>
                <a:cs typeface="Calibri" pitchFamily="34" charset="-120"/>
              </a:rPr>
              <a:t>Month 1</a:t>
            </a:r>
            <a:endParaRPr lang="en-US" sz="1000" dirty="0"/>
          </a:p>
        </p:txBody>
      </p:sp>
      <p:sp>
        <p:nvSpPr>
          <p:cNvPr id="41" name="Text 39"/>
          <p:cNvSpPr txBox="1"/>
          <p:nvPr/>
        </p:nvSpPr>
        <p:spPr>
          <a:xfrm>
            <a:off x="9546336" y="2450592"/>
            <a:ext cx="1024128" cy="256032"/>
          </a:xfrm>
          <a:prstGeom prst="rect">
            <a:avLst/>
          </a:prstGeom>
          <a:noFill/>
          <a:ln/>
        </p:spPr>
        <p:txBody>
          <a:bodyPr wrap="square" lIns="0" tIns="0" rIns="0" bIns="0" rtlCol="0" anchor="ctr"/>
          <a:lstStyle/>
          <a:p>
            <a:pPr algn="ctr" indent="0" marL="0">
              <a:buNone/>
            </a:pPr>
            <a:r>
              <a:rPr lang="en-US" sz="1000" b="1" dirty="0">
                <a:solidFill>
                  <a:srgbClr val="5D6B85"/>
                </a:solidFill>
                <a:latin typeface="Calibri" pitchFamily="34" charset="0"/>
                <a:ea typeface="Calibri" pitchFamily="34" charset="-122"/>
                <a:cs typeface="Calibri" pitchFamily="34" charset="-120"/>
              </a:rPr>
              <a:t>Month 2</a:t>
            </a:r>
            <a:endParaRPr lang="en-US" sz="1000" dirty="0"/>
          </a:p>
        </p:txBody>
      </p:sp>
      <p:sp>
        <p:nvSpPr>
          <p:cNvPr id="42" name="Text 40"/>
          <p:cNvSpPr txBox="1"/>
          <p:nvPr/>
        </p:nvSpPr>
        <p:spPr>
          <a:xfrm>
            <a:off x="10570464" y="2450592"/>
            <a:ext cx="1024128" cy="256032"/>
          </a:xfrm>
          <a:prstGeom prst="rect">
            <a:avLst/>
          </a:prstGeom>
          <a:noFill/>
          <a:ln/>
        </p:spPr>
        <p:txBody>
          <a:bodyPr wrap="square" lIns="0" tIns="0" rIns="0" bIns="0" rtlCol="0" anchor="ctr"/>
          <a:lstStyle/>
          <a:p>
            <a:pPr algn="ctr" indent="0" marL="0">
              <a:buNone/>
            </a:pPr>
            <a:r>
              <a:rPr lang="en-US" sz="1000" b="1" dirty="0">
                <a:solidFill>
                  <a:srgbClr val="5D6B85"/>
                </a:solidFill>
                <a:latin typeface="Calibri" pitchFamily="34" charset="0"/>
                <a:ea typeface="Calibri" pitchFamily="34" charset="-122"/>
                <a:cs typeface="Calibri" pitchFamily="34" charset="-120"/>
              </a:rPr>
              <a:t>Month 3</a:t>
            </a:r>
            <a:endParaRPr lang="en-US" sz="1000" dirty="0"/>
          </a:p>
        </p:txBody>
      </p:sp>
      <p:sp>
        <p:nvSpPr>
          <p:cNvPr id="43" name="Text 41"/>
          <p:cNvSpPr txBox="1"/>
          <p:nvPr/>
        </p:nvSpPr>
        <p:spPr>
          <a:xfrm>
            <a:off x="6309360" y="2743200"/>
            <a:ext cx="1097280" cy="420624"/>
          </a:xfrm>
          <a:prstGeom prst="rect">
            <a:avLst/>
          </a:prstGeom>
          <a:noFill/>
          <a:ln/>
        </p:spPr>
        <p:txBody>
          <a:bodyPr wrap="square" lIns="0" tIns="0" rIns="0" bIns="0" rtlCol="0" anchor="ctr"/>
          <a:lstStyle/>
          <a:p>
            <a:pPr indent="0" marL="0">
              <a:buNone/>
            </a:pPr>
            <a:r>
              <a:rPr lang="en-US" sz="1050" b="1" dirty="0">
                <a:solidFill>
                  <a:srgbClr val="0B1B3A"/>
                </a:solidFill>
                <a:latin typeface="Calibri" pitchFamily="34" charset="0"/>
                <a:ea typeface="Calibri" pitchFamily="34" charset="-122"/>
                <a:cs typeface="Calibri" pitchFamily="34" charset="-120"/>
              </a:rPr>
              <a:t>January</a:t>
            </a:r>
            <a:endParaRPr lang="en-US" sz="1050" dirty="0"/>
          </a:p>
        </p:txBody>
      </p:sp>
      <p:sp>
        <p:nvSpPr>
          <p:cNvPr id="44" name="Shape 42"/>
          <p:cNvSpPr/>
          <p:nvPr/>
        </p:nvSpPr>
        <p:spPr>
          <a:xfrm>
            <a:off x="7498080" y="2743200"/>
            <a:ext cx="987552" cy="420624"/>
          </a:xfrm>
          <a:prstGeom prst="rect">
            <a:avLst/>
          </a:prstGeom>
          <a:solidFill>
            <a:srgbClr val="0A8377">
              <a:alpha val="84000"/>
            </a:srgbClr>
          </a:solidFill>
          <a:ln w="12700">
            <a:solidFill>
              <a:srgbClr val="FFFFFF"/>
            </a:solidFill>
            <a:prstDash val="solid"/>
          </a:ln>
        </p:spPr>
      </p:sp>
      <p:sp>
        <p:nvSpPr>
          <p:cNvPr id="45" name="Text 43"/>
          <p:cNvSpPr txBox="1"/>
          <p:nvPr/>
        </p:nvSpPr>
        <p:spPr>
          <a:xfrm>
            <a:off x="7498080" y="2743200"/>
            <a:ext cx="98755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46" name="Shape 44"/>
          <p:cNvSpPr/>
          <p:nvPr/>
        </p:nvSpPr>
        <p:spPr>
          <a:xfrm>
            <a:off x="8522208" y="2743200"/>
            <a:ext cx="987552" cy="420624"/>
          </a:xfrm>
          <a:prstGeom prst="rect">
            <a:avLst/>
          </a:prstGeom>
          <a:solidFill>
            <a:srgbClr val="0A8377">
              <a:alpha val="42000"/>
            </a:srgbClr>
          </a:solidFill>
          <a:ln w="12700">
            <a:solidFill>
              <a:srgbClr val="FFFFFF"/>
            </a:solidFill>
            <a:prstDash val="solid"/>
          </a:ln>
        </p:spPr>
      </p:sp>
      <p:sp>
        <p:nvSpPr>
          <p:cNvPr id="47" name="Text 45"/>
          <p:cNvSpPr txBox="1"/>
          <p:nvPr/>
        </p:nvSpPr>
        <p:spPr>
          <a:xfrm>
            <a:off x="8522208" y="2743200"/>
            <a:ext cx="987552" cy="420624"/>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42%</a:t>
            </a:r>
            <a:endParaRPr lang="en-US" sz="1050" dirty="0"/>
          </a:p>
        </p:txBody>
      </p:sp>
      <p:sp>
        <p:nvSpPr>
          <p:cNvPr id="48" name="Shape 46"/>
          <p:cNvSpPr/>
          <p:nvPr/>
        </p:nvSpPr>
        <p:spPr>
          <a:xfrm>
            <a:off x="9546336" y="2743200"/>
            <a:ext cx="987552" cy="420624"/>
          </a:xfrm>
          <a:prstGeom prst="rect">
            <a:avLst/>
          </a:prstGeom>
          <a:solidFill>
            <a:srgbClr val="0A8377">
              <a:alpha val="32000"/>
            </a:srgbClr>
          </a:solidFill>
          <a:ln w="12700">
            <a:solidFill>
              <a:srgbClr val="FFFFFF"/>
            </a:solidFill>
            <a:prstDash val="solid"/>
          </a:ln>
        </p:spPr>
      </p:sp>
      <p:sp>
        <p:nvSpPr>
          <p:cNvPr id="49" name="Text 47"/>
          <p:cNvSpPr txBox="1"/>
          <p:nvPr/>
        </p:nvSpPr>
        <p:spPr>
          <a:xfrm>
            <a:off x="9546336" y="2743200"/>
            <a:ext cx="987552" cy="420624"/>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28%</a:t>
            </a:r>
            <a:endParaRPr lang="en-US" sz="1050" dirty="0"/>
          </a:p>
        </p:txBody>
      </p:sp>
      <p:sp>
        <p:nvSpPr>
          <p:cNvPr id="50" name="Shape 48"/>
          <p:cNvSpPr/>
          <p:nvPr/>
        </p:nvSpPr>
        <p:spPr>
          <a:xfrm>
            <a:off x="10570464" y="2743200"/>
            <a:ext cx="987552" cy="420624"/>
          </a:xfrm>
          <a:prstGeom prst="rect">
            <a:avLst/>
          </a:prstGeom>
          <a:solidFill>
            <a:srgbClr val="0A8377">
              <a:alpha val="27000"/>
            </a:srgbClr>
          </a:solidFill>
          <a:ln w="12700">
            <a:solidFill>
              <a:srgbClr val="FFFFFF"/>
            </a:solidFill>
            <a:prstDash val="solid"/>
          </a:ln>
        </p:spPr>
      </p:sp>
      <p:sp>
        <p:nvSpPr>
          <p:cNvPr id="51" name="Text 49"/>
          <p:cNvSpPr txBox="1"/>
          <p:nvPr/>
        </p:nvSpPr>
        <p:spPr>
          <a:xfrm>
            <a:off x="10570464" y="2743200"/>
            <a:ext cx="987552" cy="420624"/>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21%</a:t>
            </a:r>
            <a:endParaRPr lang="en-US" sz="1050" dirty="0"/>
          </a:p>
        </p:txBody>
      </p:sp>
      <p:sp>
        <p:nvSpPr>
          <p:cNvPr id="52" name="Text 50"/>
          <p:cNvSpPr txBox="1"/>
          <p:nvPr/>
        </p:nvSpPr>
        <p:spPr>
          <a:xfrm>
            <a:off x="6309360" y="3218688"/>
            <a:ext cx="1097280" cy="420624"/>
          </a:xfrm>
          <a:prstGeom prst="rect">
            <a:avLst/>
          </a:prstGeom>
          <a:noFill/>
          <a:ln/>
        </p:spPr>
        <p:txBody>
          <a:bodyPr wrap="square" lIns="0" tIns="0" rIns="0" bIns="0" rtlCol="0" anchor="ctr"/>
          <a:lstStyle/>
          <a:p>
            <a:pPr indent="0" marL="0">
              <a:buNone/>
            </a:pPr>
            <a:r>
              <a:rPr lang="en-US" sz="1050" b="1" dirty="0">
                <a:solidFill>
                  <a:srgbClr val="0B1B3A"/>
                </a:solidFill>
                <a:latin typeface="Calibri" pitchFamily="34" charset="0"/>
                <a:ea typeface="Calibri" pitchFamily="34" charset="-122"/>
                <a:cs typeface="Calibri" pitchFamily="34" charset="-120"/>
              </a:rPr>
              <a:t>February</a:t>
            </a:r>
            <a:endParaRPr lang="en-US" sz="1050" dirty="0"/>
          </a:p>
        </p:txBody>
      </p:sp>
      <p:sp>
        <p:nvSpPr>
          <p:cNvPr id="53" name="Shape 51"/>
          <p:cNvSpPr/>
          <p:nvPr/>
        </p:nvSpPr>
        <p:spPr>
          <a:xfrm>
            <a:off x="7498080" y="3218688"/>
            <a:ext cx="987552" cy="420624"/>
          </a:xfrm>
          <a:prstGeom prst="rect">
            <a:avLst/>
          </a:prstGeom>
          <a:solidFill>
            <a:srgbClr val="0A8377">
              <a:alpha val="84000"/>
            </a:srgbClr>
          </a:solidFill>
          <a:ln w="12700">
            <a:solidFill>
              <a:srgbClr val="FFFFFF"/>
            </a:solidFill>
            <a:prstDash val="solid"/>
          </a:ln>
        </p:spPr>
      </p:sp>
      <p:sp>
        <p:nvSpPr>
          <p:cNvPr id="54" name="Text 52"/>
          <p:cNvSpPr txBox="1"/>
          <p:nvPr/>
        </p:nvSpPr>
        <p:spPr>
          <a:xfrm>
            <a:off x="7498080" y="3218688"/>
            <a:ext cx="98755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55" name="Shape 53"/>
          <p:cNvSpPr/>
          <p:nvPr/>
        </p:nvSpPr>
        <p:spPr>
          <a:xfrm>
            <a:off x="8522208" y="3218688"/>
            <a:ext cx="987552" cy="420624"/>
          </a:xfrm>
          <a:prstGeom prst="rect">
            <a:avLst/>
          </a:prstGeom>
          <a:solidFill>
            <a:srgbClr val="0A8377">
              <a:alpha val="39000"/>
            </a:srgbClr>
          </a:solidFill>
          <a:ln w="12700">
            <a:solidFill>
              <a:srgbClr val="FFFFFF"/>
            </a:solidFill>
            <a:prstDash val="solid"/>
          </a:ln>
        </p:spPr>
      </p:sp>
      <p:sp>
        <p:nvSpPr>
          <p:cNvPr id="56" name="Text 54"/>
          <p:cNvSpPr txBox="1"/>
          <p:nvPr/>
        </p:nvSpPr>
        <p:spPr>
          <a:xfrm>
            <a:off x="8522208" y="3218688"/>
            <a:ext cx="987552" cy="420624"/>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38%</a:t>
            </a:r>
            <a:endParaRPr lang="en-US" sz="1050" dirty="0"/>
          </a:p>
        </p:txBody>
      </p:sp>
      <p:sp>
        <p:nvSpPr>
          <p:cNvPr id="57" name="Shape 55"/>
          <p:cNvSpPr/>
          <p:nvPr/>
        </p:nvSpPr>
        <p:spPr>
          <a:xfrm>
            <a:off x="9546336" y="3218688"/>
            <a:ext cx="987552" cy="420624"/>
          </a:xfrm>
          <a:prstGeom prst="rect">
            <a:avLst/>
          </a:prstGeom>
          <a:solidFill>
            <a:srgbClr val="0A8377">
              <a:alpha val="29000"/>
            </a:srgbClr>
          </a:solidFill>
          <a:ln w="12700">
            <a:solidFill>
              <a:srgbClr val="FFFFFF"/>
            </a:solidFill>
            <a:prstDash val="solid"/>
          </a:ln>
        </p:spPr>
      </p:sp>
      <p:sp>
        <p:nvSpPr>
          <p:cNvPr id="58" name="Text 56"/>
          <p:cNvSpPr txBox="1"/>
          <p:nvPr/>
        </p:nvSpPr>
        <p:spPr>
          <a:xfrm>
            <a:off x="9546336" y="3218688"/>
            <a:ext cx="987552" cy="420624"/>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24%</a:t>
            </a:r>
            <a:endParaRPr lang="en-US" sz="1050" dirty="0"/>
          </a:p>
        </p:txBody>
      </p:sp>
      <p:sp>
        <p:nvSpPr>
          <p:cNvPr id="59" name="Shape 57"/>
          <p:cNvSpPr/>
          <p:nvPr/>
        </p:nvSpPr>
        <p:spPr>
          <a:xfrm>
            <a:off x="10570464" y="3218688"/>
            <a:ext cx="987552" cy="420624"/>
          </a:xfrm>
          <a:prstGeom prst="rect">
            <a:avLst/>
          </a:prstGeom>
          <a:solidFill>
            <a:srgbClr val="0A8377">
              <a:alpha val="25000"/>
            </a:srgbClr>
          </a:solidFill>
          <a:ln w="12700">
            <a:solidFill>
              <a:srgbClr val="FFFFFF"/>
            </a:solidFill>
            <a:prstDash val="solid"/>
          </a:ln>
        </p:spPr>
      </p:sp>
      <p:sp>
        <p:nvSpPr>
          <p:cNvPr id="60" name="Text 58"/>
          <p:cNvSpPr txBox="1"/>
          <p:nvPr/>
        </p:nvSpPr>
        <p:spPr>
          <a:xfrm>
            <a:off x="10570464" y="3218688"/>
            <a:ext cx="987552" cy="420624"/>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18%</a:t>
            </a:r>
            <a:endParaRPr lang="en-US" sz="1050" dirty="0"/>
          </a:p>
        </p:txBody>
      </p:sp>
      <p:sp>
        <p:nvSpPr>
          <p:cNvPr id="61" name="Text 59"/>
          <p:cNvSpPr txBox="1"/>
          <p:nvPr/>
        </p:nvSpPr>
        <p:spPr>
          <a:xfrm>
            <a:off x="6309360" y="3694176"/>
            <a:ext cx="1097280" cy="420624"/>
          </a:xfrm>
          <a:prstGeom prst="rect">
            <a:avLst/>
          </a:prstGeom>
          <a:noFill/>
          <a:ln/>
        </p:spPr>
        <p:txBody>
          <a:bodyPr wrap="square" lIns="0" tIns="0" rIns="0" bIns="0" rtlCol="0" anchor="ctr"/>
          <a:lstStyle/>
          <a:p>
            <a:pPr indent="0" marL="0">
              <a:buNone/>
            </a:pPr>
            <a:r>
              <a:rPr lang="en-US" sz="1050" b="1" dirty="0">
                <a:solidFill>
                  <a:srgbClr val="0B1B3A"/>
                </a:solidFill>
                <a:latin typeface="Calibri" pitchFamily="34" charset="0"/>
                <a:ea typeface="Calibri" pitchFamily="34" charset="-122"/>
                <a:cs typeface="Calibri" pitchFamily="34" charset="-120"/>
              </a:rPr>
              <a:t>March</a:t>
            </a:r>
            <a:endParaRPr lang="en-US" sz="1050" dirty="0"/>
          </a:p>
        </p:txBody>
      </p:sp>
      <p:sp>
        <p:nvSpPr>
          <p:cNvPr id="62" name="Shape 60"/>
          <p:cNvSpPr/>
          <p:nvPr/>
        </p:nvSpPr>
        <p:spPr>
          <a:xfrm>
            <a:off x="7498080" y="3694176"/>
            <a:ext cx="987552" cy="420624"/>
          </a:xfrm>
          <a:prstGeom prst="rect">
            <a:avLst/>
          </a:prstGeom>
          <a:solidFill>
            <a:srgbClr val="0A8377">
              <a:alpha val="84000"/>
            </a:srgbClr>
          </a:solidFill>
          <a:ln w="12700">
            <a:solidFill>
              <a:srgbClr val="FFFFFF"/>
            </a:solidFill>
            <a:prstDash val="solid"/>
          </a:ln>
        </p:spPr>
      </p:sp>
      <p:sp>
        <p:nvSpPr>
          <p:cNvPr id="63" name="Text 61"/>
          <p:cNvSpPr txBox="1"/>
          <p:nvPr/>
        </p:nvSpPr>
        <p:spPr>
          <a:xfrm>
            <a:off x="7498080" y="3694176"/>
            <a:ext cx="98755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64" name="Shape 62"/>
          <p:cNvSpPr/>
          <p:nvPr/>
        </p:nvSpPr>
        <p:spPr>
          <a:xfrm>
            <a:off x="8522208" y="3694176"/>
            <a:ext cx="987552" cy="420624"/>
          </a:xfrm>
          <a:prstGeom prst="rect">
            <a:avLst/>
          </a:prstGeom>
          <a:solidFill>
            <a:srgbClr val="0A8377">
              <a:alpha val="44000"/>
            </a:srgbClr>
          </a:solidFill>
          <a:ln w="12700">
            <a:solidFill>
              <a:srgbClr val="FFFFFF"/>
            </a:solidFill>
            <a:prstDash val="solid"/>
          </a:ln>
        </p:spPr>
      </p:sp>
      <p:sp>
        <p:nvSpPr>
          <p:cNvPr id="65" name="Text 63"/>
          <p:cNvSpPr txBox="1"/>
          <p:nvPr/>
        </p:nvSpPr>
        <p:spPr>
          <a:xfrm>
            <a:off x="8522208" y="3694176"/>
            <a:ext cx="987552" cy="420624"/>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45%</a:t>
            </a:r>
            <a:endParaRPr lang="en-US" sz="1050" dirty="0"/>
          </a:p>
        </p:txBody>
      </p:sp>
      <p:sp>
        <p:nvSpPr>
          <p:cNvPr id="66" name="Shape 64"/>
          <p:cNvSpPr/>
          <p:nvPr/>
        </p:nvSpPr>
        <p:spPr>
          <a:xfrm>
            <a:off x="9546336" y="3694176"/>
            <a:ext cx="987552" cy="420624"/>
          </a:xfrm>
          <a:prstGeom prst="rect">
            <a:avLst/>
          </a:prstGeom>
          <a:solidFill>
            <a:srgbClr val="0A8377">
              <a:alpha val="34000"/>
            </a:srgbClr>
          </a:solidFill>
          <a:ln w="12700">
            <a:solidFill>
              <a:srgbClr val="FFFFFF"/>
            </a:solidFill>
            <a:prstDash val="solid"/>
          </a:ln>
        </p:spPr>
      </p:sp>
      <p:sp>
        <p:nvSpPr>
          <p:cNvPr id="67" name="Text 65"/>
          <p:cNvSpPr txBox="1"/>
          <p:nvPr/>
        </p:nvSpPr>
        <p:spPr>
          <a:xfrm>
            <a:off x="9546336" y="3694176"/>
            <a:ext cx="987552" cy="420624"/>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31%</a:t>
            </a:r>
            <a:endParaRPr lang="en-US" sz="1050" dirty="0"/>
          </a:p>
        </p:txBody>
      </p:sp>
      <p:sp>
        <p:nvSpPr>
          <p:cNvPr id="68" name="Shape 66"/>
          <p:cNvSpPr/>
          <p:nvPr/>
        </p:nvSpPr>
        <p:spPr>
          <a:xfrm>
            <a:off x="10570464" y="3694176"/>
            <a:ext cx="987552" cy="420624"/>
          </a:xfrm>
          <a:prstGeom prst="rect">
            <a:avLst/>
          </a:prstGeom>
          <a:solidFill>
            <a:srgbClr val="0A8377">
              <a:alpha val="29000"/>
            </a:srgbClr>
          </a:solidFill>
          <a:ln w="12700">
            <a:solidFill>
              <a:srgbClr val="FFFFFF"/>
            </a:solidFill>
            <a:prstDash val="solid"/>
          </a:ln>
        </p:spPr>
      </p:sp>
      <p:sp>
        <p:nvSpPr>
          <p:cNvPr id="69" name="Text 67"/>
          <p:cNvSpPr txBox="1"/>
          <p:nvPr/>
        </p:nvSpPr>
        <p:spPr>
          <a:xfrm>
            <a:off x="10570464" y="3694176"/>
            <a:ext cx="987552" cy="420624"/>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23%</a:t>
            </a:r>
            <a:endParaRPr lang="en-US" sz="1050" dirty="0"/>
          </a:p>
        </p:txBody>
      </p:sp>
      <p:sp>
        <p:nvSpPr>
          <p:cNvPr id="70" name="Shape 68"/>
          <p:cNvSpPr/>
          <p:nvPr/>
        </p:nvSpPr>
        <p:spPr>
          <a:xfrm>
            <a:off x="6309360" y="4315968"/>
            <a:ext cx="5303520" cy="2130552"/>
          </a:xfrm>
          <a:prstGeom prst="roundRect">
            <a:avLst>
              <a:gd name="adj" fmla="val 2575"/>
            </a:avLst>
          </a:prstGeom>
          <a:solidFill>
            <a:srgbClr val="FFFFFF"/>
          </a:solidFill>
          <a:ln w="12700">
            <a:solidFill>
              <a:srgbClr val="D6DDEA"/>
            </a:solidFill>
            <a:prstDash val="solid"/>
          </a:ln>
        </p:spPr>
      </p:sp>
      <p:sp>
        <p:nvSpPr>
          <p:cNvPr id="71" name="Text 69"/>
          <p:cNvSpPr txBox="1"/>
          <p:nvPr/>
        </p:nvSpPr>
        <p:spPr>
          <a:xfrm>
            <a:off x="6510528" y="4443984"/>
            <a:ext cx="4572000" cy="201168"/>
          </a:xfrm>
          <a:prstGeom prst="rect">
            <a:avLst/>
          </a:prstGeom>
          <a:noFill/>
          <a:ln/>
        </p:spPr>
        <p:txBody>
          <a:bodyPr wrap="square" lIns="0" tIns="0" rIns="0" bIns="0" rtlCol="0" anchor="ctr"/>
          <a:lstStyle/>
          <a:p>
            <a:pPr indent="0" marL="0">
              <a:buNone/>
            </a:pPr>
            <a:r>
              <a:rPr lang="en-US" sz="950" b="1" spc="150" kern="0" dirty="0">
                <a:solidFill>
                  <a:srgbClr val="0A8377"/>
                </a:solidFill>
                <a:latin typeface="Calibri" pitchFamily="34" charset="0"/>
                <a:ea typeface="Calibri" pitchFamily="34" charset="-122"/>
                <a:cs typeface="Calibri" pitchFamily="34" charset="-120"/>
              </a:rPr>
              <a:t>COHORTS ARE GROUPED BY</a:t>
            </a:r>
            <a:endParaRPr lang="en-US" sz="950" dirty="0"/>
          </a:p>
        </p:txBody>
      </p:sp>
      <p:sp>
        <p:nvSpPr>
          <p:cNvPr id="72" name="Shape 70"/>
          <p:cNvSpPr/>
          <p:nvPr/>
        </p:nvSpPr>
        <p:spPr>
          <a:xfrm>
            <a:off x="6510528" y="4700016"/>
            <a:ext cx="1572768" cy="310896"/>
          </a:xfrm>
          <a:prstGeom prst="roundRect">
            <a:avLst>
              <a:gd name="adj" fmla="val 17647"/>
            </a:avLst>
          </a:prstGeom>
          <a:solidFill>
            <a:srgbClr val="E3F6F3"/>
          </a:solidFill>
          <a:ln w="9525">
            <a:solidFill>
              <a:srgbClr val="0FB5A6"/>
            </a:solidFill>
            <a:prstDash val="solid"/>
          </a:ln>
        </p:spPr>
      </p:sp>
      <p:sp>
        <p:nvSpPr>
          <p:cNvPr id="73" name="Text 71"/>
          <p:cNvSpPr txBox="1"/>
          <p:nvPr/>
        </p:nvSpPr>
        <p:spPr>
          <a:xfrm>
            <a:off x="6510528" y="4700016"/>
            <a:ext cx="1572768" cy="310896"/>
          </a:xfrm>
          <a:prstGeom prst="rect">
            <a:avLst/>
          </a:prstGeom>
          <a:noFill/>
          <a:ln/>
        </p:spPr>
        <p:txBody>
          <a:bodyPr wrap="square" lIns="0" tIns="0" rIns="0" bIns="0" rtlCol="0" anchor="ctr"/>
          <a:lstStyle/>
          <a:p>
            <a:pPr algn="ctr" indent="0" marL="0">
              <a:buNone/>
            </a:pPr>
            <a:r>
              <a:rPr lang="en-US" sz="1000" b="1" dirty="0">
                <a:solidFill>
                  <a:srgbClr val="0A8377"/>
                </a:solidFill>
                <a:latin typeface="Calibri" pitchFamily="34" charset="0"/>
                <a:ea typeface="Calibri" pitchFamily="34" charset="-122"/>
                <a:cs typeface="Calibri" pitchFamily="34" charset="-120"/>
              </a:rPr>
              <a:t>Signup month</a:t>
            </a:r>
            <a:endParaRPr lang="en-US" sz="1000" dirty="0"/>
          </a:p>
        </p:txBody>
      </p:sp>
      <p:sp>
        <p:nvSpPr>
          <p:cNvPr id="74" name="Shape 72"/>
          <p:cNvSpPr/>
          <p:nvPr/>
        </p:nvSpPr>
        <p:spPr>
          <a:xfrm>
            <a:off x="8183880" y="4700016"/>
            <a:ext cx="1572768" cy="310896"/>
          </a:xfrm>
          <a:prstGeom prst="roundRect">
            <a:avLst>
              <a:gd name="adj" fmla="val 17647"/>
            </a:avLst>
          </a:prstGeom>
          <a:solidFill>
            <a:srgbClr val="E3F6F3"/>
          </a:solidFill>
          <a:ln w="9525">
            <a:solidFill>
              <a:srgbClr val="0FB5A6"/>
            </a:solidFill>
            <a:prstDash val="solid"/>
          </a:ln>
        </p:spPr>
      </p:sp>
      <p:sp>
        <p:nvSpPr>
          <p:cNvPr id="75" name="Text 73"/>
          <p:cNvSpPr txBox="1"/>
          <p:nvPr/>
        </p:nvSpPr>
        <p:spPr>
          <a:xfrm>
            <a:off x="8183880" y="4700016"/>
            <a:ext cx="1572768" cy="310896"/>
          </a:xfrm>
          <a:prstGeom prst="rect">
            <a:avLst/>
          </a:prstGeom>
          <a:noFill/>
          <a:ln/>
        </p:spPr>
        <p:txBody>
          <a:bodyPr wrap="square" lIns="0" tIns="0" rIns="0" bIns="0" rtlCol="0" anchor="ctr"/>
          <a:lstStyle/>
          <a:p>
            <a:pPr algn="ctr" indent="0" marL="0">
              <a:buNone/>
            </a:pPr>
            <a:r>
              <a:rPr lang="en-US" sz="1000" b="1" dirty="0">
                <a:solidFill>
                  <a:srgbClr val="0A8377"/>
                </a:solidFill>
                <a:latin typeface="Calibri" pitchFamily="34" charset="0"/>
                <a:ea typeface="Calibri" pitchFamily="34" charset="-122"/>
                <a:cs typeface="Calibri" pitchFamily="34" charset="-120"/>
              </a:rPr>
              <a:t>First-touch channel</a:t>
            </a:r>
            <a:endParaRPr lang="en-US" sz="1000" dirty="0"/>
          </a:p>
        </p:txBody>
      </p:sp>
      <p:sp>
        <p:nvSpPr>
          <p:cNvPr id="76" name="Shape 74"/>
          <p:cNvSpPr/>
          <p:nvPr/>
        </p:nvSpPr>
        <p:spPr>
          <a:xfrm>
            <a:off x="9857232" y="4700016"/>
            <a:ext cx="1572768" cy="310896"/>
          </a:xfrm>
          <a:prstGeom prst="roundRect">
            <a:avLst>
              <a:gd name="adj" fmla="val 17647"/>
            </a:avLst>
          </a:prstGeom>
          <a:solidFill>
            <a:srgbClr val="E3F6F3"/>
          </a:solidFill>
          <a:ln w="9525">
            <a:solidFill>
              <a:srgbClr val="0FB5A6"/>
            </a:solidFill>
            <a:prstDash val="solid"/>
          </a:ln>
        </p:spPr>
      </p:sp>
      <p:sp>
        <p:nvSpPr>
          <p:cNvPr id="77" name="Text 75"/>
          <p:cNvSpPr txBox="1"/>
          <p:nvPr/>
        </p:nvSpPr>
        <p:spPr>
          <a:xfrm>
            <a:off x="9857232" y="4700016"/>
            <a:ext cx="1572768" cy="310896"/>
          </a:xfrm>
          <a:prstGeom prst="rect">
            <a:avLst/>
          </a:prstGeom>
          <a:noFill/>
          <a:ln/>
        </p:spPr>
        <p:txBody>
          <a:bodyPr wrap="square" lIns="0" tIns="0" rIns="0" bIns="0" rtlCol="0" anchor="ctr"/>
          <a:lstStyle/>
          <a:p>
            <a:pPr algn="ctr" indent="0" marL="0">
              <a:buNone/>
            </a:pPr>
            <a:r>
              <a:rPr lang="en-US" sz="1000" b="1" dirty="0">
                <a:solidFill>
                  <a:srgbClr val="0A8377"/>
                </a:solidFill>
                <a:latin typeface="Calibri" pitchFamily="34" charset="0"/>
                <a:ea typeface="Calibri" pitchFamily="34" charset="-122"/>
                <a:cs typeface="Calibri" pitchFamily="34" charset="-120"/>
              </a:rPr>
              <a:t>Campaign</a:t>
            </a:r>
            <a:endParaRPr lang="en-US" sz="1000" dirty="0"/>
          </a:p>
        </p:txBody>
      </p:sp>
      <p:sp>
        <p:nvSpPr>
          <p:cNvPr id="78" name="Shape 76"/>
          <p:cNvSpPr/>
          <p:nvPr/>
        </p:nvSpPr>
        <p:spPr>
          <a:xfrm>
            <a:off x="6510528" y="5084064"/>
            <a:ext cx="1572768" cy="310896"/>
          </a:xfrm>
          <a:prstGeom prst="roundRect">
            <a:avLst>
              <a:gd name="adj" fmla="val 17647"/>
            </a:avLst>
          </a:prstGeom>
          <a:solidFill>
            <a:srgbClr val="E3F6F3"/>
          </a:solidFill>
          <a:ln w="9525">
            <a:solidFill>
              <a:srgbClr val="0FB5A6"/>
            </a:solidFill>
            <a:prstDash val="solid"/>
          </a:ln>
        </p:spPr>
      </p:sp>
      <p:sp>
        <p:nvSpPr>
          <p:cNvPr id="79" name="Text 77"/>
          <p:cNvSpPr txBox="1"/>
          <p:nvPr/>
        </p:nvSpPr>
        <p:spPr>
          <a:xfrm>
            <a:off x="6510528" y="5084064"/>
            <a:ext cx="1572768" cy="310896"/>
          </a:xfrm>
          <a:prstGeom prst="rect">
            <a:avLst/>
          </a:prstGeom>
          <a:noFill/>
          <a:ln/>
        </p:spPr>
        <p:txBody>
          <a:bodyPr wrap="square" lIns="0" tIns="0" rIns="0" bIns="0" rtlCol="0" anchor="ctr"/>
          <a:lstStyle/>
          <a:p>
            <a:pPr algn="ctr" indent="0" marL="0">
              <a:buNone/>
            </a:pPr>
            <a:r>
              <a:rPr lang="en-US" sz="1000" b="1" dirty="0">
                <a:solidFill>
                  <a:srgbClr val="0A8377"/>
                </a:solidFill>
                <a:latin typeface="Calibri" pitchFamily="34" charset="0"/>
                <a:ea typeface="Calibri" pitchFamily="34" charset="-122"/>
                <a:cs typeface="Calibri" pitchFamily="34" charset="-120"/>
              </a:rPr>
              <a:t>Product</a:t>
            </a:r>
            <a:endParaRPr lang="en-US" sz="1000" dirty="0"/>
          </a:p>
        </p:txBody>
      </p:sp>
      <p:sp>
        <p:nvSpPr>
          <p:cNvPr id="80" name="Shape 78"/>
          <p:cNvSpPr/>
          <p:nvPr/>
        </p:nvSpPr>
        <p:spPr>
          <a:xfrm>
            <a:off x="8183880" y="5084064"/>
            <a:ext cx="1572768" cy="310896"/>
          </a:xfrm>
          <a:prstGeom prst="roundRect">
            <a:avLst>
              <a:gd name="adj" fmla="val 17647"/>
            </a:avLst>
          </a:prstGeom>
          <a:solidFill>
            <a:srgbClr val="E3F6F3"/>
          </a:solidFill>
          <a:ln w="9525">
            <a:solidFill>
              <a:srgbClr val="0FB5A6"/>
            </a:solidFill>
            <a:prstDash val="solid"/>
          </a:ln>
        </p:spPr>
      </p:sp>
      <p:sp>
        <p:nvSpPr>
          <p:cNvPr id="81" name="Text 79"/>
          <p:cNvSpPr txBox="1"/>
          <p:nvPr/>
        </p:nvSpPr>
        <p:spPr>
          <a:xfrm>
            <a:off x="8183880" y="5084064"/>
            <a:ext cx="1572768" cy="310896"/>
          </a:xfrm>
          <a:prstGeom prst="rect">
            <a:avLst/>
          </a:prstGeom>
          <a:noFill/>
          <a:ln/>
        </p:spPr>
        <p:txBody>
          <a:bodyPr wrap="square" lIns="0" tIns="0" rIns="0" bIns="0" rtlCol="0" anchor="ctr"/>
          <a:lstStyle/>
          <a:p>
            <a:pPr algn="ctr" indent="0" marL="0">
              <a:buNone/>
            </a:pPr>
            <a:r>
              <a:rPr lang="en-US" sz="1000" b="1" dirty="0">
                <a:solidFill>
                  <a:srgbClr val="0A8377"/>
                </a:solidFill>
                <a:latin typeface="Calibri" pitchFamily="34" charset="0"/>
                <a:ea typeface="Calibri" pitchFamily="34" charset="-122"/>
                <a:cs typeface="Calibri" pitchFamily="34" charset="-120"/>
              </a:rPr>
              <a:t>Region</a:t>
            </a:r>
            <a:endParaRPr lang="en-US" sz="1000" dirty="0"/>
          </a:p>
        </p:txBody>
      </p:sp>
      <p:sp>
        <p:nvSpPr>
          <p:cNvPr id="82" name="Text 80"/>
          <p:cNvSpPr txBox="1"/>
          <p:nvPr/>
        </p:nvSpPr>
        <p:spPr>
          <a:xfrm>
            <a:off x="6510528" y="5541264"/>
            <a:ext cx="4572000" cy="201168"/>
          </a:xfrm>
          <a:prstGeom prst="rect">
            <a:avLst/>
          </a:prstGeom>
          <a:noFill/>
          <a:ln/>
        </p:spPr>
        <p:txBody>
          <a:bodyPr wrap="square" lIns="0" tIns="0" rIns="0" bIns="0" rtlCol="0" anchor="ctr"/>
          <a:lstStyle/>
          <a:p>
            <a:pPr indent="0" marL="0">
              <a:buNone/>
            </a:pPr>
            <a:r>
              <a:rPr lang="en-US" sz="950" b="1" spc="150" kern="0" dirty="0">
                <a:solidFill>
                  <a:srgbClr val="0A8377"/>
                </a:solidFill>
                <a:latin typeface="Calibri" pitchFamily="34" charset="0"/>
                <a:ea typeface="Calibri" pitchFamily="34" charset="-122"/>
                <a:cs typeface="Calibri" pitchFamily="34" charset="-120"/>
              </a:rPr>
              <a:t>AND TRACKED ON</a:t>
            </a:r>
            <a:endParaRPr lang="en-US" sz="950" dirty="0"/>
          </a:p>
        </p:txBody>
      </p:sp>
      <p:sp>
        <p:nvSpPr>
          <p:cNvPr id="83" name="Text 81"/>
          <p:cNvSpPr txBox="1"/>
          <p:nvPr/>
        </p:nvSpPr>
        <p:spPr>
          <a:xfrm>
            <a:off x="6510528" y="5779008"/>
            <a:ext cx="4937760" cy="457200"/>
          </a:xfrm>
          <a:prstGeom prst="rect">
            <a:avLst/>
          </a:prstGeom>
          <a:noFill/>
          <a:ln/>
        </p:spPr>
        <p:txBody>
          <a:bodyPr wrap="square" lIns="0" tIns="0" rIns="0" bIns="0" rtlCol="0" anchor="ctr"/>
          <a:lstStyle/>
          <a:p>
            <a:pPr indent="0" marL="0">
              <a:buNone/>
            </a:pPr>
            <a:r>
              <a:rPr lang="en-US" sz="1100" dirty="0">
                <a:solidFill>
                  <a:srgbClr val="0B1B3A"/>
                </a:solidFill>
                <a:latin typeface="Calibri" pitchFamily="34" charset="0"/>
                <a:ea typeface="Calibri" pitchFamily="34" charset="-122"/>
                <a:cs typeface="Calibri" pitchFamily="34" charset="-120"/>
              </a:rPr>
              <a:t>Conversion rate  ·  Repeat purchases  ·  Revenue per customer  ·  Retention  ·  Lifetime value</a:t>
            </a:r>
            <a:endParaRPr lang="en-US" sz="1100" dirty="0"/>
          </a:p>
        </p:txBody>
      </p:sp>
      <p:sp>
        <p:nvSpPr>
          <p:cNvPr id="84" name="Text 82"/>
          <p:cNvSpPr txBox="1"/>
          <p:nvPr/>
        </p:nvSpPr>
        <p:spPr>
          <a:xfrm>
            <a:off x="548640" y="6492240"/>
            <a:ext cx="7315200" cy="219456"/>
          </a:xfrm>
          <a:prstGeom prst="rect">
            <a:avLst/>
          </a:prstGeom>
          <a:noFill/>
          <a:ln/>
        </p:spPr>
        <p:txBody>
          <a:bodyPr wrap="square" lIns="0" tIns="0" rIns="0" bIns="0" rtlCol="0" anchor="ctr"/>
          <a:lstStyle/>
          <a:p>
            <a:pPr indent="0" marL="0">
              <a:buNone/>
            </a:pPr>
            <a:r>
              <a:rPr lang="en-US" sz="900" i="1" dirty="0">
                <a:solidFill>
                  <a:srgbClr val="5D6B85"/>
                </a:solidFill>
                <a:latin typeface="Calibri" pitchFamily="34" charset="0"/>
                <a:ea typeface="Calibri" pitchFamily="34" charset="-122"/>
                <a:cs typeface="Calibri" pitchFamily="34" charset="-120"/>
              </a:rPr>
              <a:t>All values on this slide are illustrative sample data, not measured results.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A8377"/>
                </a:solidFill>
                <a:latin typeface="Calibri" pitchFamily="34" charset="0"/>
                <a:ea typeface="Calibri" pitchFamily="34" charset="-122"/>
                <a:cs typeface="Calibri" pitchFamily="34" charset="-120"/>
              </a:rPr>
              <a:t>ATTRIBUTION AND AI IMPLEMENTATION</a:t>
            </a:r>
            <a:endParaRPr lang="en-US" sz="1050" dirty="0"/>
          </a:p>
        </p:txBody>
      </p:sp>
      <p:sp>
        <p:nvSpPr>
          <p:cNvPr id="3" name="Text 1"/>
          <p:cNvSpPr txBox="1"/>
          <p:nvPr/>
        </p:nvSpPr>
        <p:spPr>
          <a:xfrm>
            <a:off x="548640" y="566928"/>
            <a:ext cx="11064240" cy="548640"/>
          </a:xfrm>
          <a:prstGeom prst="rect">
            <a:avLst/>
          </a:prstGeom>
          <a:noFill/>
          <a:ln/>
        </p:spPr>
        <p:txBody>
          <a:bodyPr wrap="square" lIns="0" tIns="0" rIns="0" bIns="0" rtlCol="0" anchor="ctr"/>
          <a:lstStyle/>
          <a:p>
            <a:pPr indent="0" marL="0">
              <a:buNone/>
            </a:pPr>
            <a:r>
              <a:rPr lang="en-US" sz="3000" b="1" dirty="0">
                <a:solidFill>
                  <a:srgbClr val="0B1B3A"/>
                </a:solidFill>
                <a:latin typeface="Cambria" pitchFamily="34" charset="0"/>
                <a:ea typeface="Cambria" pitchFamily="34" charset="-122"/>
                <a:cs typeface="Cambria" pitchFamily="34" charset="-120"/>
              </a:rPr>
              <a:t>How AI Improves Attribution and Optimisation</a:t>
            </a:r>
            <a:endParaRPr lang="en-US" sz="3000" dirty="0"/>
          </a:p>
        </p:txBody>
      </p:sp>
      <p:sp>
        <p:nvSpPr>
          <p:cNvPr id="4" name="Shape 2"/>
          <p:cNvSpPr/>
          <p:nvPr/>
        </p:nvSpPr>
        <p:spPr>
          <a:xfrm>
            <a:off x="548640" y="1188720"/>
            <a:ext cx="1234440" cy="411480"/>
          </a:xfrm>
          <a:prstGeom prst="roundRect">
            <a:avLst>
              <a:gd name="adj" fmla="val 13333"/>
            </a:avLst>
          </a:prstGeom>
          <a:solidFill>
            <a:srgbClr val="FFFFFF"/>
          </a:solidFill>
          <a:ln w="12700">
            <a:solidFill>
              <a:srgbClr val="D6DDEA"/>
            </a:solidFill>
            <a:prstDash val="solid"/>
          </a:ln>
        </p:spPr>
      </p:sp>
      <p:sp>
        <p:nvSpPr>
          <p:cNvPr id="5" name="Text 3"/>
          <p:cNvSpPr txBox="1"/>
          <p:nvPr/>
        </p:nvSpPr>
        <p:spPr>
          <a:xfrm>
            <a:off x="548640" y="1188720"/>
            <a:ext cx="1234440" cy="411480"/>
          </a:xfrm>
          <a:prstGeom prst="rect">
            <a:avLst/>
          </a:prstGeom>
          <a:noFill/>
          <a:ln/>
        </p:spPr>
        <p:txBody>
          <a:bodyPr wrap="square" lIns="0" tIns="0" rIns="0" bIns="0" rtlCol="0" anchor="ctr"/>
          <a:lstStyle/>
          <a:p>
            <a:pPr algn="ctr" indent="0" marL="0">
              <a:buNone/>
            </a:pPr>
            <a:r>
              <a:rPr lang="en-US" sz="1000" b="1" dirty="0">
                <a:solidFill>
                  <a:srgbClr val="0B1B3A"/>
                </a:solidFill>
                <a:latin typeface="Calibri" pitchFamily="34" charset="0"/>
                <a:ea typeface="Calibri" pitchFamily="34" charset="-122"/>
                <a:cs typeface="Calibri" pitchFamily="34" charset="-120"/>
              </a:rPr>
              <a:t>Social ad</a:t>
            </a:r>
            <a:endParaRPr lang="en-US" sz="1000" dirty="0"/>
          </a:p>
        </p:txBody>
      </p:sp>
      <p:sp>
        <p:nvSpPr>
          <p:cNvPr id="6" name="Shape 4"/>
          <p:cNvSpPr/>
          <p:nvPr/>
        </p:nvSpPr>
        <p:spPr>
          <a:xfrm>
            <a:off x="1810512" y="1394460"/>
            <a:ext cx="128016" cy="0"/>
          </a:xfrm>
          <a:prstGeom prst="line">
            <a:avLst/>
          </a:prstGeom>
          <a:noFill/>
          <a:ln w="19050">
            <a:solidFill>
              <a:srgbClr val="0FB5A6"/>
            </a:solidFill>
            <a:prstDash val="solid"/>
            <a:tailEnd type="triangle"/>
          </a:ln>
        </p:spPr>
      </p:sp>
      <p:sp>
        <p:nvSpPr>
          <p:cNvPr id="7" name="Shape 5"/>
          <p:cNvSpPr/>
          <p:nvPr/>
        </p:nvSpPr>
        <p:spPr>
          <a:xfrm>
            <a:off x="1965960" y="1188720"/>
            <a:ext cx="1234440" cy="411480"/>
          </a:xfrm>
          <a:prstGeom prst="roundRect">
            <a:avLst>
              <a:gd name="adj" fmla="val 13333"/>
            </a:avLst>
          </a:prstGeom>
          <a:solidFill>
            <a:srgbClr val="FFFFFF"/>
          </a:solidFill>
          <a:ln w="12700">
            <a:solidFill>
              <a:srgbClr val="D6DDEA"/>
            </a:solidFill>
            <a:prstDash val="solid"/>
          </a:ln>
        </p:spPr>
      </p:sp>
      <p:sp>
        <p:nvSpPr>
          <p:cNvPr id="8" name="Text 6"/>
          <p:cNvSpPr txBox="1"/>
          <p:nvPr/>
        </p:nvSpPr>
        <p:spPr>
          <a:xfrm>
            <a:off x="1965960" y="1188720"/>
            <a:ext cx="1234440" cy="411480"/>
          </a:xfrm>
          <a:prstGeom prst="rect">
            <a:avLst/>
          </a:prstGeom>
          <a:noFill/>
          <a:ln/>
        </p:spPr>
        <p:txBody>
          <a:bodyPr wrap="square" lIns="0" tIns="0" rIns="0" bIns="0" rtlCol="0" anchor="ctr"/>
          <a:lstStyle/>
          <a:p>
            <a:pPr algn="ctr" indent="0" marL="0">
              <a:buNone/>
            </a:pPr>
            <a:r>
              <a:rPr lang="en-US" sz="1000" b="1" dirty="0">
                <a:solidFill>
                  <a:srgbClr val="0B1B3A"/>
                </a:solidFill>
                <a:latin typeface="Calibri" pitchFamily="34" charset="0"/>
                <a:ea typeface="Calibri" pitchFamily="34" charset="-122"/>
                <a:cs typeface="Calibri" pitchFamily="34" charset="-120"/>
              </a:rPr>
              <a:t>Google search</a:t>
            </a:r>
            <a:endParaRPr lang="en-US" sz="1000" dirty="0"/>
          </a:p>
        </p:txBody>
      </p:sp>
      <p:sp>
        <p:nvSpPr>
          <p:cNvPr id="9" name="Shape 7"/>
          <p:cNvSpPr/>
          <p:nvPr/>
        </p:nvSpPr>
        <p:spPr>
          <a:xfrm>
            <a:off x="3227832" y="1394460"/>
            <a:ext cx="128016" cy="0"/>
          </a:xfrm>
          <a:prstGeom prst="line">
            <a:avLst/>
          </a:prstGeom>
          <a:noFill/>
          <a:ln w="19050">
            <a:solidFill>
              <a:srgbClr val="0FB5A6"/>
            </a:solidFill>
            <a:prstDash val="solid"/>
            <a:tailEnd type="triangle"/>
          </a:ln>
        </p:spPr>
      </p:sp>
      <p:sp>
        <p:nvSpPr>
          <p:cNvPr id="10" name="Shape 8"/>
          <p:cNvSpPr/>
          <p:nvPr/>
        </p:nvSpPr>
        <p:spPr>
          <a:xfrm>
            <a:off x="3383280" y="1188720"/>
            <a:ext cx="1234440" cy="411480"/>
          </a:xfrm>
          <a:prstGeom prst="roundRect">
            <a:avLst>
              <a:gd name="adj" fmla="val 13333"/>
            </a:avLst>
          </a:prstGeom>
          <a:solidFill>
            <a:srgbClr val="FFFFFF"/>
          </a:solidFill>
          <a:ln w="12700">
            <a:solidFill>
              <a:srgbClr val="D6DDEA"/>
            </a:solidFill>
            <a:prstDash val="solid"/>
          </a:ln>
        </p:spPr>
      </p:sp>
      <p:sp>
        <p:nvSpPr>
          <p:cNvPr id="11" name="Text 9"/>
          <p:cNvSpPr txBox="1"/>
          <p:nvPr/>
        </p:nvSpPr>
        <p:spPr>
          <a:xfrm>
            <a:off x="3383280" y="1188720"/>
            <a:ext cx="1234440" cy="411480"/>
          </a:xfrm>
          <a:prstGeom prst="rect">
            <a:avLst/>
          </a:prstGeom>
          <a:noFill/>
          <a:ln/>
        </p:spPr>
        <p:txBody>
          <a:bodyPr wrap="square" lIns="0" tIns="0" rIns="0" bIns="0" rtlCol="0" anchor="ctr"/>
          <a:lstStyle/>
          <a:p>
            <a:pPr algn="ctr" indent="0" marL="0">
              <a:buNone/>
            </a:pPr>
            <a:r>
              <a:rPr lang="en-US" sz="1000" b="1" dirty="0">
                <a:solidFill>
                  <a:srgbClr val="0B1B3A"/>
                </a:solidFill>
                <a:latin typeface="Calibri" pitchFamily="34" charset="0"/>
                <a:ea typeface="Calibri" pitchFamily="34" charset="-122"/>
                <a:cs typeface="Calibri" pitchFamily="34" charset="-120"/>
              </a:rPr>
              <a:t>Email</a:t>
            </a:r>
            <a:endParaRPr lang="en-US" sz="1000" dirty="0"/>
          </a:p>
        </p:txBody>
      </p:sp>
      <p:sp>
        <p:nvSpPr>
          <p:cNvPr id="12" name="Shape 10"/>
          <p:cNvSpPr/>
          <p:nvPr/>
        </p:nvSpPr>
        <p:spPr>
          <a:xfrm>
            <a:off x="4645152" y="1394460"/>
            <a:ext cx="128016" cy="0"/>
          </a:xfrm>
          <a:prstGeom prst="line">
            <a:avLst/>
          </a:prstGeom>
          <a:noFill/>
          <a:ln w="19050">
            <a:solidFill>
              <a:srgbClr val="0FB5A6"/>
            </a:solidFill>
            <a:prstDash val="solid"/>
            <a:tailEnd type="triangle"/>
          </a:ln>
        </p:spPr>
      </p:sp>
      <p:sp>
        <p:nvSpPr>
          <p:cNvPr id="13" name="Shape 11"/>
          <p:cNvSpPr/>
          <p:nvPr/>
        </p:nvSpPr>
        <p:spPr>
          <a:xfrm>
            <a:off x="4800600" y="1188720"/>
            <a:ext cx="1234440" cy="411480"/>
          </a:xfrm>
          <a:prstGeom prst="roundRect">
            <a:avLst>
              <a:gd name="adj" fmla="val 13333"/>
            </a:avLst>
          </a:prstGeom>
          <a:solidFill>
            <a:srgbClr val="FFFFFF"/>
          </a:solidFill>
          <a:ln w="12700">
            <a:solidFill>
              <a:srgbClr val="D6DDEA"/>
            </a:solidFill>
            <a:prstDash val="solid"/>
          </a:ln>
        </p:spPr>
      </p:sp>
      <p:sp>
        <p:nvSpPr>
          <p:cNvPr id="14" name="Text 12"/>
          <p:cNvSpPr txBox="1"/>
          <p:nvPr/>
        </p:nvSpPr>
        <p:spPr>
          <a:xfrm>
            <a:off x="4800600" y="1188720"/>
            <a:ext cx="1234440" cy="411480"/>
          </a:xfrm>
          <a:prstGeom prst="rect">
            <a:avLst/>
          </a:prstGeom>
          <a:noFill/>
          <a:ln/>
        </p:spPr>
        <p:txBody>
          <a:bodyPr wrap="square" lIns="0" tIns="0" rIns="0" bIns="0" rtlCol="0" anchor="ctr"/>
          <a:lstStyle/>
          <a:p>
            <a:pPr algn="ctr" indent="0" marL="0">
              <a:buNone/>
            </a:pPr>
            <a:r>
              <a:rPr lang="en-US" sz="1000" b="1" dirty="0">
                <a:solidFill>
                  <a:srgbClr val="0B1B3A"/>
                </a:solidFill>
                <a:latin typeface="Calibri" pitchFamily="34" charset="0"/>
                <a:ea typeface="Calibri" pitchFamily="34" charset="-122"/>
                <a:cs typeface="Calibri" pitchFamily="34" charset="-120"/>
              </a:rPr>
              <a:t>Website</a:t>
            </a:r>
            <a:endParaRPr lang="en-US" sz="1000" dirty="0"/>
          </a:p>
        </p:txBody>
      </p:sp>
      <p:sp>
        <p:nvSpPr>
          <p:cNvPr id="15" name="Shape 13"/>
          <p:cNvSpPr/>
          <p:nvPr/>
        </p:nvSpPr>
        <p:spPr>
          <a:xfrm>
            <a:off x="6062472" y="1394460"/>
            <a:ext cx="128016" cy="0"/>
          </a:xfrm>
          <a:prstGeom prst="line">
            <a:avLst/>
          </a:prstGeom>
          <a:noFill/>
          <a:ln w="19050">
            <a:solidFill>
              <a:srgbClr val="0FB5A6"/>
            </a:solidFill>
            <a:prstDash val="solid"/>
            <a:tailEnd type="triangle"/>
          </a:ln>
        </p:spPr>
      </p:sp>
      <p:sp>
        <p:nvSpPr>
          <p:cNvPr id="16" name="Shape 14"/>
          <p:cNvSpPr/>
          <p:nvPr/>
        </p:nvSpPr>
        <p:spPr>
          <a:xfrm>
            <a:off x="6217920" y="1188720"/>
            <a:ext cx="1234440" cy="411480"/>
          </a:xfrm>
          <a:prstGeom prst="roundRect">
            <a:avLst>
              <a:gd name="adj" fmla="val 13333"/>
            </a:avLst>
          </a:prstGeom>
          <a:solidFill>
            <a:srgbClr val="F2762E"/>
          </a:solidFill>
          <a:ln w="12700">
            <a:solidFill>
              <a:srgbClr val="F2762E"/>
            </a:solidFill>
            <a:prstDash val="solid"/>
          </a:ln>
        </p:spPr>
      </p:sp>
      <p:sp>
        <p:nvSpPr>
          <p:cNvPr id="17" name="Text 15"/>
          <p:cNvSpPr txBox="1"/>
          <p:nvPr/>
        </p:nvSpPr>
        <p:spPr>
          <a:xfrm>
            <a:off x="6217920" y="1188720"/>
            <a:ext cx="123444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Purchase</a:t>
            </a:r>
            <a:endParaRPr lang="en-US" sz="1000" dirty="0"/>
          </a:p>
        </p:txBody>
      </p:sp>
      <p:sp>
        <p:nvSpPr>
          <p:cNvPr id="18" name="Text 16"/>
          <p:cNvSpPr txBox="1"/>
          <p:nvPr/>
        </p:nvSpPr>
        <p:spPr>
          <a:xfrm>
            <a:off x="7772400" y="1207008"/>
            <a:ext cx="3840480" cy="411480"/>
          </a:xfrm>
          <a:prstGeom prst="rect">
            <a:avLst/>
          </a:prstGeom>
          <a:noFill/>
          <a:ln/>
        </p:spPr>
        <p:txBody>
          <a:bodyPr wrap="square" lIns="0" tIns="0" rIns="0" bIns="0" rtlCol="0" anchor="ctr"/>
          <a:lstStyle/>
          <a:p>
            <a:pPr indent="0" marL="0">
              <a:buNone/>
            </a:pPr>
            <a:r>
              <a:rPr lang="en-US" sz="1050" i="1" dirty="0">
                <a:solidFill>
                  <a:srgbClr val="5D6B85"/>
                </a:solidFill>
                <a:latin typeface="Calibri" pitchFamily="34" charset="0"/>
                <a:ea typeface="Calibri" pitchFamily="34" charset="-122"/>
                <a:cs typeface="Calibri" pitchFamily="34" charset="-120"/>
              </a:rPr>
              <a:t>A last-click model credits Email alone — although social introduced the customer and search created the intent.</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949440" cy="914400"/>
        </p:xfrm>
        <a:graphic>
          <a:graphicData uri="http://schemas.openxmlformats.org/drawingml/2006/table">
            <a:tbl>
              <a:tblPr/>
              <a:tblGrid>
                <a:gridCol w="1554480"/>
                <a:gridCol w="3017520"/>
                <a:gridCol w="237744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0B1B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credit is assigned</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0B1B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0B1B3A"/>
                    </a:solidFill>
                  </a:tcPr>
                </a:tc>
              </a:tr>
              <a:tr h="365760">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First-click</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Credit to the first touchpoint</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Measures awareness</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Last-click</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Credit to the final touchpoint</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Measures closing</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Linear</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Credit shared across touchpoints</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Balanced baseline</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Markov chain</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Effect of removing a channel</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Journey contribution</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Shapley value</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Marginal contribution of each channel</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Channel combinations</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Predictive model</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Predicts conversion probability</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c>
                  <a:txBody>
                    <a:bodyPr/>
                    <a:lstStyle/>
                    <a:p>
                      <a:pPr indent="0" marL="0">
                        <a:buNone/>
                      </a:pPr>
                      <a:r>
                        <a:rPr lang="en-US" sz="1050" dirty="0">
                          <a:solidFill>
                            <a:srgbClr val="0B1B3A"/>
                          </a:solidFill>
                          <a:latin typeface="Calibri" pitchFamily="34" charset="0"/>
                          <a:ea typeface="Calibri" pitchFamily="34" charset="-122"/>
                          <a:cs typeface="Calibri" pitchFamily="34" charset="-120"/>
                        </a:rPr>
                        <a:t>Drives AI recommendation</a:t>
                      </a:r>
                      <a:endParaRPr lang="en-US" sz="1050" dirty="0">
                        <a:latin typeface="Calibri" charset="0"/>
                        <a:ea typeface="Calibri" charset="0"/>
                        <a:cs typeface="Calibri" charset="0"/>
                      </a:endParaRPr>
                    </a:p>
                  </a:txBody>
                  <a:tcPr marL="91440" marR="91440" marT="45720" marB="45720" anchor="ctr">
                    <a:lnL w="12700" cap="flat" cmpd="sng" algn="ctr">
                      <a:solidFill>
                        <a:srgbClr val="D6DDEA"/>
                      </a:solidFill>
                      <a:prstDash val="solid"/>
                      <a:round/>
                      <a:headEnd type="none" w="med" len="med"/>
                      <a:tailEnd type="none" w="med" len="med"/>
                    </a:lnL>
                    <a:lnR w="12700" cap="flat" cmpd="sng" algn="ctr">
                      <a:solidFill>
                        <a:srgbClr val="D6DDEA"/>
                      </a:solidFill>
                      <a:prstDash val="solid"/>
                      <a:round/>
                      <a:headEnd type="none" w="med" len="med"/>
                      <a:tailEnd type="none" w="med" len="med"/>
                    </a:lnR>
                    <a:lnT w="12700" cap="flat" cmpd="sng" algn="ctr">
                      <a:solidFill>
                        <a:srgbClr val="D6DDEA"/>
                      </a:solidFill>
                      <a:prstDash val="solid"/>
                      <a:round/>
                      <a:headEnd type="none" w="med" len="med"/>
                      <a:tailEnd type="none" w="med" len="med"/>
                    </a:lnT>
                    <a:lnB w="12700" cap="flat" cmpd="sng" algn="ctr">
                      <a:solidFill>
                        <a:srgbClr val="D6DDEA"/>
                      </a:solidFill>
                      <a:prstDash val="solid"/>
                      <a:round/>
                      <a:headEnd type="none" w="med" len="med"/>
                      <a:tailEnd type="none" w="med" len="med"/>
                    </a:lnB>
                    <a:solidFill>
                      <a:srgbClr val="FFFFFF"/>
                    </a:solidFill>
                  </a:tcPr>
                </a:tc>
              </a:tr>
            </a:tbl>
          </a:graphicData>
        </a:graphic>
      </p:graphicFrame>
      <p:sp>
        <p:nvSpPr>
          <p:cNvPr id="20" name="Text 17"/>
          <p:cNvSpPr txBox="1"/>
          <p:nvPr/>
        </p:nvSpPr>
        <p:spPr>
          <a:xfrm>
            <a:off x="548640" y="4526280"/>
            <a:ext cx="6949440" cy="457200"/>
          </a:xfrm>
          <a:prstGeom prst="rect">
            <a:avLst/>
          </a:prstGeom>
          <a:noFill/>
          <a:ln/>
        </p:spPr>
        <p:txBody>
          <a:bodyPr wrap="square" lIns="0" tIns="0" rIns="0" bIns="0" rtlCol="0" anchor="ctr"/>
          <a:lstStyle/>
          <a:p>
            <a:pPr indent="0" marL="0">
              <a:buNone/>
            </a:pPr>
            <a:r>
              <a:rPr lang="en-US" sz="1050" i="1" dirty="0">
                <a:solidFill>
                  <a:srgbClr val="5D6B85"/>
                </a:solidFill>
                <a:latin typeface="Calibri" pitchFamily="34" charset="0"/>
                <a:ea typeface="Calibri" pitchFamily="34" charset="-122"/>
                <a:cs typeface="Calibri" pitchFamily="34" charset="-120"/>
              </a:rPr>
              <a:t>Attribution models assign credit to the touchpoints along the path to a conversion. Data-driven models learn that credit from the data itself instead of applying one fixed rule.</a:t>
            </a:r>
            <a:endParaRPr lang="en-US" sz="1050" dirty="0"/>
          </a:p>
        </p:txBody>
      </p:sp>
      <p:sp>
        <p:nvSpPr>
          <p:cNvPr id="21" name="Shape 18"/>
          <p:cNvSpPr/>
          <p:nvPr/>
        </p:nvSpPr>
        <p:spPr>
          <a:xfrm>
            <a:off x="548640" y="5074920"/>
            <a:ext cx="6949440" cy="1371600"/>
          </a:xfrm>
          <a:prstGeom prst="roundRect">
            <a:avLst>
              <a:gd name="adj" fmla="val 4000"/>
            </a:avLst>
          </a:prstGeom>
          <a:solidFill>
            <a:srgbClr val="0B1B3A"/>
          </a:solidFill>
          <a:ln w="12700">
            <a:solidFill>
              <a:srgbClr val="D6DDEA"/>
            </a:solidFill>
            <a:prstDash val="solid"/>
          </a:ln>
        </p:spPr>
      </p:sp>
      <p:sp>
        <p:nvSpPr>
          <p:cNvPr id="22" name="Text 19"/>
          <p:cNvSpPr txBox="1"/>
          <p:nvPr/>
        </p:nvSpPr>
        <p:spPr>
          <a:xfrm>
            <a:off x="777240" y="5212080"/>
            <a:ext cx="4572000" cy="201168"/>
          </a:xfrm>
          <a:prstGeom prst="rect">
            <a:avLst/>
          </a:prstGeom>
          <a:noFill/>
          <a:ln/>
        </p:spPr>
        <p:txBody>
          <a:bodyPr wrap="square" lIns="0" tIns="0" rIns="0" bIns="0" rtlCol="0" anchor="ctr"/>
          <a:lstStyle/>
          <a:p>
            <a:pPr indent="0" marL="0">
              <a:buNone/>
            </a:pPr>
            <a:r>
              <a:rPr lang="en-US" sz="950" b="1" spc="150" kern="0" dirty="0">
                <a:solidFill>
                  <a:srgbClr val="0FB5A6"/>
                </a:solidFill>
                <a:latin typeface="Calibri" pitchFamily="34" charset="0"/>
                <a:ea typeface="Calibri" pitchFamily="34" charset="-122"/>
                <a:cs typeface="Calibri" pitchFamily="34" charset="-120"/>
              </a:rPr>
              <a:t>RESPONSIBLE AI CONTROLS</a:t>
            </a:r>
            <a:endParaRPr lang="en-US" sz="950" dirty="0"/>
          </a:p>
        </p:txBody>
      </p:sp>
      <p:sp>
        <p:nvSpPr>
          <p:cNvPr id="23" name="Text 20"/>
          <p:cNvSpPr txBox="1"/>
          <p:nvPr/>
        </p:nvSpPr>
        <p:spPr>
          <a:xfrm>
            <a:off x="777240" y="5468112"/>
            <a:ext cx="3291840" cy="256032"/>
          </a:xfrm>
          <a:prstGeom prst="rect">
            <a:avLst/>
          </a:prstGeom>
          <a:noFill/>
          <a:ln/>
        </p:spPr>
        <p:txBody>
          <a:bodyPr wrap="square" lIns="0" tIns="0" rIns="0" bIns="0" rtlCol="0" anchor="ctr"/>
          <a:lstStyle/>
          <a:p>
            <a:pPr indent="0" marL="0">
              <a:buNone/>
            </a:pPr>
            <a:r>
              <a:rPr lang="en-US" sz="1000" dirty="0">
                <a:solidFill>
                  <a:srgbClr val="A9BEDD"/>
                </a:solidFill>
                <a:latin typeface="Calibri" pitchFamily="34" charset="0"/>
                <a:ea typeface="Calibri" pitchFamily="34" charset="-122"/>
                <a:cs typeface="Calibri" pitchFamily="34" charset="-120"/>
              </a:rPr>
              <a:t>•  Display the model in use</a:t>
            </a:r>
            <a:endParaRPr lang="en-US" sz="1000" dirty="0"/>
          </a:p>
        </p:txBody>
      </p:sp>
      <p:sp>
        <p:nvSpPr>
          <p:cNvPr id="24" name="Text 21"/>
          <p:cNvSpPr txBox="1"/>
          <p:nvPr/>
        </p:nvSpPr>
        <p:spPr>
          <a:xfrm>
            <a:off x="4206240" y="5468112"/>
            <a:ext cx="3291840" cy="256032"/>
          </a:xfrm>
          <a:prstGeom prst="rect">
            <a:avLst/>
          </a:prstGeom>
          <a:noFill/>
          <a:ln/>
        </p:spPr>
        <p:txBody>
          <a:bodyPr wrap="square" lIns="0" tIns="0" rIns="0" bIns="0" rtlCol="0" anchor="ctr"/>
          <a:lstStyle/>
          <a:p>
            <a:pPr indent="0" marL="0">
              <a:buNone/>
            </a:pPr>
            <a:r>
              <a:rPr lang="en-US" sz="1000" dirty="0">
                <a:solidFill>
                  <a:srgbClr val="A9BEDD"/>
                </a:solidFill>
                <a:latin typeface="Calibri" pitchFamily="34" charset="0"/>
                <a:ea typeface="Calibri" pitchFamily="34" charset="-122"/>
                <a:cs typeface="Calibri" pitchFamily="34" charset="-120"/>
              </a:rPr>
              <a:t>•  Show the factors behind a recommendation</a:t>
            </a:r>
            <a:endParaRPr lang="en-US" sz="1000" dirty="0"/>
          </a:p>
        </p:txBody>
      </p:sp>
      <p:sp>
        <p:nvSpPr>
          <p:cNvPr id="25" name="Text 22"/>
          <p:cNvSpPr txBox="1"/>
          <p:nvPr/>
        </p:nvSpPr>
        <p:spPr>
          <a:xfrm>
            <a:off x="777240" y="5760720"/>
            <a:ext cx="3291840" cy="256032"/>
          </a:xfrm>
          <a:prstGeom prst="rect">
            <a:avLst/>
          </a:prstGeom>
          <a:noFill/>
          <a:ln/>
        </p:spPr>
        <p:txBody>
          <a:bodyPr wrap="square" lIns="0" tIns="0" rIns="0" bIns="0" rtlCol="0" anchor="ctr"/>
          <a:lstStyle/>
          <a:p>
            <a:pPr indent="0" marL="0">
              <a:buNone/>
            </a:pPr>
            <a:r>
              <a:rPr lang="en-US" sz="1000" dirty="0">
                <a:solidFill>
                  <a:srgbClr val="A9BEDD"/>
                </a:solidFill>
                <a:latin typeface="Calibri" pitchFamily="34" charset="0"/>
                <a:ea typeface="Calibri" pitchFamily="34" charset="-122"/>
                <a:cs typeface="Calibri" pitchFamily="34" charset="-120"/>
              </a:rPr>
              <a:t>•  Compare AI output with a baseline model</a:t>
            </a:r>
            <a:endParaRPr lang="en-US" sz="1000" dirty="0"/>
          </a:p>
        </p:txBody>
      </p:sp>
      <p:sp>
        <p:nvSpPr>
          <p:cNvPr id="26" name="Text 23"/>
          <p:cNvSpPr txBox="1"/>
          <p:nvPr/>
        </p:nvSpPr>
        <p:spPr>
          <a:xfrm>
            <a:off x="4206240" y="5760720"/>
            <a:ext cx="3291840" cy="256032"/>
          </a:xfrm>
          <a:prstGeom prst="rect">
            <a:avLst/>
          </a:prstGeom>
          <a:noFill/>
          <a:ln/>
        </p:spPr>
        <p:txBody>
          <a:bodyPr wrap="square" lIns="0" tIns="0" rIns="0" bIns="0" rtlCol="0" anchor="ctr"/>
          <a:lstStyle/>
          <a:p>
            <a:pPr indent="0" marL="0">
              <a:buNone/>
            </a:pPr>
            <a:r>
              <a:rPr lang="en-US" sz="1000" dirty="0">
                <a:solidFill>
                  <a:srgbClr val="A9BEDD"/>
                </a:solidFill>
                <a:latin typeface="Calibri" pitchFamily="34" charset="0"/>
                <a:ea typeface="Calibri" pitchFamily="34" charset="-122"/>
                <a:cs typeface="Calibri" pitchFamily="34" charset="-120"/>
              </a:rPr>
              <a:t>•  Warn when the dataset is too small</a:t>
            </a:r>
            <a:endParaRPr lang="en-US" sz="1000" dirty="0"/>
          </a:p>
        </p:txBody>
      </p:sp>
      <p:sp>
        <p:nvSpPr>
          <p:cNvPr id="27" name="Text 24"/>
          <p:cNvSpPr txBox="1"/>
          <p:nvPr/>
        </p:nvSpPr>
        <p:spPr>
          <a:xfrm>
            <a:off x="777240" y="6053328"/>
            <a:ext cx="3291840" cy="256032"/>
          </a:xfrm>
          <a:prstGeom prst="rect">
            <a:avLst/>
          </a:prstGeom>
          <a:noFill/>
          <a:ln/>
        </p:spPr>
        <p:txBody>
          <a:bodyPr wrap="square" lIns="0" tIns="0" rIns="0" bIns="0" rtlCol="0" anchor="ctr"/>
          <a:lstStyle/>
          <a:p>
            <a:pPr indent="0" marL="0">
              <a:buNone/>
            </a:pPr>
            <a:r>
              <a:rPr lang="en-US" sz="1000" dirty="0">
                <a:solidFill>
                  <a:srgbClr val="A9BEDD"/>
                </a:solidFill>
                <a:latin typeface="Calibri" pitchFamily="34" charset="0"/>
                <a:ea typeface="Calibri" pitchFamily="34" charset="-122"/>
                <a:cs typeface="Calibri" pitchFamily="34" charset="-120"/>
              </a:rPr>
              <a:t>•  Require user approval before any budget change</a:t>
            </a:r>
            <a:endParaRPr lang="en-US" sz="1000" dirty="0"/>
          </a:p>
        </p:txBody>
      </p:sp>
      <p:sp>
        <p:nvSpPr>
          <p:cNvPr id="28" name="Text 25"/>
          <p:cNvSpPr txBox="1"/>
          <p:nvPr/>
        </p:nvSpPr>
        <p:spPr>
          <a:xfrm>
            <a:off x="4206240" y="6053328"/>
            <a:ext cx="3291840" cy="256032"/>
          </a:xfrm>
          <a:prstGeom prst="rect">
            <a:avLst/>
          </a:prstGeom>
          <a:noFill/>
          <a:ln/>
        </p:spPr>
        <p:txBody>
          <a:bodyPr wrap="square" lIns="0" tIns="0" rIns="0" bIns="0" rtlCol="0" anchor="ctr"/>
          <a:lstStyle/>
          <a:p>
            <a:pPr indent="0" marL="0">
              <a:buNone/>
            </a:pPr>
            <a:r>
              <a:rPr lang="en-US" sz="1000" dirty="0">
                <a:solidFill>
                  <a:srgbClr val="A9BEDD"/>
                </a:solidFill>
                <a:latin typeface="Calibri" pitchFamily="34" charset="0"/>
                <a:ea typeface="Calibri" pitchFamily="34" charset="-122"/>
                <a:cs typeface="Calibri" pitchFamily="34" charset="-120"/>
              </a:rPr>
              <a:t>•  Never present correlation as causation</a:t>
            </a:r>
            <a:endParaRPr lang="en-US" sz="1000" dirty="0"/>
          </a:p>
        </p:txBody>
      </p:sp>
      <p:sp>
        <p:nvSpPr>
          <p:cNvPr id="29" name="Shape 26"/>
          <p:cNvSpPr/>
          <p:nvPr/>
        </p:nvSpPr>
        <p:spPr>
          <a:xfrm>
            <a:off x="7772400" y="1920240"/>
            <a:ext cx="3840480" cy="4526280"/>
          </a:xfrm>
          <a:prstGeom prst="roundRect">
            <a:avLst>
              <a:gd name="adj" fmla="val 1429"/>
            </a:avLst>
          </a:prstGeom>
          <a:solidFill>
            <a:srgbClr val="FFFFFF"/>
          </a:solidFill>
          <a:ln w="12700">
            <a:solidFill>
              <a:srgbClr val="D6DDEA"/>
            </a:solidFill>
            <a:prstDash val="solid"/>
          </a:ln>
        </p:spPr>
      </p:sp>
      <p:sp>
        <p:nvSpPr>
          <p:cNvPr id="30" name="Text 27"/>
          <p:cNvSpPr txBox="1"/>
          <p:nvPr/>
        </p:nvSpPr>
        <p:spPr>
          <a:xfrm>
            <a:off x="8001000" y="2066544"/>
            <a:ext cx="2743200" cy="219456"/>
          </a:xfrm>
          <a:prstGeom prst="rect">
            <a:avLst/>
          </a:prstGeom>
          <a:noFill/>
          <a:ln/>
        </p:spPr>
        <p:txBody>
          <a:bodyPr wrap="square" lIns="0" tIns="0" rIns="0" bIns="0" rtlCol="0" anchor="ctr"/>
          <a:lstStyle/>
          <a:p>
            <a:pPr indent="0" marL="0">
              <a:buNone/>
            </a:pPr>
            <a:r>
              <a:rPr lang="en-US" sz="950" b="1" spc="150" kern="0" dirty="0">
                <a:solidFill>
                  <a:srgbClr val="0A8377"/>
                </a:solidFill>
                <a:latin typeface="Calibri" pitchFamily="34" charset="0"/>
                <a:ea typeface="Calibri" pitchFamily="34" charset="-122"/>
                <a:cs typeface="Calibri" pitchFamily="34" charset="-120"/>
              </a:rPr>
              <a:t>AI PIPELINE</a:t>
            </a:r>
            <a:endParaRPr lang="en-US" sz="950" dirty="0"/>
          </a:p>
        </p:txBody>
      </p:sp>
      <p:sp>
        <p:nvSpPr>
          <p:cNvPr id="31" name="Shape 28"/>
          <p:cNvSpPr/>
          <p:nvPr/>
        </p:nvSpPr>
        <p:spPr>
          <a:xfrm>
            <a:off x="8001000" y="2377440"/>
            <a:ext cx="3383280" cy="530352"/>
          </a:xfrm>
          <a:prstGeom prst="roundRect">
            <a:avLst>
              <a:gd name="adj" fmla="val 10345"/>
            </a:avLst>
          </a:prstGeom>
          <a:solidFill>
            <a:srgbClr val="F4F7FB"/>
          </a:solidFill>
          <a:ln w="12700">
            <a:solidFill>
              <a:srgbClr val="D6DDEA"/>
            </a:solidFill>
            <a:prstDash val="solid"/>
          </a:ln>
        </p:spPr>
      </p:sp>
      <p:sp>
        <p:nvSpPr>
          <p:cNvPr id="32" name="Text 29"/>
          <p:cNvSpPr txBox="1"/>
          <p:nvPr/>
        </p:nvSpPr>
        <p:spPr>
          <a:xfrm>
            <a:off x="8138160" y="2432304"/>
            <a:ext cx="3108960" cy="219456"/>
          </a:xfrm>
          <a:prstGeom prst="rect">
            <a:avLst/>
          </a:prstGeom>
          <a:noFill/>
          <a:ln/>
        </p:spPr>
        <p:txBody>
          <a:bodyPr wrap="square" lIns="0" tIns="0" rIns="0" bIns="0" rtlCol="0" anchor="ctr"/>
          <a:lstStyle/>
          <a:p>
            <a:pPr indent="0" marL="0">
              <a:buNone/>
            </a:pPr>
            <a:r>
              <a:rPr lang="en-US" sz="1100" b="1" dirty="0">
                <a:solidFill>
                  <a:srgbClr val="0B1B3A"/>
                </a:solidFill>
                <a:latin typeface="Calibri" pitchFamily="34" charset="0"/>
                <a:ea typeface="Calibri" pitchFamily="34" charset="-122"/>
                <a:cs typeface="Calibri" pitchFamily="34" charset="-120"/>
              </a:rPr>
              <a:t>Customer journey data</a:t>
            </a:r>
            <a:endParaRPr lang="en-US" sz="1100" dirty="0"/>
          </a:p>
        </p:txBody>
      </p:sp>
      <p:sp>
        <p:nvSpPr>
          <p:cNvPr id="33" name="Text 30"/>
          <p:cNvSpPr txBox="1"/>
          <p:nvPr/>
        </p:nvSpPr>
        <p:spPr>
          <a:xfrm>
            <a:off x="8138160" y="2651760"/>
            <a:ext cx="3108960" cy="201168"/>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sequenced touchpoints</a:t>
            </a:r>
            <a:endParaRPr lang="en-US" sz="950" dirty="0"/>
          </a:p>
        </p:txBody>
      </p:sp>
      <p:sp>
        <p:nvSpPr>
          <p:cNvPr id="34" name="Shape 31"/>
          <p:cNvSpPr/>
          <p:nvPr/>
        </p:nvSpPr>
        <p:spPr>
          <a:xfrm>
            <a:off x="9692640" y="2926080"/>
            <a:ext cx="0" cy="100584"/>
          </a:xfrm>
          <a:prstGeom prst="line">
            <a:avLst/>
          </a:prstGeom>
          <a:noFill/>
          <a:ln w="19050">
            <a:solidFill>
              <a:srgbClr val="0FB5A6"/>
            </a:solidFill>
            <a:prstDash val="solid"/>
            <a:tailEnd type="triangle"/>
          </a:ln>
        </p:spPr>
      </p:sp>
      <p:sp>
        <p:nvSpPr>
          <p:cNvPr id="35" name="Shape 32"/>
          <p:cNvSpPr/>
          <p:nvPr/>
        </p:nvSpPr>
        <p:spPr>
          <a:xfrm>
            <a:off x="8001000" y="3044952"/>
            <a:ext cx="3383280" cy="530352"/>
          </a:xfrm>
          <a:prstGeom prst="roundRect">
            <a:avLst>
              <a:gd name="adj" fmla="val 10345"/>
            </a:avLst>
          </a:prstGeom>
          <a:solidFill>
            <a:srgbClr val="F4F7FB"/>
          </a:solidFill>
          <a:ln w="12700">
            <a:solidFill>
              <a:srgbClr val="D6DDEA"/>
            </a:solidFill>
            <a:prstDash val="solid"/>
          </a:ln>
        </p:spPr>
      </p:sp>
      <p:sp>
        <p:nvSpPr>
          <p:cNvPr id="36" name="Text 33"/>
          <p:cNvSpPr txBox="1"/>
          <p:nvPr/>
        </p:nvSpPr>
        <p:spPr>
          <a:xfrm>
            <a:off x="8138160" y="3099816"/>
            <a:ext cx="3108960" cy="219456"/>
          </a:xfrm>
          <a:prstGeom prst="rect">
            <a:avLst/>
          </a:prstGeom>
          <a:noFill/>
          <a:ln/>
        </p:spPr>
        <p:txBody>
          <a:bodyPr wrap="square" lIns="0" tIns="0" rIns="0" bIns="0" rtlCol="0" anchor="ctr"/>
          <a:lstStyle/>
          <a:p>
            <a:pPr indent="0" marL="0">
              <a:buNone/>
            </a:pPr>
            <a:r>
              <a:rPr lang="en-US" sz="1100" b="1" dirty="0">
                <a:solidFill>
                  <a:srgbClr val="0B1B3A"/>
                </a:solidFill>
                <a:latin typeface="Calibri" pitchFamily="34" charset="0"/>
                <a:ea typeface="Calibri" pitchFamily="34" charset="-122"/>
                <a:cs typeface="Calibri" pitchFamily="34" charset="-120"/>
              </a:rPr>
              <a:t>Feature engineering</a:t>
            </a:r>
            <a:endParaRPr lang="en-US" sz="1100" dirty="0"/>
          </a:p>
        </p:txBody>
      </p:sp>
      <p:sp>
        <p:nvSpPr>
          <p:cNvPr id="37" name="Text 34"/>
          <p:cNvSpPr txBox="1"/>
          <p:nvPr/>
        </p:nvSpPr>
        <p:spPr>
          <a:xfrm>
            <a:off x="8138160" y="3319272"/>
            <a:ext cx="3108960" cy="201168"/>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order, time gaps, channel count</a:t>
            </a:r>
            <a:endParaRPr lang="en-US" sz="950" dirty="0"/>
          </a:p>
        </p:txBody>
      </p:sp>
      <p:sp>
        <p:nvSpPr>
          <p:cNvPr id="38" name="Shape 35"/>
          <p:cNvSpPr/>
          <p:nvPr/>
        </p:nvSpPr>
        <p:spPr>
          <a:xfrm>
            <a:off x="9692640" y="3593592"/>
            <a:ext cx="0" cy="100584"/>
          </a:xfrm>
          <a:prstGeom prst="line">
            <a:avLst/>
          </a:prstGeom>
          <a:noFill/>
          <a:ln w="19050">
            <a:solidFill>
              <a:srgbClr val="0FB5A6"/>
            </a:solidFill>
            <a:prstDash val="solid"/>
            <a:tailEnd type="triangle"/>
          </a:ln>
        </p:spPr>
      </p:sp>
      <p:sp>
        <p:nvSpPr>
          <p:cNvPr id="39" name="Shape 36"/>
          <p:cNvSpPr/>
          <p:nvPr/>
        </p:nvSpPr>
        <p:spPr>
          <a:xfrm>
            <a:off x="8001000" y="3712464"/>
            <a:ext cx="3383280" cy="530352"/>
          </a:xfrm>
          <a:prstGeom prst="roundRect">
            <a:avLst>
              <a:gd name="adj" fmla="val 10345"/>
            </a:avLst>
          </a:prstGeom>
          <a:solidFill>
            <a:srgbClr val="F4F7FB"/>
          </a:solidFill>
          <a:ln w="12700">
            <a:solidFill>
              <a:srgbClr val="D6DDEA"/>
            </a:solidFill>
            <a:prstDash val="solid"/>
          </a:ln>
        </p:spPr>
      </p:sp>
      <p:sp>
        <p:nvSpPr>
          <p:cNvPr id="40" name="Text 37"/>
          <p:cNvSpPr txBox="1"/>
          <p:nvPr/>
        </p:nvSpPr>
        <p:spPr>
          <a:xfrm>
            <a:off x="8138160" y="3767328"/>
            <a:ext cx="3108960" cy="219456"/>
          </a:xfrm>
          <a:prstGeom prst="rect">
            <a:avLst/>
          </a:prstGeom>
          <a:noFill/>
          <a:ln/>
        </p:spPr>
        <p:txBody>
          <a:bodyPr wrap="square" lIns="0" tIns="0" rIns="0" bIns="0" rtlCol="0" anchor="ctr"/>
          <a:lstStyle/>
          <a:p>
            <a:pPr indent="0" marL="0">
              <a:buNone/>
            </a:pPr>
            <a:r>
              <a:rPr lang="en-US" sz="1100" b="1" dirty="0">
                <a:solidFill>
                  <a:srgbClr val="0B1B3A"/>
                </a:solidFill>
                <a:latin typeface="Calibri" pitchFamily="34" charset="0"/>
                <a:ea typeface="Calibri" pitchFamily="34" charset="-122"/>
                <a:cs typeface="Calibri" pitchFamily="34" charset="-120"/>
              </a:rPr>
              <a:t>Conversion prediction</a:t>
            </a:r>
            <a:endParaRPr lang="en-US" sz="1100" dirty="0"/>
          </a:p>
        </p:txBody>
      </p:sp>
      <p:sp>
        <p:nvSpPr>
          <p:cNvPr id="41" name="Text 38"/>
          <p:cNvSpPr txBox="1"/>
          <p:nvPr/>
        </p:nvSpPr>
        <p:spPr>
          <a:xfrm>
            <a:off x="8138160" y="3986784"/>
            <a:ext cx="3108960" cy="201168"/>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XGBoost / logistic model</a:t>
            </a:r>
            <a:endParaRPr lang="en-US" sz="950" dirty="0"/>
          </a:p>
        </p:txBody>
      </p:sp>
      <p:sp>
        <p:nvSpPr>
          <p:cNvPr id="42" name="Shape 39"/>
          <p:cNvSpPr/>
          <p:nvPr/>
        </p:nvSpPr>
        <p:spPr>
          <a:xfrm>
            <a:off x="9692640" y="4261104"/>
            <a:ext cx="0" cy="100584"/>
          </a:xfrm>
          <a:prstGeom prst="line">
            <a:avLst/>
          </a:prstGeom>
          <a:noFill/>
          <a:ln w="19050">
            <a:solidFill>
              <a:srgbClr val="0FB5A6"/>
            </a:solidFill>
            <a:prstDash val="solid"/>
            <a:tailEnd type="triangle"/>
          </a:ln>
        </p:spPr>
      </p:sp>
      <p:sp>
        <p:nvSpPr>
          <p:cNvPr id="43" name="Shape 40"/>
          <p:cNvSpPr/>
          <p:nvPr/>
        </p:nvSpPr>
        <p:spPr>
          <a:xfrm>
            <a:off x="8001000" y="4379976"/>
            <a:ext cx="3383280" cy="530352"/>
          </a:xfrm>
          <a:prstGeom prst="roundRect">
            <a:avLst>
              <a:gd name="adj" fmla="val 10345"/>
            </a:avLst>
          </a:prstGeom>
          <a:solidFill>
            <a:srgbClr val="F4F7FB"/>
          </a:solidFill>
          <a:ln w="12700">
            <a:solidFill>
              <a:srgbClr val="D6DDEA"/>
            </a:solidFill>
            <a:prstDash val="solid"/>
          </a:ln>
        </p:spPr>
      </p:sp>
      <p:sp>
        <p:nvSpPr>
          <p:cNvPr id="44" name="Text 41"/>
          <p:cNvSpPr txBox="1"/>
          <p:nvPr/>
        </p:nvSpPr>
        <p:spPr>
          <a:xfrm>
            <a:off x="8138160" y="4434840"/>
            <a:ext cx="3108960" cy="219456"/>
          </a:xfrm>
          <a:prstGeom prst="rect">
            <a:avLst/>
          </a:prstGeom>
          <a:noFill/>
          <a:ln/>
        </p:spPr>
        <p:txBody>
          <a:bodyPr wrap="square" lIns="0" tIns="0" rIns="0" bIns="0" rtlCol="0" anchor="ctr"/>
          <a:lstStyle/>
          <a:p>
            <a:pPr indent="0" marL="0">
              <a:buNone/>
            </a:pPr>
            <a:r>
              <a:rPr lang="en-US" sz="1100" b="1" dirty="0">
                <a:solidFill>
                  <a:srgbClr val="0B1B3A"/>
                </a:solidFill>
                <a:latin typeface="Calibri" pitchFamily="34" charset="0"/>
                <a:ea typeface="Calibri" pitchFamily="34" charset="-122"/>
                <a:cs typeface="Calibri" pitchFamily="34" charset="-120"/>
              </a:rPr>
              <a:t>Channel importance</a:t>
            </a:r>
            <a:endParaRPr lang="en-US" sz="1100" dirty="0"/>
          </a:p>
        </p:txBody>
      </p:sp>
      <p:sp>
        <p:nvSpPr>
          <p:cNvPr id="45" name="Text 42"/>
          <p:cNvSpPr txBox="1"/>
          <p:nvPr/>
        </p:nvSpPr>
        <p:spPr>
          <a:xfrm>
            <a:off x="8138160" y="4654296"/>
            <a:ext cx="3108960" cy="201168"/>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Markov removal, SHAP values</a:t>
            </a:r>
            <a:endParaRPr lang="en-US" sz="950" dirty="0"/>
          </a:p>
        </p:txBody>
      </p:sp>
      <p:sp>
        <p:nvSpPr>
          <p:cNvPr id="46" name="Shape 43"/>
          <p:cNvSpPr/>
          <p:nvPr/>
        </p:nvSpPr>
        <p:spPr>
          <a:xfrm>
            <a:off x="9692640" y="4928616"/>
            <a:ext cx="0" cy="100584"/>
          </a:xfrm>
          <a:prstGeom prst="line">
            <a:avLst/>
          </a:prstGeom>
          <a:noFill/>
          <a:ln w="19050">
            <a:solidFill>
              <a:srgbClr val="0FB5A6"/>
            </a:solidFill>
            <a:prstDash val="solid"/>
            <a:tailEnd type="triangle"/>
          </a:ln>
        </p:spPr>
      </p:sp>
      <p:sp>
        <p:nvSpPr>
          <p:cNvPr id="47" name="Shape 44"/>
          <p:cNvSpPr/>
          <p:nvPr/>
        </p:nvSpPr>
        <p:spPr>
          <a:xfrm>
            <a:off x="8001000" y="5047488"/>
            <a:ext cx="3383280" cy="530352"/>
          </a:xfrm>
          <a:prstGeom prst="roundRect">
            <a:avLst>
              <a:gd name="adj" fmla="val 10345"/>
            </a:avLst>
          </a:prstGeom>
          <a:solidFill>
            <a:srgbClr val="F4F7FB"/>
          </a:solidFill>
          <a:ln w="12700">
            <a:solidFill>
              <a:srgbClr val="D6DDEA"/>
            </a:solidFill>
            <a:prstDash val="solid"/>
          </a:ln>
        </p:spPr>
      </p:sp>
      <p:sp>
        <p:nvSpPr>
          <p:cNvPr id="48" name="Text 45"/>
          <p:cNvSpPr txBox="1"/>
          <p:nvPr/>
        </p:nvSpPr>
        <p:spPr>
          <a:xfrm>
            <a:off x="8138160" y="5102352"/>
            <a:ext cx="3108960" cy="219456"/>
          </a:xfrm>
          <a:prstGeom prst="rect">
            <a:avLst/>
          </a:prstGeom>
          <a:noFill/>
          <a:ln/>
        </p:spPr>
        <p:txBody>
          <a:bodyPr wrap="square" lIns="0" tIns="0" rIns="0" bIns="0" rtlCol="0" anchor="ctr"/>
          <a:lstStyle/>
          <a:p>
            <a:pPr indent="0" marL="0">
              <a:buNone/>
            </a:pPr>
            <a:r>
              <a:rPr lang="en-US" sz="1100" b="1" dirty="0">
                <a:solidFill>
                  <a:srgbClr val="0B1B3A"/>
                </a:solidFill>
                <a:latin typeface="Calibri" pitchFamily="34" charset="0"/>
                <a:ea typeface="Calibri" pitchFamily="34" charset="-122"/>
                <a:cs typeface="Calibri" pitchFamily="34" charset="-120"/>
              </a:rPr>
              <a:t>Attributed revenue</a:t>
            </a:r>
            <a:endParaRPr lang="en-US" sz="1100" dirty="0"/>
          </a:p>
        </p:txBody>
      </p:sp>
      <p:sp>
        <p:nvSpPr>
          <p:cNvPr id="49" name="Text 46"/>
          <p:cNvSpPr txBox="1"/>
          <p:nvPr/>
        </p:nvSpPr>
        <p:spPr>
          <a:xfrm>
            <a:off x="8138160" y="5321808"/>
            <a:ext cx="3108960" cy="201168"/>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credit per channel</a:t>
            </a:r>
            <a:endParaRPr lang="en-US" sz="950" dirty="0"/>
          </a:p>
        </p:txBody>
      </p:sp>
      <p:sp>
        <p:nvSpPr>
          <p:cNvPr id="50" name="Shape 47"/>
          <p:cNvSpPr/>
          <p:nvPr/>
        </p:nvSpPr>
        <p:spPr>
          <a:xfrm>
            <a:off x="9692640" y="5596128"/>
            <a:ext cx="0" cy="100584"/>
          </a:xfrm>
          <a:prstGeom prst="line">
            <a:avLst/>
          </a:prstGeom>
          <a:noFill/>
          <a:ln w="19050">
            <a:solidFill>
              <a:srgbClr val="0FB5A6"/>
            </a:solidFill>
            <a:prstDash val="solid"/>
            <a:tailEnd type="triangle"/>
          </a:ln>
        </p:spPr>
      </p:sp>
      <p:sp>
        <p:nvSpPr>
          <p:cNvPr id="51" name="Shape 48"/>
          <p:cNvSpPr/>
          <p:nvPr/>
        </p:nvSpPr>
        <p:spPr>
          <a:xfrm>
            <a:off x="8001000" y="5715000"/>
            <a:ext cx="3383280" cy="530352"/>
          </a:xfrm>
          <a:prstGeom prst="roundRect">
            <a:avLst>
              <a:gd name="adj" fmla="val 10345"/>
            </a:avLst>
          </a:prstGeom>
          <a:solidFill>
            <a:srgbClr val="FDEDE1"/>
          </a:solidFill>
          <a:ln w="12700">
            <a:solidFill>
              <a:srgbClr val="F2762E"/>
            </a:solidFill>
            <a:prstDash val="solid"/>
          </a:ln>
        </p:spPr>
      </p:sp>
      <p:sp>
        <p:nvSpPr>
          <p:cNvPr id="52" name="Text 49"/>
          <p:cNvSpPr txBox="1"/>
          <p:nvPr/>
        </p:nvSpPr>
        <p:spPr>
          <a:xfrm>
            <a:off x="8138160" y="5769864"/>
            <a:ext cx="3108960" cy="219456"/>
          </a:xfrm>
          <a:prstGeom prst="rect">
            <a:avLst/>
          </a:prstGeom>
          <a:noFill/>
          <a:ln/>
        </p:spPr>
        <p:txBody>
          <a:bodyPr wrap="square" lIns="0" tIns="0" rIns="0" bIns="0" rtlCol="0" anchor="ctr"/>
          <a:lstStyle/>
          <a:p>
            <a:pPr indent="0" marL="0">
              <a:buNone/>
            </a:pPr>
            <a:r>
              <a:rPr lang="en-US" sz="1100" b="1" dirty="0">
                <a:solidFill>
                  <a:srgbClr val="0B1B3A"/>
                </a:solidFill>
                <a:latin typeface="Calibri" pitchFamily="34" charset="0"/>
                <a:ea typeface="Calibri" pitchFamily="34" charset="-122"/>
                <a:cs typeface="Calibri" pitchFamily="34" charset="-120"/>
              </a:rPr>
              <a:t>Budget optimisation</a:t>
            </a:r>
            <a:endParaRPr lang="en-US" sz="1100" dirty="0"/>
          </a:p>
        </p:txBody>
      </p:sp>
      <p:sp>
        <p:nvSpPr>
          <p:cNvPr id="53" name="Text 50"/>
          <p:cNvSpPr txBox="1"/>
          <p:nvPr/>
        </p:nvSpPr>
        <p:spPr>
          <a:xfrm>
            <a:off x="8138160" y="5989320"/>
            <a:ext cx="3108960" cy="201168"/>
          </a:xfrm>
          <a:prstGeom prst="rect">
            <a:avLst/>
          </a:prstGeom>
          <a:noFill/>
          <a:ln/>
        </p:spPr>
        <p:txBody>
          <a:bodyPr wrap="square" lIns="0" tIns="0" rIns="0" bIns="0" rtlCol="0" anchor="ctr"/>
          <a:lstStyle/>
          <a:p>
            <a:pPr indent="0" marL="0">
              <a:buNone/>
            </a:pPr>
            <a:r>
              <a:rPr lang="en-US" sz="950" dirty="0">
                <a:solidFill>
                  <a:srgbClr val="5D6B85"/>
                </a:solidFill>
                <a:latin typeface="Calibri" pitchFamily="34" charset="0"/>
                <a:ea typeface="Calibri" pitchFamily="34" charset="-122"/>
                <a:cs typeface="Calibri" pitchFamily="34" charset="-120"/>
              </a:rPr>
              <a:t>constrained allocation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A8377"/>
                </a:solidFill>
                <a:latin typeface="Calibri" pitchFamily="34" charset="0"/>
                <a:ea typeface="Calibri" pitchFamily="34" charset="-122"/>
                <a:cs typeface="Calibri" pitchFamily="34" charset="-120"/>
              </a:rPr>
              <a:t>INTERACTIVE DASHBOARD AND WHAT-IF ANALYSIS</a:t>
            </a:r>
            <a:endParaRPr lang="en-US" sz="1050" dirty="0"/>
          </a:p>
        </p:txBody>
      </p:sp>
      <p:sp>
        <p:nvSpPr>
          <p:cNvPr id="3" name="Text 1"/>
          <p:cNvSpPr txBox="1"/>
          <p:nvPr/>
        </p:nvSpPr>
        <p:spPr>
          <a:xfrm>
            <a:off x="548640" y="566928"/>
            <a:ext cx="11064240" cy="548640"/>
          </a:xfrm>
          <a:prstGeom prst="rect">
            <a:avLst/>
          </a:prstGeom>
          <a:noFill/>
          <a:ln/>
        </p:spPr>
        <p:txBody>
          <a:bodyPr wrap="square" lIns="0" tIns="0" rIns="0" bIns="0" rtlCol="0" anchor="ctr"/>
          <a:lstStyle/>
          <a:p>
            <a:pPr indent="0" marL="0">
              <a:buNone/>
            </a:pPr>
            <a:r>
              <a:rPr lang="en-US" sz="3000" b="1" dirty="0">
                <a:solidFill>
                  <a:srgbClr val="0B1B3A"/>
                </a:solidFill>
                <a:latin typeface="Cambria" pitchFamily="34" charset="0"/>
                <a:ea typeface="Cambria" pitchFamily="34" charset="-122"/>
                <a:cs typeface="Cambria" pitchFamily="34" charset="-120"/>
              </a:rPr>
              <a:t>Dashboard: From Insight to Action</a:t>
            </a:r>
            <a:endParaRPr lang="en-US" sz="3000" dirty="0"/>
          </a:p>
        </p:txBody>
      </p:sp>
      <p:sp>
        <p:nvSpPr>
          <p:cNvPr id="4" name="Shape 2"/>
          <p:cNvSpPr/>
          <p:nvPr/>
        </p:nvSpPr>
        <p:spPr>
          <a:xfrm>
            <a:off x="457200" y="1188720"/>
            <a:ext cx="11292840" cy="5138928"/>
          </a:xfrm>
          <a:prstGeom prst="roundRect">
            <a:avLst>
              <a:gd name="adj" fmla="val 1068"/>
            </a:avLst>
          </a:prstGeom>
          <a:solidFill>
            <a:srgbClr val="FFFFFF"/>
          </a:solidFill>
          <a:ln w="19050">
            <a:solidFill>
              <a:srgbClr val="17305C"/>
            </a:solidFill>
            <a:prstDash val="solid"/>
          </a:ln>
        </p:spPr>
      </p:sp>
      <p:sp>
        <p:nvSpPr>
          <p:cNvPr id="5" name="Shape 3"/>
          <p:cNvSpPr/>
          <p:nvPr/>
        </p:nvSpPr>
        <p:spPr>
          <a:xfrm>
            <a:off x="466344" y="1197864"/>
            <a:ext cx="11274552" cy="457200"/>
          </a:xfrm>
          <a:prstGeom prst="rect">
            <a:avLst/>
          </a:prstGeom>
          <a:solidFill>
            <a:srgbClr val="0B1B3A"/>
          </a:solidFill>
          <a:ln w="12700">
            <a:solidFill>
              <a:srgbClr val="0B1B3A"/>
            </a:solidFill>
            <a:prstDash val="solid"/>
          </a:ln>
        </p:spPr>
      </p:sp>
      <p:sp>
        <p:nvSpPr>
          <p:cNvPr id="6" name="Text 4"/>
          <p:cNvSpPr txBox="1"/>
          <p:nvPr/>
        </p:nvSpPr>
        <p:spPr>
          <a:xfrm>
            <a:off x="685800" y="1197864"/>
            <a:ext cx="36576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Campaign ROI Dashboard</a:t>
            </a:r>
            <a:endParaRPr lang="en-US" sz="1250" dirty="0"/>
          </a:p>
        </p:txBody>
      </p:sp>
      <p:sp>
        <p:nvSpPr>
          <p:cNvPr id="7" name="Shape 5"/>
          <p:cNvSpPr/>
          <p:nvPr/>
        </p:nvSpPr>
        <p:spPr>
          <a:xfrm>
            <a:off x="6035040" y="1298448"/>
            <a:ext cx="1325880" cy="256032"/>
          </a:xfrm>
          <a:prstGeom prst="roundRect">
            <a:avLst>
              <a:gd name="adj" fmla="val 21429"/>
            </a:avLst>
          </a:prstGeom>
          <a:solidFill>
            <a:srgbClr val="17305C"/>
          </a:solidFill>
          <a:ln w="9525">
            <a:solidFill>
              <a:srgbClr val="17305C"/>
            </a:solidFill>
            <a:prstDash val="solid"/>
          </a:ln>
        </p:spPr>
      </p:sp>
      <p:sp>
        <p:nvSpPr>
          <p:cNvPr id="8" name="Text 6"/>
          <p:cNvSpPr txBox="1"/>
          <p:nvPr/>
        </p:nvSpPr>
        <p:spPr>
          <a:xfrm>
            <a:off x="6035040" y="1298448"/>
            <a:ext cx="1325880" cy="256032"/>
          </a:xfrm>
          <a:prstGeom prst="rect">
            <a:avLst/>
          </a:prstGeom>
          <a:noFill/>
          <a:ln/>
        </p:spPr>
        <p:txBody>
          <a:bodyPr wrap="square" lIns="0" tIns="0" rIns="0" bIns="0" rtlCol="0" anchor="ctr"/>
          <a:lstStyle/>
          <a:p>
            <a:pPr algn="ctr" indent="0" marL="0">
              <a:buNone/>
            </a:pPr>
            <a:r>
              <a:rPr lang="en-US" sz="950" b="1" dirty="0">
                <a:solidFill>
                  <a:srgbClr val="0FB5A6"/>
                </a:solidFill>
                <a:latin typeface="Calibri" pitchFamily="34" charset="0"/>
                <a:ea typeface="Calibri" pitchFamily="34" charset="-122"/>
                <a:cs typeface="Calibri" pitchFamily="34" charset="-120"/>
              </a:rPr>
              <a:t>Date: Jan–Mar</a:t>
            </a:r>
            <a:endParaRPr lang="en-US" sz="950" dirty="0"/>
          </a:p>
        </p:txBody>
      </p:sp>
      <p:sp>
        <p:nvSpPr>
          <p:cNvPr id="9" name="Shape 7"/>
          <p:cNvSpPr/>
          <p:nvPr/>
        </p:nvSpPr>
        <p:spPr>
          <a:xfrm>
            <a:off x="7452360" y="1298448"/>
            <a:ext cx="1325880" cy="256032"/>
          </a:xfrm>
          <a:prstGeom prst="roundRect">
            <a:avLst>
              <a:gd name="adj" fmla="val 21429"/>
            </a:avLst>
          </a:prstGeom>
          <a:solidFill>
            <a:srgbClr val="17305C"/>
          </a:solidFill>
          <a:ln w="9525">
            <a:solidFill>
              <a:srgbClr val="17305C"/>
            </a:solidFill>
            <a:prstDash val="solid"/>
          </a:ln>
        </p:spPr>
      </p:sp>
      <p:sp>
        <p:nvSpPr>
          <p:cNvPr id="10" name="Text 8"/>
          <p:cNvSpPr txBox="1"/>
          <p:nvPr/>
        </p:nvSpPr>
        <p:spPr>
          <a:xfrm>
            <a:off x="7452360" y="1298448"/>
            <a:ext cx="1325880" cy="256032"/>
          </a:xfrm>
          <a:prstGeom prst="rect">
            <a:avLst/>
          </a:prstGeom>
          <a:noFill/>
          <a:ln/>
        </p:spPr>
        <p:txBody>
          <a:bodyPr wrap="square" lIns="0" tIns="0" rIns="0" bIns="0" rtlCol="0" anchor="ctr"/>
          <a:lstStyle/>
          <a:p>
            <a:pPr algn="ctr" indent="0" marL="0">
              <a:buNone/>
            </a:pPr>
            <a:r>
              <a:rPr lang="en-US" sz="950" b="1" dirty="0">
                <a:solidFill>
                  <a:srgbClr val="0FB5A6"/>
                </a:solidFill>
                <a:latin typeface="Calibri" pitchFamily="34" charset="0"/>
                <a:ea typeface="Calibri" pitchFamily="34" charset="-122"/>
                <a:cs typeface="Calibri" pitchFamily="34" charset="-120"/>
              </a:rPr>
              <a:t>Channel: All</a:t>
            </a:r>
            <a:endParaRPr lang="en-US" sz="950" dirty="0"/>
          </a:p>
        </p:txBody>
      </p:sp>
      <p:sp>
        <p:nvSpPr>
          <p:cNvPr id="11" name="Shape 9"/>
          <p:cNvSpPr/>
          <p:nvPr/>
        </p:nvSpPr>
        <p:spPr>
          <a:xfrm>
            <a:off x="8869680" y="1298448"/>
            <a:ext cx="1325880" cy="256032"/>
          </a:xfrm>
          <a:prstGeom prst="roundRect">
            <a:avLst>
              <a:gd name="adj" fmla="val 21429"/>
            </a:avLst>
          </a:prstGeom>
          <a:solidFill>
            <a:srgbClr val="17305C"/>
          </a:solidFill>
          <a:ln w="9525">
            <a:solidFill>
              <a:srgbClr val="17305C"/>
            </a:solidFill>
            <a:prstDash val="solid"/>
          </a:ln>
        </p:spPr>
      </p:sp>
      <p:sp>
        <p:nvSpPr>
          <p:cNvPr id="12" name="Text 10"/>
          <p:cNvSpPr txBox="1"/>
          <p:nvPr/>
        </p:nvSpPr>
        <p:spPr>
          <a:xfrm>
            <a:off x="8869680" y="1298448"/>
            <a:ext cx="1325880" cy="256032"/>
          </a:xfrm>
          <a:prstGeom prst="rect">
            <a:avLst/>
          </a:prstGeom>
          <a:noFill/>
          <a:ln/>
        </p:spPr>
        <p:txBody>
          <a:bodyPr wrap="square" lIns="0" tIns="0" rIns="0" bIns="0" rtlCol="0" anchor="ctr"/>
          <a:lstStyle/>
          <a:p>
            <a:pPr algn="ctr" indent="0" marL="0">
              <a:buNone/>
            </a:pPr>
            <a:r>
              <a:rPr lang="en-US" sz="950" b="1" dirty="0">
                <a:solidFill>
                  <a:srgbClr val="0FB5A6"/>
                </a:solidFill>
                <a:latin typeface="Calibri" pitchFamily="34" charset="0"/>
                <a:ea typeface="Calibri" pitchFamily="34" charset="-122"/>
                <a:cs typeface="Calibri" pitchFamily="34" charset="-120"/>
              </a:rPr>
              <a:t>Model: Markov</a:t>
            </a:r>
            <a:endParaRPr lang="en-US" sz="950" dirty="0"/>
          </a:p>
        </p:txBody>
      </p:sp>
      <p:sp>
        <p:nvSpPr>
          <p:cNvPr id="13" name="Shape 11"/>
          <p:cNvSpPr/>
          <p:nvPr/>
        </p:nvSpPr>
        <p:spPr>
          <a:xfrm>
            <a:off x="10287000" y="1298448"/>
            <a:ext cx="1325880" cy="256032"/>
          </a:xfrm>
          <a:prstGeom prst="roundRect">
            <a:avLst>
              <a:gd name="adj" fmla="val 21429"/>
            </a:avLst>
          </a:prstGeom>
          <a:solidFill>
            <a:srgbClr val="17305C"/>
          </a:solidFill>
          <a:ln w="9525">
            <a:solidFill>
              <a:srgbClr val="17305C"/>
            </a:solidFill>
            <a:prstDash val="solid"/>
          </a:ln>
        </p:spPr>
      </p:sp>
      <p:sp>
        <p:nvSpPr>
          <p:cNvPr id="14" name="Text 12"/>
          <p:cNvSpPr txBox="1"/>
          <p:nvPr/>
        </p:nvSpPr>
        <p:spPr>
          <a:xfrm>
            <a:off x="10287000" y="1298448"/>
            <a:ext cx="1325880" cy="256032"/>
          </a:xfrm>
          <a:prstGeom prst="rect">
            <a:avLst/>
          </a:prstGeom>
          <a:noFill/>
          <a:ln/>
        </p:spPr>
        <p:txBody>
          <a:bodyPr wrap="square" lIns="0" tIns="0" rIns="0" bIns="0" rtlCol="0" anchor="ctr"/>
          <a:lstStyle/>
          <a:p>
            <a:pPr algn="ctr" indent="0" marL="0">
              <a:buNone/>
            </a:pPr>
            <a:r>
              <a:rPr lang="en-US" sz="950" b="1" dirty="0">
                <a:solidFill>
                  <a:srgbClr val="0FB5A6"/>
                </a:solidFill>
                <a:latin typeface="Calibri" pitchFamily="34" charset="0"/>
                <a:ea typeface="Calibri" pitchFamily="34" charset="-122"/>
                <a:cs typeface="Calibri" pitchFamily="34" charset="-120"/>
              </a:rPr>
              <a:t>Region: All</a:t>
            </a:r>
            <a:endParaRPr lang="en-US" sz="950" dirty="0"/>
          </a:p>
        </p:txBody>
      </p:sp>
      <p:sp>
        <p:nvSpPr>
          <p:cNvPr id="15" name="Shape 13"/>
          <p:cNvSpPr/>
          <p:nvPr/>
        </p:nvSpPr>
        <p:spPr>
          <a:xfrm>
            <a:off x="658368" y="1783080"/>
            <a:ext cx="2596896" cy="749808"/>
          </a:xfrm>
          <a:prstGeom prst="roundRect">
            <a:avLst>
              <a:gd name="adj" fmla="val 7317"/>
            </a:avLst>
          </a:prstGeom>
          <a:solidFill>
            <a:srgbClr val="F4F7FB"/>
          </a:solidFill>
          <a:ln w="12700">
            <a:solidFill>
              <a:srgbClr val="D6DDEA"/>
            </a:solidFill>
            <a:prstDash val="solid"/>
          </a:ln>
        </p:spPr>
      </p:sp>
      <p:sp>
        <p:nvSpPr>
          <p:cNvPr id="16" name="Text 14"/>
          <p:cNvSpPr txBox="1"/>
          <p:nvPr/>
        </p:nvSpPr>
        <p:spPr>
          <a:xfrm>
            <a:off x="804672" y="1874520"/>
            <a:ext cx="2286000" cy="201168"/>
          </a:xfrm>
          <a:prstGeom prst="rect">
            <a:avLst/>
          </a:prstGeom>
          <a:noFill/>
          <a:ln/>
        </p:spPr>
        <p:txBody>
          <a:bodyPr wrap="square" lIns="0" tIns="0" rIns="0" bIns="0" rtlCol="0" anchor="ctr"/>
          <a:lstStyle/>
          <a:p>
            <a:pPr indent="0" marL="0">
              <a:buNone/>
            </a:pPr>
            <a:r>
              <a:rPr lang="en-US" sz="950" b="1" spc="100" kern="0" dirty="0">
                <a:solidFill>
                  <a:srgbClr val="5D6B85"/>
                </a:solidFill>
                <a:latin typeface="Calibri" pitchFamily="34" charset="0"/>
                <a:ea typeface="Calibri" pitchFamily="34" charset="-122"/>
                <a:cs typeface="Calibri" pitchFamily="34" charset="-120"/>
              </a:rPr>
              <a:t>Spend</a:t>
            </a:r>
            <a:endParaRPr lang="en-US" sz="950" dirty="0"/>
          </a:p>
        </p:txBody>
      </p:sp>
      <p:sp>
        <p:nvSpPr>
          <p:cNvPr id="17" name="Text 15"/>
          <p:cNvSpPr txBox="1"/>
          <p:nvPr/>
        </p:nvSpPr>
        <p:spPr>
          <a:xfrm>
            <a:off x="804672" y="2075688"/>
            <a:ext cx="2286000" cy="384048"/>
          </a:xfrm>
          <a:prstGeom prst="rect">
            <a:avLst/>
          </a:prstGeom>
          <a:noFill/>
          <a:ln/>
        </p:spPr>
        <p:txBody>
          <a:bodyPr wrap="square" lIns="0" tIns="0" rIns="0" bIns="0" rtlCol="0" anchor="ctr"/>
          <a:lstStyle/>
          <a:p>
            <a:pPr indent="0" marL="0">
              <a:buNone/>
            </a:pPr>
            <a:r>
              <a:rPr lang="en-US" sz="1800" b="1" dirty="0">
                <a:solidFill>
                  <a:srgbClr val="0B1B3A"/>
                </a:solidFill>
                <a:latin typeface="Calibri" pitchFamily="34" charset="0"/>
                <a:ea typeface="Calibri" pitchFamily="34" charset="-122"/>
                <a:cs typeface="Calibri" pitchFamily="34" charset="-120"/>
              </a:rPr>
              <a:t>₹8,00,000</a:t>
            </a:r>
            <a:endParaRPr lang="en-US" sz="1800" dirty="0"/>
          </a:p>
        </p:txBody>
      </p:sp>
      <p:sp>
        <p:nvSpPr>
          <p:cNvPr id="18" name="Shape 16"/>
          <p:cNvSpPr/>
          <p:nvPr/>
        </p:nvSpPr>
        <p:spPr>
          <a:xfrm>
            <a:off x="3392424" y="1783080"/>
            <a:ext cx="2596896" cy="749808"/>
          </a:xfrm>
          <a:prstGeom prst="roundRect">
            <a:avLst>
              <a:gd name="adj" fmla="val 7317"/>
            </a:avLst>
          </a:prstGeom>
          <a:solidFill>
            <a:srgbClr val="F4F7FB"/>
          </a:solidFill>
          <a:ln w="12700">
            <a:solidFill>
              <a:srgbClr val="D6DDEA"/>
            </a:solidFill>
            <a:prstDash val="solid"/>
          </a:ln>
        </p:spPr>
      </p:sp>
      <p:sp>
        <p:nvSpPr>
          <p:cNvPr id="19" name="Text 17"/>
          <p:cNvSpPr txBox="1"/>
          <p:nvPr/>
        </p:nvSpPr>
        <p:spPr>
          <a:xfrm>
            <a:off x="3538728" y="1874520"/>
            <a:ext cx="2286000" cy="201168"/>
          </a:xfrm>
          <a:prstGeom prst="rect">
            <a:avLst/>
          </a:prstGeom>
          <a:noFill/>
          <a:ln/>
        </p:spPr>
        <p:txBody>
          <a:bodyPr wrap="square" lIns="0" tIns="0" rIns="0" bIns="0" rtlCol="0" anchor="ctr"/>
          <a:lstStyle/>
          <a:p>
            <a:pPr indent="0" marL="0">
              <a:buNone/>
            </a:pPr>
            <a:r>
              <a:rPr lang="en-US" sz="950" b="1" spc="100" kern="0" dirty="0">
                <a:solidFill>
                  <a:srgbClr val="5D6B85"/>
                </a:solidFill>
                <a:latin typeface="Calibri" pitchFamily="34" charset="0"/>
                <a:ea typeface="Calibri" pitchFamily="34" charset="-122"/>
                <a:cs typeface="Calibri" pitchFamily="34" charset="-120"/>
              </a:rPr>
              <a:t>Attributed revenue</a:t>
            </a:r>
            <a:endParaRPr lang="en-US" sz="950" dirty="0"/>
          </a:p>
        </p:txBody>
      </p:sp>
      <p:sp>
        <p:nvSpPr>
          <p:cNvPr id="20" name="Text 18"/>
          <p:cNvSpPr txBox="1"/>
          <p:nvPr/>
        </p:nvSpPr>
        <p:spPr>
          <a:xfrm>
            <a:off x="3538728" y="2075688"/>
            <a:ext cx="2286000" cy="384048"/>
          </a:xfrm>
          <a:prstGeom prst="rect">
            <a:avLst/>
          </a:prstGeom>
          <a:noFill/>
          <a:ln/>
        </p:spPr>
        <p:txBody>
          <a:bodyPr wrap="square" lIns="0" tIns="0" rIns="0" bIns="0" rtlCol="0" anchor="ctr"/>
          <a:lstStyle/>
          <a:p>
            <a:pPr indent="0" marL="0">
              <a:buNone/>
            </a:pPr>
            <a:r>
              <a:rPr lang="en-US" sz="1800" b="1" dirty="0">
                <a:solidFill>
                  <a:srgbClr val="0B1B3A"/>
                </a:solidFill>
                <a:latin typeface="Calibri" pitchFamily="34" charset="0"/>
                <a:ea typeface="Calibri" pitchFamily="34" charset="-122"/>
                <a:cs typeface="Calibri" pitchFamily="34" charset="-120"/>
              </a:rPr>
              <a:t>₹16,00,000</a:t>
            </a:r>
            <a:endParaRPr lang="en-US" sz="1800" dirty="0"/>
          </a:p>
        </p:txBody>
      </p:sp>
      <p:sp>
        <p:nvSpPr>
          <p:cNvPr id="21" name="Shape 19"/>
          <p:cNvSpPr/>
          <p:nvPr/>
        </p:nvSpPr>
        <p:spPr>
          <a:xfrm>
            <a:off x="6126480" y="1783080"/>
            <a:ext cx="2596896" cy="749808"/>
          </a:xfrm>
          <a:prstGeom prst="roundRect">
            <a:avLst>
              <a:gd name="adj" fmla="val 7317"/>
            </a:avLst>
          </a:prstGeom>
          <a:solidFill>
            <a:srgbClr val="F4F7FB"/>
          </a:solidFill>
          <a:ln w="12700">
            <a:solidFill>
              <a:srgbClr val="D6DDEA"/>
            </a:solidFill>
            <a:prstDash val="solid"/>
          </a:ln>
        </p:spPr>
      </p:sp>
      <p:sp>
        <p:nvSpPr>
          <p:cNvPr id="22" name="Text 20"/>
          <p:cNvSpPr txBox="1"/>
          <p:nvPr/>
        </p:nvSpPr>
        <p:spPr>
          <a:xfrm>
            <a:off x="6272784" y="1874520"/>
            <a:ext cx="2286000" cy="201168"/>
          </a:xfrm>
          <a:prstGeom prst="rect">
            <a:avLst/>
          </a:prstGeom>
          <a:noFill/>
          <a:ln/>
        </p:spPr>
        <p:txBody>
          <a:bodyPr wrap="square" lIns="0" tIns="0" rIns="0" bIns="0" rtlCol="0" anchor="ctr"/>
          <a:lstStyle/>
          <a:p>
            <a:pPr indent="0" marL="0">
              <a:buNone/>
            </a:pPr>
            <a:r>
              <a:rPr lang="en-US" sz="950" b="1" spc="100" kern="0" dirty="0">
                <a:solidFill>
                  <a:srgbClr val="5D6B85"/>
                </a:solidFill>
                <a:latin typeface="Calibri" pitchFamily="34" charset="0"/>
                <a:ea typeface="Calibri" pitchFamily="34" charset="-122"/>
                <a:cs typeface="Calibri" pitchFamily="34" charset="-120"/>
              </a:rPr>
              <a:t>Conversions</a:t>
            </a:r>
            <a:endParaRPr lang="en-US" sz="950" dirty="0"/>
          </a:p>
        </p:txBody>
      </p:sp>
      <p:sp>
        <p:nvSpPr>
          <p:cNvPr id="23" name="Text 21"/>
          <p:cNvSpPr txBox="1"/>
          <p:nvPr/>
        </p:nvSpPr>
        <p:spPr>
          <a:xfrm>
            <a:off x="6272784" y="2075688"/>
            <a:ext cx="2286000" cy="384048"/>
          </a:xfrm>
          <a:prstGeom prst="rect">
            <a:avLst/>
          </a:prstGeom>
          <a:noFill/>
          <a:ln/>
        </p:spPr>
        <p:txBody>
          <a:bodyPr wrap="square" lIns="0" tIns="0" rIns="0" bIns="0" rtlCol="0" anchor="ctr"/>
          <a:lstStyle/>
          <a:p>
            <a:pPr indent="0" marL="0">
              <a:buNone/>
            </a:pPr>
            <a:r>
              <a:rPr lang="en-US" sz="1800" b="1" dirty="0">
                <a:solidFill>
                  <a:srgbClr val="0B1B3A"/>
                </a:solidFill>
                <a:latin typeface="Calibri" pitchFamily="34" charset="0"/>
                <a:ea typeface="Calibri" pitchFamily="34" charset="-122"/>
                <a:cs typeface="Calibri" pitchFamily="34" charset="-120"/>
              </a:rPr>
              <a:t>2,450</a:t>
            </a:r>
            <a:endParaRPr lang="en-US" sz="1800" dirty="0"/>
          </a:p>
        </p:txBody>
      </p:sp>
      <p:sp>
        <p:nvSpPr>
          <p:cNvPr id="24" name="Shape 22"/>
          <p:cNvSpPr/>
          <p:nvPr/>
        </p:nvSpPr>
        <p:spPr>
          <a:xfrm>
            <a:off x="8860536" y="1783080"/>
            <a:ext cx="2596896" cy="749808"/>
          </a:xfrm>
          <a:prstGeom prst="roundRect">
            <a:avLst>
              <a:gd name="adj" fmla="val 7317"/>
            </a:avLst>
          </a:prstGeom>
          <a:solidFill>
            <a:srgbClr val="F4F7FB"/>
          </a:solidFill>
          <a:ln w="12700">
            <a:solidFill>
              <a:srgbClr val="D6DDEA"/>
            </a:solidFill>
            <a:prstDash val="solid"/>
          </a:ln>
        </p:spPr>
      </p:sp>
      <p:sp>
        <p:nvSpPr>
          <p:cNvPr id="25" name="Text 23"/>
          <p:cNvSpPr txBox="1"/>
          <p:nvPr/>
        </p:nvSpPr>
        <p:spPr>
          <a:xfrm>
            <a:off x="9006840" y="1874520"/>
            <a:ext cx="2286000" cy="201168"/>
          </a:xfrm>
          <a:prstGeom prst="rect">
            <a:avLst/>
          </a:prstGeom>
          <a:noFill/>
          <a:ln/>
        </p:spPr>
        <p:txBody>
          <a:bodyPr wrap="square" lIns="0" tIns="0" rIns="0" bIns="0" rtlCol="0" anchor="ctr"/>
          <a:lstStyle/>
          <a:p>
            <a:pPr indent="0" marL="0">
              <a:buNone/>
            </a:pPr>
            <a:r>
              <a:rPr lang="en-US" sz="950" b="1" spc="100" kern="0" dirty="0">
                <a:solidFill>
                  <a:srgbClr val="5D6B85"/>
                </a:solidFill>
                <a:latin typeface="Calibri" pitchFamily="34" charset="0"/>
                <a:ea typeface="Calibri" pitchFamily="34" charset="-122"/>
                <a:cs typeface="Calibri" pitchFamily="34" charset="-120"/>
              </a:rPr>
              <a:t>ROI / ROAS</a:t>
            </a:r>
            <a:endParaRPr lang="en-US" sz="950" dirty="0"/>
          </a:p>
        </p:txBody>
      </p:sp>
      <p:sp>
        <p:nvSpPr>
          <p:cNvPr id="26" name="Text 24"/>
          <p:cNvSpPr txBox="1"/>
          <p:nvPr/>
        </p:nvSpPr>
        <p:spPr>
          <a:xfrm>
            <a:off x="9006840" y="2075688"/>
            <a:ext cx="2286000" cy="384048"/>
          </a:xfrm>
          <a:prstGeom prst="rect">
            <a:avLst/>
          </a:prstGeom>
          <a:noFill/>
          <a:ln/>
        </p:spPr>
        <p:txBody>
          <a:bodyPr wrap="square" lIns="0" tIns="0" rIns="0" bIns="0" rtlCol="0" anchor="ctr"/>
          <a:lstStyle/>
          <a:p>
            <a:pPr indent="0" marL="0">
              <a:buNone/>
            </a:pPr>
            <a:r>
              <a:rPr lang="en-US" sz="1800" b="1" dirty="0">
                <a:solidFill>
                  <a:srgbClr val="0A8377"/>
                </a:solidFill>
                <a:latin typeface="Calibri" pitchFamily="34" charset="0"/>
                <a:ea typeface="Calibri" pitchFamily="34" charset="-122"/>
                <a:cs typeface="Calibri" pitchFamily="34" charset="-120"/>
              </a:rPr>
              <a:t>100% / 2.0</a:t>
            </a:r>
            <a:endParaRPr lang="en-US" sz="1800" dirty="0"/>
          </a:p>
        </p:txBody>
      </p:sp>
      <p:graphicFrame>
        <p:nvGraphicFramePr>
          <p:cNvPr id="27" name="Chart 0" descr=""/>
          <p:cNvGraphicFramePr/>
          <p:nvPr/>
        </p:nvGraphicFramePr>
        <p:xfrm>
          <a:off x="658368" y="2670048"/>
          <a:ext cx="3657600" cy="1965960"/>
        </p:xfrm>
        <a:graphic xmlns:a="http://schemas.openxmlformats.org/drawingml/2006/main">
          <a:graphicData uri="http://schemas.openxmlformats.org/drawingml/2006/chart">
            <c:chart xmlns:c="http://schemas.openxmlformats.org/drawingml/2006/chart" r:id="rId1"/>
          </a:graphicData>
        </a:graphic>
      </p:graphicFrame>
      <p:graphicFrame>
        <p:nvGraphicFramePr>
          <p:cNvPr id="28" name="Chart 1" descr=""/>
          <p:cNvGraphicFramePr/>
          <p:nvPr/>
        </p:nvGraphicFramePr>
        <p:xfrm>
          <a:off x="4480560" y="2670048"/>
          <a:ext cx="3657600" cy="196596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8321040" y="2670048"/>
            <a:ext cx="3246120" cy="1965960"/>
          </a:xfrm>
          <a:prstGeom prst="roundRect">
            <a:avLst>
              <a:gd name="adj" fmla="val 2791"/>
            </a:avLst>
          </a:prstGeom>
          <a:solidFill>
            <a:srgbClr val="0B1B3A"/>
          </a:solidFill>
          <a:ln w="12700">
            <a:solidFill>
              <a:srgbClr val="D6DDEA"/>
            </a:solidFill>
            <a:prstDash val="solid"/>
          </a:ln>
        </p:spPr>
      </p:sp>
      <p:sp>
        <p:nvSpPr>
          <p:cNvPr id="30" name="Text 26"/>
          <p:cNvSpPr txBox="1"/>
          <p:nvPr/>
        </p:nvSpPr>
        <p:spPr>
          <a:xfrm>
            <a:off x="8522208" y="2798064"/>
            <a:ext cx="2743200" cy="201168"/>
          </a:xfrm>
          <a:prstGeom prst="rect">
            <a:avLst/>
          </a:prstGeom>
          <a:noFill/>
          <a:ln/>
        </p:spPr>
        <p:txBody>
          <a:bodyPr wrap="square" lIns="0" tIns="0" rIns="0" bIns="0" rtlCol="0" anchor="ctr"/>
          <a:lstStyle/>
          <a:p>
            <a:pPr indent="0" marL="0">
              <a:buNone/>
            </a:pPr>
            <a:r>
              <a:rPr lang="en-US" sz="950" b="1" spc="150" kern="0" dirty="0">
                <a:solidFill>
                  <a:srgbClr val="0FB5A6"/>
                </a:solidFill>
                <a:latin typeface="Calibri" pitchFamily="34" charset="0"/>
                <a:ea typeface="Calibri" pitchFamily="34" charset="-122"/>
                <a:cs typeface="Calibri" pitchFamily="34" charset="-120"/>
              </a:rPr>
              <a:t>AI RECOMMENDATION</a:t>
            </a:r>
            <a:endParaRPr lang="en-US" sz="950" dirty="0"/>
          </a:p>
        </p:txBody>
      </p:sp>
      <p:sp>
        <p:nvSpPr>
          <p:cNvPr id="31" name="Text 27"/>
          <p:cNvSpPr txBox="1"/>
          <p:nvPr/>
        </p:nvSpPr>
        <p:spPr>
          <a:xfrm>
            <a:off x="8522208" y="3017520"/>
            <a:ext cx="283464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Shift ₹50,000 from Social to Email</a:t>
            </a:r>
            <a:endParaRPr lang="en-US" sz="1400" dirty="0"/>
          </a:p>
        </p:txBody>
      </p:sp>
      <p:sp>
        <p:nvSpPr>
          <p:cNvPr id="32" name="Text 28"/>
          <p:cNvSpPr txBox="1"/>
          <p:nvPr/>
        </p:nvSpPr>
        <p:spPr>
          <a:xfrm>
            <a:off x="8522208" y="3566160"/>
            <a:ext cx="2834640" cy="566928"/>
          </a:xfrm>
          <a:prstGeom prst="rect">
            <a:avLst/>
          </a:prstGeom>
          <a:noFill/>
          <a:ln/>
        </p:spPr>
        <p:txBody>
          <a:bodyPr wrap="square" lIns="0" tIns="0" rIns="0" bIns="0" rtlCol="0" anchor="ctr"/>
          <a:lstStyle/>
          <a:p>
            <a:pPr indent="0" marL="0">
              <a:buNone/>
            </a:pPr>
            <a:r>
              <a:rPr lang="en-US" sz="1000" dirty="0">
                <a:solidFill>
                  <a:srgbClr val="A9BEDD"/>
                </a:solidFill>
                <a:latin typeface="Calibri" pitchFamily="34" charset="0"/>
                <a:ea typeface="Calibri" pitchFamily="34" charset="-122"/>
                <a:cs typeface="Calibri" pitchFamily="34" charset="-120"/>
              </a:rPr>
              <a:t>Markov attribution shows Social assists rather than closes, while Email converts warm leads at a far lower CPA.</a:t>
            </a:r>
            <a:endParaRPr lang="en-US" sz="1000" dirty="0"/>
          </a:p>
        </p:txBody>
      </p:sp>
      <p:sp>
        <p:nvSpPr>
          <p:cNvPr id="33" name="Text 29"/>
          <p:cNvSpPr txBox="1"/>
          <p:nvPr/>
        </p:nvSpPr>
        <p:spPr>
          <a:xfrm>
            <a:off x="8522208" y="4187952"/>
            <a:ext cx="2834640" cy="274320"/>
          </a:xfrm>
          <a:prstGeom prst="rect">
            <a:avLst/>
          </a:prstGeom>
          <a:noFill/>
          <a:ln/>
        </p:spPr>
        <p:txBody>
          <a:bodyPr wrap="square" lIns="0" tIns="0" rIns="0" bIns="0" rtlCol="0" anchor="ctr"/>
          <a:lstStyle/>
          <a:p>
            <a:pPr indent="0" marL="0">
              <a:buNone/>
            </a:pPr>
            <a:r>
              <a:rPr lang="en-US" sz="1050" b="1" dirty="0">
                <a:solidFill>
                  <a:srgbClr val="0FB5A6"/>
                </a:solidFill>
                <a:latin typeface="Calibri" pitchFamily="34" charset="0"/>
                <a:ea typeface="Calibri" pitchFamily="34" charset="-122"/>
                <a:cs typeface="Calibri" pitchFamily="34" charset="-120"/>
              </a:rPr>
              <a:t>Projected: +8% conversions  ·  +12% ROI</a:t>
            </a:r>
            <a:endParaRPr lang="en-US" sz="1050" dirty="0"/>
          </a:p>
        </p:txBody>
      </p:sp>
      <p:sp>
        <p:nvSpPr>
          <p:cNvPr id="34" name="Shape 30"/>
          <p:cNvSpPr/>
          <p:nvPr/>
        </p:nvSpPr>
        <p:spPr>
          <a:xfrm>
            <a:off x="658368" y="4773168"/>
            <a:ext cx="10908792" cy="18288"/>
          </a:xfrm>
          <a:prstGeom prst="rect">
            <a:avLst/>
          </a:prstGeom>
          <a:solidFill>
            <a:srgbClr val="D6DDEA"/>
          </a:solidFill>
          <a:ln w="12700">
            <a:solidFill>
              <a:srgbClr val="D6DDEA"/>
            </a:solidFill>
            <a:prstDash val="solid"/>
          </a:ln>
        </p:spPr>
      </p:sp>
      <p:sp>
        <p:nvSpPr>
          <p:cNvPr id="35" name="Text 31"/>
          <p:cNvSpPr txBox="1"/>
          <p:nvPr/>
        </p:nvSpPr>
        <p:spPr>
          <a:xfrm>
            <a:off x="658368" y="4882896"/>
            <a:ext cx="5486400" cy="201168"/>
          </a:xfrm>
          <a:prstGeom prst="rect">
            <a:avLst/>
          </a:prstGeom>
          <a:noFill/>
          <a:ln/>
        </p:spPr>
        <p:txBody>
          <a:bodyPr wrap="square" lIns="0" tIns="0" rIns="0" bIns="0" rtlCol="0" anchor="ctr"/>
          <a:lstStyle/>
          <a:p>
            <a:pPr indent="0" marL="0">
              <a:buNone/>
            </a:pPr>
            <a:r>
              <a:rPr lang="en-US" sz="950" b="1" spc="150" kern="0" dirty="0">
                <a:solidFill>
                  <a:srgbClr val="0A8377"/>
                </a:solidFill>
                <a:latin typeface="Calibri" pitchFamily="34" charset="0"/>
                <a:ea typeface="Calibri" pitchFamily="34" charset="-122"/>
                <a:cs typeface="Calibri" pitchFamily="34" charset="-120"/>
              </a:rPr>
              <a:t>WHAT-IF SCENARIO  (sample output, not a measured result)</a:t>
            </a:r>
            <a:endParaRPr lang="en-US" sz="950" dirty="0"/>
          </a:p>
        </p:txBody>
      </p:sp>
      <p:sp>
        <p:nvSpPr>
          <p:cNvPr id="36" name="Shape 32"/>
          <p:cNvSpPr/>
          <p:nvPr/>
        </p:nvSpPr>
        <p:spPr>
          <a:xfrm>
            <a:off x="658368" y="5120640"/>
            <a:ext cx="2606040" cy="914400"/>
          </a:xfrm>
          <a:prstGeom prst="roundRect">
            <a:avLst>
              <a:gd name="adj" fmla="val 6000"/>
            </a:avLst>
          </a:prstGeom>
          <a:solidFill>
            <a:srgbClr val="F4F7FB"/>
          </a:solidFill>
          <a:ln w="12700">
            <a:solidFill>
              <a:srgbClr val="D6DDEA"/>
            </a:solidFill>
            <a:prstDash val="solid"/>
          </a:ln>
        </p:spPr>
      </p:sp>
      <p:sp>
        <p:nvSpPr>
          <p:cNvPr id="37" name="Text 33"/>
          <p:cNvSpPr txBox="1"/>
          <p:nvPr/>
        </p:nvSpPr>
        <p:spPr>
          <a:xfrm>
            <a:off x="804672" y="5193792"/>
            <a:ext cx="2286000" cy="219456"/>
          </a:xfrm>
          <a:prstGeom prst="rect">
            <a:avLst/>
          </a:prstGeom>
          <a:noFill/>
          <a:ln/>
        </p:spPr>
        <p:txBody>
          <a:bodyPr wrap="square" lIns="0" tIns="0" rIns="0" bIns="0" rtlCol="0" anchor="ctr"/>
          <a:lstStyle/>
          <a:p>
            <a:pPr indent="0" marL="0">
              <a:buNone/>
            </a:pPr>
            <a:r>
              <a:rPr lang="en-US" sz="1000" b="1" dirty="0">
                <a:solidFill>
                  <a:srgbClr val="5D6B85"/>
                </a:solidFill>
                <a:latin typeface="Calibri" pitchFamily="34" charset="0"/>
                <a:ea typeface="Calibri" pitchFamily="34" charset="-122"/>
                <a:cs typeface="Calibri" pitchFamily="34" charset="-120"/>
              </a:rPr>
              <a:t>Current plan</a:t>
            </a:r>
            <a:endParaRPr lang="en-US" sz="1000" dirty="0"/>
          </a:p>
        </p:txBody>
      </p:sp>
      <p:sp>
        <p:nvSpPr>
          <p:cNvPr id="38" name="Text 34"/>
          <p:cNvSpPr txBox="1"/>
          <p:nvPr/>
        </p:nvSpPr>
        <p:spPr>
          <a:xfrm>
            <a:off x="804672" y="5413248"/>
            <a:ext cx="2286000" cy="548640"/>
          </a:xfrm>
          <a:prstGeom prst="rect">
            <a:avLst/>
          </a:prstGeom>
          <a:noFill/>
          <a:ln/>
        </p:spPr>
        <p:txBody>
          <a:bodyPr wrap="square" lIns="0" tIns="0" rIns="0" bIns="0" rtlCol="0" anchor="ctr"/>
          <a:lstStyle/>
          <a:p>
            <a:pPr indent="0" marL="0">
              <a:lnSpc>
                <a:spcPts val="1400"/>
              </a:lnSpc>
              <a:buNone/>
            </a:pPr>
            <a:r>
              <a:rPr lang="en-US" sz="1100" dirty="0">
                <a:solidFill>
                  <a:srgbClr val="0B1B3A"/>
                </a:solidFill>
                <a:latin typeface="Calibri" pitchFamily="34" charset="0"/>
                <a:ea typeface="Calibri" pitchFamily="34" charset="-122"/>
                <a:cs typeface="Calibri" pitchFamily="34" charset="-120"/>
              </a:rPr>
              <a:t>Social ₹3,00,000</a:t>
            </a:r>
            <a:endParaRPr lang="en-US" sz="1100" dirty="0"/>
          </a:p>
          <a:p>
            <a:pPr indent="0" marL="0">
              <a:lnSpc>
                <a:spcPts val="1400"/>
              </a:lnSpc>
              <a:buNone/>
            </a:pPr>
            <a:r>
              <a:rPr lang="en-US" sz="1100" dirty="0">
                <a:solidFill>
                  <a:srgbClr val="0B1B3A"/>
                </a:solidFill>
                <a:latin typeface="Calibri" pitchFamily="34" charset="0"/>
                <a:ea typeface="Calibri" pitchFamily="34" charset="-122"/>
                <a:cs typeface="Calibri" pitchFamily="34" charset="-120"/>
              </a:rPr>
              <a:t>Email ₹1,00,000</a:t>
            </a:r>
            <a:endParaRPr lang="en-US" sz="1100" dirty="0"/>
          </a:p>
        </p:txBody>
      </p:sp>
      <p:sp>
        <p:nvSpPr>
          <p:cNvPr id="39" name="Shape 35"/>
          <p:cNvSpPr/>
          <p:nvPr/>
        </p:nvSpPr>
        <p:spPr>
          <a:xfrm>
            <a:off x="3401568" y="5120640"/>
            <a:ext cx="2606040" cy="914400"/>
          </a:xfrm>
          <a:prstGeom prst="roundRect">
            <a:avLst>
              <a:gd name="adj" fmla="val 6000"/>
            </a:avLst>
          </a:prstGeom>
          <a:solidFill>
            <a:srgbClr val="F4F7FB"/>
          </a:solidFill>
          <a:ln w="12700">
            <a:solidFill>
              <a:srgbClr val="D6DDEA"/>
            </a:solidFill>
            <a:prstDash val="solid"/>
          </a:ln>
        </p:spPr>
      </p:sp>
      <p:sp>
        <p:nvSpPr>
          <p:cNvPr id="40" name="Text 36"/>
          <p:cNvSpPr txBox="1"/>
          <p:nvPr/>
        </p:nvSpPr>
        <p:spPr>
          <a:xfrm>
            <a:off x="3547872" y="5193792"/>
            <a:ext cx="2286000" cy="219456"/>
          </a:xfrm>
          <a:prstGeom prst="rect">
            <a:avLst/>
          </a:prstGeom>
          <a:noFill/>
          <a:ln/>
        </p:spPr>
        <p:txBody>
          <a:bodyPr wrap="square" lIns="0" tIns="0" rIns="0" bIns="0" rtlCol="0" anchor="ctr"/>
          <a:lstStyle/>
          <a:p>
            <a:pPr indent="0" marL="0">
              <a:buNone/>
            </a:pPr>
            <a:r>
              <a:rPr lang="en-US" sz="1000" b="1" dirty="0">
                <a:solidFill>
                  <a:srgbClr val="5D6B85"/>
                </a:solidFill>
                <a:latin typeface="Calibri" pitchFamily="34" charset="0"/>
                <a:ea typeface="Calibri" pitchFamily="34" charset="-122"/>
                <a:cs typeface="Calibri" pitchFamily="34" charset="-120"/>
              </a:rPr>
              <a:t>User scenario</a:t>
            </a:r>
            <a:endParaRPr lang="en-US" sz="1000" dirty="0"/>
          </a:p>
        </p:txBody>
      </p:sp>
      <p:sp>
        <p:nvSpPr>
          <p:cNvPr id="41" name="Text 37"/>
          <p:cNvSpPr txBox="1"/>
          <p:nvPr/>
        </p:nvSpPr>
        <p:spPr>
          <a:xfrm>
            <a:off x="3547872" y="5413248"/>
            <a:ext cx="2286000" cy="548640"/>
          </a:xfrm>
          <a:prstGeom prst="rect">
            <a:avLst/>
          </a:prstGeom>
          <a:noFill/>
          <a:ln/>
        </p:spPr>
        <p:txBody>
          <a:bodyPr wrap="square" lIns="0" tIns="0" rIns="0" bIns="0" rtlCol="0" anchor="ctr"/>
          <a:lstStyle/>
          <a:p>
            <a:pPr indent="0" marL="0">
              <a:lnSpc>
                <a:spcPts val="1400"/>
              </a:lnSpc>
              <a:buNone/>
            </a:pPr>
            <a:r>
              <a:rPr lang="en-US" sz="1100" dirty="0">
                <a:solidFill>
                  <a:srgbClr val="0B1B3A"/>
                </a:solidFill>
                <a:latin typeface="Calibri" pitchFamily="34" charset="0"/>
                <a:ea typeface="Calibri" pitchFamily="34" charset="-122"/>
                <a:cs typeface="Calibri" pitchFamily="34" charset="-120"/>
              </a:rPr>
              <a:t>Social ₹2,50,000</a:t>
            </a:r>
            <a:endParaRPr lang="en-US" sz="1100" dirty="0"/>
          </a:p>
          <a:p>
            <a:pPr indent="0" marL="0">
              <a:lnSpc>
                <a:spcPts val="1400"/>
              </a:lnSpc>
              <a:buNone/>
            </a:pPr>
            <a:r>
              <a:rPr lang="en-US" sz="1100" dirty="0">
                <a:solidFill>
                  <a:srgbClr val="0B1B3A"/>
                </a:solidFill>
                <a:latin typeface="Calibri" pitchFamily="34" charset="0"/>
                <a:ea typeface="Calibri" pitchFamily="34" charset="-122"/>
                <a:cs typeface="Calibri" pitchFamily="34" charset="-120"/>
              </a:rPr>
              <a:t>Email ₹1,50,000</a:t>
            </a:r>
            <a:endParaRPr lang="en-US" sz="1100" dirty="0"/>
          </a:p>
        </p:txBody>
      </p:sp>
      <p:sp>
        <p:nvSpPr>
          <p:cNvPr id="42" name="Shape 38"/>
          <p:cNvSpPr/>
          <p:nvPr/>
        </p:nvSpPr>
        <p:spPr>
          <a:xfrm>
            <a:off x="6144768" y="5120640"/>
            <a:ext cx="2606040" cy="914400"/>
          </a:xfrm>
          <a:prstGeom prst="roundRect">
            <a:avLst>
              <a:gd name="adj" fmla="val 6000"/>
            </a:avLst>
          </a:prstGeom>
          <a:solidFill>
            <a:srgbClr val="E3F6F3"/>
          </a:solidFill>
          <a:ln w="12700">
            <a:solidFill>
              <a:srgbClr val="0FB5A6"/>
            </a:solidFill>
            <a:prstDash val="solid"/>
          </a:ln>
        </p:spPr>
      </p:sp>
      <p:sp>
        <p:nvSpPr>
          <p:cNvPr id="43" name="Text 39"/>
          <p:cNvSpPr txBox="1"/>
          <p:nvPr/>
        </p:nvSpPr>
        <p:spPr>
          <a:xfrm>
            <a:off x="6291072" y="5193792"/>
            <a:ext cx="2286000" cy="219456"/>
          </a:xfrm>
          <a:prstGeom prst="rect">
            <a:avLst/>
          </a:prstGeom>
          <a:noFill/>
          <a:ln/>
        </p:spPr>
        <p:txBody>
          <a:bodyPr wrap="square" lIns="0" tIns="0" rIns="0" bIns="0" rtlCol="0" anchor="ctr"/>
          <a:lstStyle/>
          <a:p>
            <a:pPr indent="0" marL="0">
              <a:buNone/>
            </a:pPr>
            <a:r>
              <a:rPr lang="en-US" sz="1000" b="1" dirty="0">
                <a:solidFill>
                  <a:srgbClr val="0A8377"/>
                </a:solidFill>
                <a:latin typeface="Calibri" pitchFamily="34" charset="0"/>
                <a:ea typeface="Calibri" pitchFamily="34" charset="-122"/>
                <a:cs typeface="Calibri" pitchFamily="34" charset="-120"/>
              </a:rPr>
              <a:t>System output</a:t>
            </a:r>
            <a:endParaRPr lang="en-US" sz="1000" dirty="0"/>
          </a:p>
        </p:txBody>
      </p:sp>
      <p:sp>
        <p:nvSpPr>
          <p:cNvPr id="44" name="Text 40"/>
          <p:cNvSpPr txBox="1"/>
          <p:nvPr/>
        </p:nvSpPr>
        <p:spPr>
          <a:xfrm>
            <a:off x="6291072" y="5413248"/>
            <a:ext cx="2286000" cy="548640"/>
          </a:xfrm>
          <a:prstGeom prst="rect">
            <a:avLst/>
          </a:prstGeom>
          <a:noFill/>
          <a:ln/>
        </p:spPr>
        <p:txBody>
          <a:bodyPr wrap="square" lIns="0" tIns="0" rIns="0" bIns="0" rtlCol="0" anchor="ctr"/>
          <a:lstStyle/>
          <a:p>
            <a:pPr indent="0" marL="0">
              <a:lnSpc>
                <a:spcPts val="1400"/>
              </a:lnSpc>
              <a:buNone/>
            </a:pPr>
            <a:r>
              <a:rPr lang="en-US" sz="1100" dirty="0">
                <a:solidFill>
                  <a:srgbClr val="0B1B3A"/>
                </a:solidFill>
                <a:latin typeface="Calibri" pitchFamily="34" charset="0"/>
                <a:ea typeface="Calibri" pitchFamily="34" charset="-122"/>
                <a:cs typeface="Calibri" pitchFamily="34" charset="-120"/>
              </a:rPr>
              <a:t>Conversions +8%</a:t>
            </a:r>
            <a:endParaRPr lang="en-US" sz="1100" dirty="0"/>
          </a:p>
          <a:p>
            <a:pPr indent="0" marL="0">
              <a:lnSpc>
                <a:spcPts val="1400"/>
              </a:lnSpc>
              <a:buNone/>
            </a:pPr>
            <a:r>
              <a:rPr lang="en-US" sz="1100" dirty="0">
                <a:solidFill>
                  <a:srgbClr val="0B1B3A"/>
                </a:solidFill>
                <a:latin typeface="Calibri" pitchFamily="34" charset="0"/>
                <a:ea typeface="Calibri" pitchFamily="34" charset="-122"/>
                <a:cs typeface="Calibri" pitchFamily="34" charset="-120"/>
              </a:rPr>
              <a:t>ROI +12%</a:t>
            </a:r>
            <a:endParaRPr lang="en-US" sz="1100" dirty="0"/>
          </a:p>
        </p:txBody>
      </p:sp>
      <p:sp>
        <p:nvSpPr>
          <p:cNvPr id="45" name="Shape 41"/>
          <p:cNvSpPr/>
          <p:nvPr/>
        </p:nvSpPr>
        <p:spPr>
          <a:xfrm>
            <a:off x="8915400" y="5120640"/>
            <a:ext cx="2651760" cy="210312"/>
          </a:xfrm>
          <a:prstGeom prst="roundRect">
            <a:avLst>
              <a:gd name="adj" fmla="val 26087"/>
            </a:avLst>
          </a:prstGeom>
          <a:solidFill>
            <a:srgbClr val="F4F7FB"/>
          </a:solidFill>
          <a:ln w="9525">
            <a:solidFill>
              <a:srgbClr val="0FB5A6"/>
            </a:solidFill>
            <a:prstDash val="solid"/>
          </a:ln>
        </p:spPr>
      </p:sp>
      <p:sp>
        <p:nvSpPr>
          <p:cNvPr id="46" name="Text 42"/>
          <p:cNvSpPr txBox="1"/>
          <p:nvPr/>
        </p:nvSpPr>
        <p:spPr>
          <a:xfrm>
            <a:off x="8915400" y="5120640"/>
            <a:ext cx="2651760" cy="210312"/>
          </a:xfrm>
          <a:prstGeom prst="rect">
            <a:avLst/>
          </a:prstGeom>
          <a:noFill/>
          <a:ln/>
        </p:spPr>
        <p:txBody>
          <a:bodyPr wrap="square" lIns="0" tIns="0" rIns="0" bIns="0" rtlCol="0" anchor="ctr"/>
          <a:lstStyle/>
          <a:p>
            <a:pPr algn="ctr" indent="0" marL="0">
              <a:buNone/>
            </a:pPr>
            <a:r>
              <a:rPr lang="en-US" sz="950" b="1" dirty="0">
                <a:solidFill>
                  <a:srgbClr val="0B1B3A"/>
                </a:solidFill>
                <a:latin typeface="Calibri" pitchFamily="34" charset="0"/>
                <a:ea typeface="Calibri" pitchFamily="34" charset="-122"/>
                <a:cs typeface="Calibri" pitchFamily="34" charset="-120"/>
              </a:rPr>
              <a:t>Current plan</a:t>
            </a:r>
            <a:endParaRPr lang="en-US" sz="950" dirty="0"/>
          </a:p>
        </p:txBody>
      </p:sp>
      <p:sp>
        <p:nvSpPr>
          <p:cNvPr id="47" name="Shape 43"/>
          <p:cNvSpPr/>
          <p:nvPr/>
        </p:nvSpPr>
        <p:spPr>
          <a:xfrm>
            <a:off x="8915400" y="5358384"/>
            <a:ext cx="2651760" cy="210312"/>
          </a:xfrm>
          <a:prstGeom prst="roundRect">
            <a:avLst>
              <a:gd name="adj" fmla="val 26087"/>
            </a:avLst>
          </a:prstGeom>
          <a:solidFill>
            <a:srgbClr val="F4F7FB"/>
          </a:solidFill>
          <a:ln w="9525">
            <a:solidFill>
              <a:srgbClr val="0FB5A6"/>
            </a:solidFill>
            <a:prstDash val="solid"/>
          </a:ln>
        </p:spPr>
      </p:sp>
      <p:sp>
        <p:nvSpPr>
          <p:cNvPr id="48" name="Text 44"/>
          <p:cNvSpPr txBox="1"/>
          <p:nvPr/>
        </p:nvSpPr>
        <p:spPr>
          <a:xfrm>
            <a:off x="8915400" y="5358384"/>
            <a:ext cx="2651760" cy="210312"/>
          </a:xfrm>
          <a:prstGeom prst="rect">
            <a:avLst/>
          </a:prstGeom>
          <a:noFill/>
          <a:ln/>
        </p:spPr>
        <p:txBody>
          <a:bodyPr wrap="square" lIns="0" tIns="0" rIns="0" bIns="0" rtlCol="0" anchor="ctr"/>
          <a:lstStyle/>
          <a:p>
            <a:pPr algn="ctr" indent="0" marL="0">
              <a:buNone/>
            </a:pPr>
            <a:r>
              <a:rPr lang="en-US" sz="950" b="1" dirty="0">
                <a:solidFill>
                  <a:srgbClr val="0B1B3A"/>
                </a:solidFill>
                <a:latin typeface="Calibri" pitchFamily="34" charset="0"/>
                <a:ea typeface="Calibri" pitchFamily="34" charset="-122"/>
                <a:cs typeface="Calibri" pitchFamily="34" charset="-120"/>
              </a:rPr>
              <a:t>Optimised plan</a:t>
            </a:r>
            <a:endParaRPr lang="en-US" sz="950" dirty="0"/>
          </a:p>
        </p:txBody>
      </p:sp>
      <p:sp>
        <p:nvSpPr>
          <p:cNvPr id="49" name="Shape 45"/>
          <p:cNvSpPr/>
          <p:nvPr/>
        </p:nvSpPr>
        <p:spPr>
          <a:xfrm>
            <a:off x="8915400" y="5596128"/>
            <a:ext cx="2651760" cy="210312"/>
          </a:xfrm>
          <a:prstGeom prst="roundRect">
            <a:avLst>
              <a:gd name="adj" fmla="val 26087"/>
            </a:avLst>
          </a:prstGeom>
          <a:solidFill>
            <a:srgbClr val="F2762E"/>
          </a:solidFill>
          <a:ln w="9525">
            <a:solidFill>
              <a:srgbClr val="17305C"/>
            </a:solidFill>
            <a:prstDash val="solid"/>
          </a:ln>
        </p:spPr>
      </p:sp>
      <p:sp>
        <p:nvSpPr>
          <p:cNvPr id="50" name="Text 46"/>
          <p:cNvSpPr txBox="1"/>
          <p:nvPr/>
        </p:nvSpPr>
        <p:spPr>
          <a:xfrm>
            <a:off x="8915400" y="5596128"/>
            <a:ext cx="2651760" cy="2103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Run scenario</a:t>
            </a:r>
            <a:endParaRPr lang="en-US" sz="950" dirty="0"/>
          </a:p>
        </p:txBody>
      </p:sp>
      <p:sp>
        <p:nvSpPr>
          <p:cNvPr id="51" name="Shape 47"/>
          <p:cNvSpPr/>
          <p:nvPr/>
        </p:nvSpPr>
        <p:spPr>
          <a:xfrm>
            <a:off x="8915400" y="5833872"/>
            <a:ext cx="2651760" cy="210312"/>
          </a:xfrm>
          <a:prstGeom prst="roundRect">
            <a:avLst>
              <a:gd name="adj" fmla="val 26087"/>
            </a:avLst>
          </a:prstGeom>
          <a:solidFill>
            <a:srgbClr val="F4F7FB"/>
          </a:solidFill>
          <a:ln w="9525">
            <a:solidFill>
              <a:srgbClr val="0FB5A6"/>
            </a:solidFill>
            <a:prstDash val="solid"/>
          </a:ln>
        </p:spPr>
      </p:sp>
      <p:sp>
        <p:nvSpPr>
          <p:cNvPr id="52" name="Text 48"/>
          <p:cNvSpPr txBox="1"/>
          <p:nvPr/>
        </p:nvSpPr>
        <p:spPr>
          <a:xfrm>
            <a:off x="8915400" y="5833872"/>
            <a:ext cx="2651760" cy="210312"/>
          </a:xfrm>
          <a:prstGeom prst="rect">
            <a:avLst/>
          </a:prstGeom>
          <a:noFill/>
          <a:ln/>
        </p:spPr>
        <p:txBody>
          <a:bodyPr wrap="square" lIns="0" tIns="0" rIns="0" bIns="0" rtlCol="0" anchor="ctr"/>
          <a:lstStyle/>
          <a:p>
            <a:pPr algn="ctr" indent="0" marL="0">
              <a:buNone/>
            </a:pPr>
            <a:r>
              <a:rPr lang="en-US" sz="950" b="1" dirty="0">
                <a:solidFill>
                  <a:srgbClr val="0B1B3A"/>
                </a:solidFill>
                <a:latin typeface="Calibri" pitchFamily="34" charset="0"/>
                <a:ea typeface="Calibri" pitchFamily="34" charset="-122"/>
                <a:cs typeface="Calibri" pitchFamily="34" charset="-120"/>
              </a:rPr>
              <a:t>Export report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3A"/>
        </a:solidFill>
      </p:bgPr>
    </p:bg>
    <p:spTree>
      <p:nvGrpSpPr>
        <p:cNvPr id="1" name=""/>
        <p:cNvGrpSpPr/>
        <p:nvPr/>
      </p:nvGrpSpPr>
      <p:grpSpPr>
        <a:xfrm>
          <a:off x="0" y="0"/>
          <a:ext cx="0" cy="0"/>
          <a:chOff x="0" y="0"/>
          <a:chExt cx="0" cy="0"/>
        </a:xfrm>
      </p:grpSpPr>
      <p:sp>
        <p:nvSpPr>
          <p:cNvPr id="2" name="Shape 0"/>
          <p:cNvSpPr/>
          <p:nvPr/>
        </p:nvSpPr>
        <p:spPr>
          <a:xfrm>
            <a:off x="10241280" y="5120640"/>
            <a:ext cx="3291840" cy="3291840"/>
          </a:xfrm>
          <a:prstGeom prst="ellipse">
            <a:avLst/>
          </a:prstGeom>
          <a:solidFill>
            <a:srgbClr val="0A8377">
              <a:alpha val="25000"/>
            </a:srgbClr>
          </a:solidFill>
          <a:ln/>
        </p:spPr>
      </p:sp>
      <p:sp>
        <p:nvSpPr>
          <p:cNvPr id="3" name="Text 1"/>
          <p:cNvSpPr txBox="1"/>
          <p:nvPr/>
        </p:nvSpPr>
        <p:spPr>
          <a:xfrm>
            <a:off x="54864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FB5A6"/>
                </a:solidFill>
                <a:latin typeface="Calibri" pitchFamily="34" charset="0"/>
                <a:ea typeface="Calibri" pitchFamily="34" charset="-122"/>
                <a:cs typeface="Calibri" pitchFamily="34" charset="-120"/>
              </a:rPr>
              <a:t>TECHNOLOGY, PLAN AND OUTCOME</a:t>
            </a:r>
            <a:endParaRPr lang="en-US" sz="1050" dirty="0"/>
          </a:p>
        </p:txBody>
      </p:sp>
      <p:sp>
        <p:nvSpPr>
          <p:cNvPr id="4" name="Text 2"/>
          <p:cNvSpPr txBox="1"/>
          <p:nvPr/>
        </p:nvSpPr>
        <p:spPr>
          <a:xfrm>
            <a:off x="548640" y="566928"/>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Technology Stack and Expected Outcome</a:t>
            </a:r>
            <a:endParaRPr lang="en-US" sz="3000" dirty="0"/>
          </a:p>
        </p:txBody>
      </p:sp>
      <p:sp>
        <p:nvSpPr>
          <p:cNvPr id="5" name="Text 3"/>
          <p:cNvSpPr txBox="1"/>
          <p:nvPr/>
        </p:nvSpPr>
        <p:spPr>
          <a:xfrm>
            <a:off x="548640" y="1280160"/>
            <a:ext cx="3657600" cy="219456"/>
          </a:xfrm>
          <a:prstGeom prst="rect">
            <a:avLst/>
          </a:prstGeom>
          <a:noFill/>
          <a:ln/>
        </p:spPr>
        <p:txBody>
          <a:bodyPr wrap="square" lIns="0" tIns="0" rIns="0" bIns="0" rtlCol="0" anchor="ctr"/>
          <a:lstStyle/>
          <a:p>
            <a:pPr indent="0" marL="0">
              <a:buNone/>
            </a:pPr>
            <a:r>
              <a:rPr lang="en-US" sz="950" b="1" spc="150" kern="0" dirty="0">
                <a:solidFill>
                  <a:srgbClr val="0FB5A6"/>
                </a:solidFill>
                <a:latin typeface="Calibri" pitchFamily="34" charset="0"/>
                <a:ea typeface="Calibri" pitchFamily="34" charset="-122"/>
                <a:cs typeface="Calibri" pitchFamily="34" charset="-120"/>
              </a:rPr>
              <a:t>TECHNOLOGY STACK</a:t>
            </a:r>
            <a:endParaRPr lang="en-US" sz="950" dirty="0"/>
          </a:p>
        </p:txBody>
      </p:sp>
      <p:sp>
        <p:nvSpPr>
          <p:cNvPr id="6" name="Shape 4"/>
          <p:cNvSpPr/>
          <p:nvPr/>
        </p:nvSpPr>
        <p:spPr>
          <a:xfrm>
            <a:off x="548640" y="1572768"/>
            <a:ext cx="3657600" cy="658368"/>
          </a:xfrm>
          <a:prstGeom prst="roundRect">
            <a:avLst>
              <a:gd name="adj" fmla="val 8333"/>
            </a:avLst>
          </a:prstGeom>
          <a:solidFill>
            <a:srgbClr val="17305C"/>
          </a:solidFill>
          <a:ln w="12700">
            <a:solidFill>
              <a:srgbClr val="22406F"/>
            </a:solidFill>
            <a:prstDash val="solid"/>
          </a:ln>
        </p:spPr>
      </p:sp>
      <p:sp>
        <p:nvSpPr>
          <p:cNvPr id="7" name="Text 5"/>
          <p:cNvSpPr txBox="1"/>
          <p:nvPr/>
        </p:nvSpPr>
        <p:spPr>
          <a:xfrm>
            <a:off x="731520" y="1627632"/>
            <a:ext cx="329184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User interface</a:t>
            </a:r>
            <a:endParaRPr lang="en-US" sz="1200" dirty="0"/>
          </a:p>
        </p:txBody>
      </p:sp>
      <p:sp>
        <p:nvSpPr>
          <p:cNvPr id="8" name="Text 6"/>
          <p:cNvSpPr txBox="1"/>
          <p:nvPr/>
        </p:nvSpPr>
        <p:spPr>
          <a:xfrm>
            <a:off x="731520" y="1865376"/>
            <a:ext cx="3291840" cy="274320"/>
          </a:xfrm>
          <a:prstGeom prst="rect">
            <a:avLst/>
          </a:prstGeom>
          <a:noFill/>
          <a:ln/>
        </p:spPr>
        <p:txBody>
          <a:bodyPr wrap="square" lIns="0" tIns="0" rIns="0" bIns="0" rtlCol="0" anchor="ctr"/>
          <a:lstStyle/>
          <a:p>
            <a:pPr indent="0" marL="0">
              <a:buNone/>
            </a:pPr>
            <a:r>
              <a:rPr lang="en-US" sz="950" dirty="0">
                <a:solidFill>
                  <a:srgbClr val="A9BEDD"/>
                </a:solidFill>
                <a:latin typeface="Calibri" pitchFamily="34" charset="0"/>
                <a:ea typeface="Calibri" pitchFamily="34" charset="-122"/>
                <a:cs typeface="Calibri" pitchFamily="34" charset="-120"/>
              </a:rPr>
              <a:t>Streamlit / Dash / Power BI</a:t>
            </a:r>
            <a:endParaRPr lang="en-US" sz="950" dirty="0"/>
          </a:p>
        </p:txBody>
      </p:sp>
      <p:sp>
        <p:nvSpPr>
          <p:cNvPr id="9" name="Shape 7"/>
          <p:cNvSpPr/>
          <p:nvPr/>
        </p:nvSpPr>
        <p:spPr>
          <a:xfrm>
            <a:off x="2377440" y="2249424"/>
            <a:ext cx="0" cy="100584"/>
          </a:xfrm>
          <a:prstGeom prst="line">
            <a:avLst/>
          </a:prstGeom>
          <a:noFill/>
          <a:ln w="19050">
            <a:solidFill>
              <a:srgbClr val="A9BEDD"/>
            </a:solidFill>
            <a:prstDash val="solid"/>
            <a:tailEnd type="triangle"/>
          </a:ln>
        </p:spPr>
      </p:sp>
      <p:sp>
        <p:nvSpPr>
          <p:cNvPr id="10" name="Shape 8"/>
          <p:cNvSpPr/>
          <p:nvPr/>
        </p:nvSpPr>
        <p:spPr>
          <a:xfrm>
            <a:off x="548640" y="2359152"/>
            <a:ext cx="3657600" cy="658368"/>
          </a:xfrm>
          <a:prstGeom prst="roundRect">
            <a:avLst>
              <a:gd name="adj" fmla="val 8333"/>
            </a:avLst>
          </a:prstGeom>
          <a:solidFill>
            <a:srgbClr val="17305C"/>
          </a:solidFill>
          <a:ln w="12700">
            <a:solidFill>
              <a:srgbClr val="22406F"/>
            </a:solidFill>
            <a:prstDash val="solid"/>
          </a:ln>
        </p:spPr>
      </p:sp>
      <p:sp>
        <p:nvSpPr>
          <p:cNvPr id="11" name="Text 9"/>
          <p:cNvSpPr txBox="1"/>
          <p:nvPr/>
        </p:nvSpPr>
        <p:spPr>
          <a:xfrm>
            <a:off x="731520" y="2414016"/>
            <a:ext cx="329184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Visualisation</a:t>
            </a:r>
            <a:endParaRPr lang="en-US" sz="1200" dirty="0"/>
          </a:p>
        </p:txBody>
      </p:sp>
      <p:sp>
        <p:nvSpPr>
          <p:cNvPr id="12" name="Text 10"/>
          <p:cNvSpPr txBox="1"/>
          <p:nvPr/>
        </p:nvSpPr>
        <p:spPr>
          <a:xfrm>
            <a:off x="731520" y="2651760"/>
            <a:ext cx="3291840" cy="274320"/>
          </a:xfrm>
          <a:prstGeom prst="rect">
            <a:avLst/>
          </a:prstGeom>
          <a:noFill/>
          <a:ln/>
        </p:spPr>
        <p:txBody>
          <a:bodyPr wrap="square" lIns="0" tIns="0" rIns="0" bIns="0" rtlCol="0" anchor="ctr"/>
          <a:lstStyle/>
          <a:p>
            <a:pPr indent="0" marL="0">
              <a:buNone/>
            </a:pPr>
            <a:r>
              <a:rPr lang="en-US" sz="950" dirty="0">
                <a:solidFill>
                  <a:srgbClr val="A9BEDD"/>
                </a:solidFill>
                <a:latin typeface="Calibri" pitchFamily="34" charset="0"/>
                <a:ea typeface="Calibri" pitchFamily="34" charset="-122"/>
                <a:cs typeface="Calibri" pitchFamily="34" charset="-120"/>
              </a:rPr>
              <a:t>Plotly, Matplotlib, BI visuals</a:t>
            </a:r>
            <a:endParaRPr lang="en-US" sz="950" dirty="0"/>
          </a:p>
        </p:txBody>
      </p:sp>
      <p:sp>
        <p:nvSpPr>
          <p:cNvPr id="13" name="Shape 11"/>
          <p:cNvSpPr/>
          <p:nvPr/>
        </p:nvSpPr>
        <p:spPr>
          <a:xfrm>
            <a:off x="2377440" y="3035808"/>
            <a:ext cx="0" cy="100584"/>
          </a:xfrm>
          <a:prstGeom prst="line">
            <a:avLst/>
          </a:prstGeom>
          <a:noFill/>
          <a:ln w="19050">
            <a:solidFill>
              <a:srgbClr val="A9BEDD"/>
            </a:solidFill>
            <a:prstDash val="solid"/>
            <a:tailEnd type="triangle"/>
          </a:ln>
        </p:spPr>
      </p:sp>
      <p:sp>
        <p:nvSpPr>
          <p:cNvPr id="14" name="Shape 12"/>
          <p:cNvSpPr/>
          <p:nvPr/>
        </p:nvSpPr>
        <p:spPr>
          <a:xfrm>
            <a:off x="548640" y="3145536"/>
            <a:ext cx="3657600" cy="658368"/>
          </a:xfrm>
          <a:prstGeom prst="roundRect">
            <a:avLst>
              <a:gd name="adj" fmla="val 8333"/>
            </a:avLst>
          </a:prstGeom>
          <a:solidFill>
            <a:srgbClr val="0A8377"/>
          </a:solidFill>
          <a:ln w="12700">
            <a:solidFill>
              <a:srgbClr val="0FB5A6"/>
            </a:solidFill>
            <a:prstDash val="solid"/>
          </a:ln>
        </p:spPr>
      </p:sp>
      <p:sp>
        <p:nvSpPr>
          <p:cNvPr id="15" name="Text 13"/>
          <p:cNvSpPr txBox="1"/>
          <p:nvPr/>
        </p:nvSpPr>
        <p:spPr>
          <a:xfrm>
            <a:off x="731520" y="3200400"/>
            <a:ext cx="329184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and analytics</a:t>
            </a:r>
            <a:endParaRPr lang="en-US" sz="1200" dirty="0"/>
          </a:p>
        </p:txBody>
      </p:sp>
      <p:sp>
        <p:nvSpPr>
          <p:cNvPr id="16" name="Text 14"/>
          <p:cNvSpPr txBox="1"/>
          <p:nvPr/>
        </p:nvSpPr>
        <p:spPr>
          <a:xfrm>
            <a:off x="731520" y="3438144"/>
            <a:ext cx="3291840" cy="274320"/>
          </a:xfrm>
          <a:prstGeom prst="rect">
            <a:avLst/>
          </a:prstGeom>
          <a:noFill/>
          <a:ln/>
        </p:spPr>
        <p:txBody>
          <a:bodyPr wrap="square" lIns="0" tIns="0" rIns="0" bIns="0" rtlCol="0" anchor="ctr"/>
          <a:lstStyle/>
          <a:p>
            <a:pPr indent="0" marL="0">
              <a:buNone/>
            </a:pPr>
            <a:r>
              <a:rPr lang="en-US" sz="950" dirty="0">
                <a:solidFill>
                  <a:srgbClr val="D6F5F1"/>
                </a:solidFill>
                <a:latin typeface="Calibri" pitchFamily="34" charset="0"/>
                <a:ea typeface="Calibri" pitchFamily="34" charset="-122"/>
                <a:cs typeface="Calibri" pitchFamily="34" charset="-120"/>
              </a:rPr>
              <a:t>pandas, scikit-learn, XGBoost, SHAP</a:t>
            </a:r>
            <a:endParaRPr lang="en-US" sz="950" dirty="0"/>
          </a:p>
        </p:txBody>
      </p:sp>
      <p:sp>
        <p:nvSpPr>
          <p:cNvPr id="17" name="Shape 15"/>
          <p:cNvSpPr/>
          <p:nvPr/>
        </p:nvSpPr>
        <p:spPr>
          <a:xfrm>
            <a:off x="2377440" y="3822192"/>
            <a:ext cx="0" cy="100584"/>
          </a:xfrm>
          <a:prstGeom prst="line">
            <a:avLst/>
          </a:prstGeom>
          <a:noFill/>
          <a:ln w="19050">
            <a:solidFill>
              <a:srgbClr val="A9BEDD"/>
            </a:solidFill>
            <a:prstDash val="solid"/>
            <a:tailEnd type="triangle"/>
          </a:ln>
        </p:spPr>
      </p:sp>
      <p:sp>
        <p:nvSpPr>
          <p:cNvPr id="18" name="Shape 16"/>
          <p:cNvSpPr/>
          <p:nvPr/>
        </p:nvSpPr>
        <p:spPr>
          <a:xfrm>
            <a:off x="548640" y="3931920"/>
            <a:ext cx="3657600" cy="658368"/>
          </a:xfrm>
          <a:prstGeom prst="roundRect">
            <a:avLst>
              <a:gd name="adj" fmla="val 8333"/>
            </a:avLst>
          </a:prstGeom>
          <a:solidFill>
            <a:srgbClr val="17305C"/>
          </a:solidFill>
          <a:ln w="12700">
            <a:solidFill>
              <a:srgbClr val="22406F"/>
            </a:solidFill>
            <a:prstDash val="solid"/>
          </a:ln>
        </p:spPr>
      </p:sp>
      <p:sp>
        <p:nvSpPr>
          <p:cNvPr id="19" name="Text 17"/>
          <p:cNvSpPr txBox="1"/>
          <p:nvPr/>
        </p:nvSpPr>
        <p:spPr>
          <a:xfrm>
            <a:off x="731520" y="3986784"/>
            <a:ext cx="329184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Storage and processing</a:t>
            </a:r>
            <a:endParaRPr lang="en-US" sz="1200" dirty="0"/>
          </a:p>
        </p:txBody>
      </p:sp>
      <p:sp>
        <p:nvSpPr>
          <p:cNvPr id="20" name="Text 18"/>
          <p:cNvSpPr txBox="1"/>
          <p:nvPr/>
        </p:nvSpPr>
        <p:spPr>
          <a:xfrm>
            <a:off x="731520" y="4224528"/>
            <a:ext cx="3291840" cy="274320"/>
          </a:xfrm>
          <a:prstGeom prst="rect">
            <a:avLst/>
          </a:prstGeom>
          <a:noFill/>
          <a:ln/>
        </p:spPr>
        <p:txBody>
          <a:bodyPr wrap="square" lIns="0" tIns="0" rIns="0" bIns="0" rtlCol="0" anchor="ctr"/>
          <a:lstStyle/>
          <a:p>
            <a:pPr indent="0" marL="0">
              <a:buNone/>
            </a:pPr>
            <a:r>
              <a:rPr lang="en-US" sz="950" dirty="0">
                <a:solidFill>
                  <a:srgbClr val="A9BEDD"/>
                </a:solidFill>
                <a:latin typeface="Calibri" pitchFamily="34" charset="0"/>
                <a:ea typeface="Calibri" pitchFamily="34" charset="-122"/>
                <a:cs typeface="Calibri" pitchFamily="34" charset="-120"/>
              </a:rPr>
              <a:t>PostgreSQL / BigQuery, SQL, dbt</a:t>
            </a:r>
            <a:endParaRPr lang="en-US" sz="950" dirty="0"/>
          </a:p>
        </p:txBody>
      </p:sp>
      <p:sp>
        <p:nvSpPr>
          <p:cNvPr id="21" name="Shape 19"/>
          <p:cNvSpPr/>
          <p:nvPr/>
        </p:nvSpPr>
        <p:spPr>
          <a:xfrm>
            <a:off x="2377440" y="4608576"/>
            <a:ext cx="0" cy="100584"/>
          </a:xfrm>
          <a:prstGeom prst="line">
            <a:avLst/>
          </a:prstGeom>
          <a:noFill/>
          <a:ln w="19050">
            <a:solidFill>
              <a:srgbClr val="A9BEDD"/>
            </a:solidFill>
            <a:prstDash val="solid"/>
            <a:tailEnd type="triangle"/>
          </a:ln>
        </p:spPr>
      </p:sp>
      <p:sp>
        <p:nvSpPr>
          <p:cNvPr id="22" name="Shape 20"/>
          <p:cNvSpPr/>
          <p:nvPr/>
        </p:nvSpPr>
        <p:spPr>
          <a:xfrm>
            <a:off x="548640" y="4718304"/>
            <a:ext cx="3657600" cy="658368"/>
          </a:xfrm>
          <a:prstGeom prst="roundRect">
            <a:avLst>
              <a:gd name="adj" fmla="val 8333"/>
            </a:avLst>
          </a:prstGeom>
          <a:solidFill>
            <a:srgbClr val="17305C"/>
          </a:solidFill>
          <a:ln w="12700">
            <a:solidFill>
              <a:srgbClr val="22406F"/>
            </a:solidFill>
            <a:prstDash val="solid"/>
          </a:ln>
        </p:spPr>
      </p:sp>
      <p:sp>
        <p:nvSpPr>
          <p:cNvPr id="23" name="Text 21"/>
          <p:cNvSpPr txBox="1"/>
          <p:nvPr/>
        </p:nvSpPr>
        <p:spPr>
          <a:xfrm>
            <a:off x="731520" y="4773168"/>
            <a:ext cx="329184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sources</a:t>
            </a:r>
            <a:endParaRPr lang="en-US" sz="1200" dirty="0"/>
          </a:p>
        </p:txBody>
      </p:sp>
      <p:sp>
        <p:nvSpPr>
          <p:cNvPr id="24" name="Text 22"/>
          <p:cNvSpPr txBox="1"/>
          <p:nvPr/>
        </p:nvSpPr>
        <p:spPr>
          <a:xfrm>
            <a:off x="731520" y="5010912"/>
            <a:ext cx="3291840" cy="274320"/>
          </a:xfrm>
          <a:prstGeom prst="rect">
            <a:avLst/>
          </a:prstGeom>
          <a:noFill/>
          <a:ln/>
        </p:spPr>
        <p:txBody>
          <a:bodyPr wrap="square" lIns="0" tIns="0" rIns="0" bIns="0" rtlCol="0" anchor="ctr"/>
          <a:lstStyle/>
          <a:p>
            <a:pPr indent="0" marL="0">
              <a:buNone/>
            </a:pPr>
            <a:r>
              <a:rPr lang="en-US" sz="950" dirty="0">
                <a:solidFill>
                  <a:srgbClr val="A9BEDD"/>
                </a:solidFill>
                <a:latin typeface="Calibri" pitchFamily="34" charset="0"/>
                <a:ea typeface="Calibri" pitchFamily="34" charset="-122"/>
                <a:cs typeface="Calibri" pitchFamily="34" charset="-120"/>
              </a:rPr>
              <a:t>Ad APIs, GA4, CRM, sales DB, CSV</a:t>
            </a:r>
            <a:endParaRPr lang="en-US" sz="950" dirty="0"/>
          </a:p>
        </p:txBody>
      </p:sp>
      <p:sp>
        <p:nvSpPr>
          <p:cNvPr id="25" name="Text 23"/>
          <p:cNvSpPr txBox="1"/>
          <p:nvPr/>
        </p:nvSpPr>
        <p:spPr>
          <a:xfrm>
            <a:off x="4572000" y="1280160"/>
            <a:ext cx="3657600" cy="219456"/>
          </a:xfrm>
          <a:prstGeom prst="rect">
            <a:avLst/>
          </a:prstGeom>
          <a:noFill/>
          <a:ln/>
        </p:spPr>
        <p:txBody>
          <a:bodyPr wrap="square" lIns="0" tIns="0" rIns="0" bIns="0" rtlCol="0" anchor="ctr"/>
          <a:lstStyle/>
          <a:p>
            <a:pPr indent="0" marL="0">
              <a:buNone/>
            </a:pPr>
            <a:r>
              <a:rPr lang="en-US" sz="950" b="1" spc="150" kern="0" dirty="0">
                <a:solidFill>
                  <a:srgbClr val="0FB5A6"/>
                </a:solidFill>
                <a:latin typeface="Calibri" pitchFamily="34" charset="0"/>
                <a:ea typeface="Calibri" pitchFamily="34" charset="-122"/>
                <a:cs typeface="Calibri" pitchFamily="34" charset="-120"/>
              </a:rPr>
              <a:t>IMPLEMENTATION PLAN</a:t>
            </a:r>
            <a:endParaRPr lang="en-US" sz="950" dirty="0"/>
          </a:p>
        </p:txBody>
      </p:sp>
      <p:sp>
        <p:nvSpPr>
          <p:cNvPr id="26" name="Shape 24"/>
          <p:cNvSpPr/>
          <p:nvPr/>
        </p:nvSpPr>
        <p:spPr>
          <a:xfrm>
            <a:off x="4572000" y="1609344"/>
            <a:ext cx="274320" cy="274320"/>
          </a:xfrm>
          <a:prstGeom prst="ellipse">
            <a:avLst/>
          </a:prstGeom>
          <a:solidFill>
            <a:srgbClr val="0A8377"/>
          </a:solidFill>
          <a:ln/>
        </p:spPr>
      </p:sp>
      <p:sp>
        <p:nvSpPr>
          <p:cNvPr id="27" name="Text 25"/>
          <p:cNvSpPr txBox="1"/>
          <p:nvPr/>
        </p:nvSpPr>
        <p:spPr>
          <a:xfrm>
            <a:off x="4572000" y="1609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6"/>
          <p:cNvSpPr txBox="1"/>
          <p:nvPr/>
        </p:nvSpPr>
        <p:spPr>
          <a:xfrm>
            <a:off x="4956048" y="1591056"/>
            <a:ext cx="3200400" cy="31089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Collect and understand the data</a:t>
            </a:r>
            <a:endParaRPr lang="en-US" sz="1050" dirty="0"/>
          </a:p>
        </p:txBody>
      </p:sp>
      <p:sp>
        <p:nvSpPr>
          <p:cNvPr id="29" name="Shape 27"/>
          <p:cNvSpPr/>
          <p:nvPr/>
        </p:nvSpPr>
        <p:spPr>
          <a:xfrm>
            <a:off x="4572000" y="2039112"/>
            <a:ext cx="274320" cy="274320"/>
          </a:xfrm>
          <a:prstGeom prst="ellipse">
            <a:avLst/>
          </a:prstGeom>
          <a:solidFill>
            <a:srgbClr val="0A8377"/>
          </a:solidFill>
          <a:ln/>
        </p:spPr>
      </p:sp>
      <p:sp>
        <p:nvSpPr>
          <p:cNvPr id="30" name="Text 28"/>
          <p:cNvSpPr txBox="1"/>
          <p:nvPr/>
        </p:nvSpPr>
        <p:spPr>
          <a:xfrm>
            <a:off x="4572000" y="20391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9"/>
          <p:cNvSpPr txBox="1"/>
          <p:nvPr/>
        </p:nvSpPr>
        <p:spPr>
          <a:xfrm>
            <a:off x="4956048" y="2020824"/>
            <a:ext cx="3200400" cy="31089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Clean and standardise campaign records</a:t>
            </a:r>
            <a:endParaRPr lang="en-US" sz="1050" dirty="0"/>
          </a:p>
        </p:txBody>
      </p:sp>
      <p:sp>
        <p:nvSpPr>
          <p:cNvPr id="32" name="Shape 30"/>
          <p:cNvSpPr/>
          <p:nvPr/>
        </p:nvSpPr>
        <p:spPr>
          <a:xfrm>
            <a:off x="4572000" y="2468880"/>
            <a:ext cx="274320" cy="274320"/>
          </a:xfrm>
          <a:prstGeom prst="ellipse">
            <a:avLst/>
          </a:prstGeom>
          <a:solidFill>
            <a:srgbClr val="0A8377"/>
          </a:solidFill>
          <a:ln/>
        </p:spPr>
      </p:sp>
      <p:sp>
        <p:nvSpPr>
          <p:cNvPr id="33" name="Text 31"/>
          <p:cNvSpPr txBox="1"/>
          <p:nvPr/>
        </p:nvSpPr>
        <p:spPr>
          <a:xfrm>
            <a:off x="4572000" y="24688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4" name="Text 32"/>
          <p:cNvSpPr txBox="1"/>
          <p:nvPr/>
        </p:nvSpPr>
        <p:spPr>
          <a:xfrm>
            <a:off x="4956048" y="2450592"/>
            <a:ext cx="3200400" cy="31089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Build baseline KPIs and ROI calculations</a:t>
            </a:r>
            <a:endParaRPr lang="en-US" sz="1050" dirty="0"/>
          </a:p>
        </p:txBody>
      </p:sp>
      <p:sp>
        <p:nvSpPr>
          <p:cNvPr id="35" name="Shape 33"/>
          <p:cNvSpPr/>
          <p:nvPr/>
        </p:nvSpPr>
        <p:spPr>
          <a:xfrm>
            <a:off x="4572000" y="2898648"/>
            <a:ext cx="274320" cy="274320"/>
          </a:xfrm>
          <a:prstGeom prst="ellipse">
            <a:avLst/>
          </a:prstGeom>
          <a:solidFill>
            <a:srgbClr val="0A8377"/>
          </a:solidFill>
          <a:ln/>
        </p:spPr>
      </p:sp>
      <p:sp>
        <p:nvSpPr>
          <p:cNvPr id="36" name="Text 34"/>
          <p:cNvSpPr txBox="1"/>
          <p:nvPr/>
        </p:nvSpPr>
        <p:spPr>
          <a:xfrm>
            <a:off x="4572000" y="28986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7" name="Text 35"/>
          <p:cNvSpPr txBox="1"/>
          <p:nvPr/>
        </p:nvSpPr>
        <p:spPr>
          <a:xfrm>
            <a:off x="4956048" y="2880360"/>
            <a:ext cx="3200400" cy="31089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Create funnel and cohort analysis</a:t>
            </a:r>
            <a:endParaRPr lang="en-US" sz="1050" dirty="0"/>
          </a:p>
        </p:txBody>
      </p:sp>
      <p:sp>
        <p:nvSpPr>
          <p:cNvPr id="38" name="Shape 36"/>
          <p:cNvSpPr/>
          <p:nvPr/>
        </p:nvSpPr>
        <p:spPr>
          <a:xfrm>
            <a:off x="4572000" y="3328416"/>
            <a:ext cx="274320" cy="274320"/>
          </a:xfrm>
          <a:prstGeom prst="ellipse">
            <a:avLst/>
          </a:prstGeom>
          <a:solidFill>
            <a:srgbClr val="0A8377"/>
          </a:solidFill>
          <a:ln/>
        </p:spPr>
      </p:sp>
      <p:sp>
        <p:nvSpPr>
          <p:cNvPr id="39" name="Text 37"/>
          <p:cNvSpPr txBox="1"/>
          <p:nvPr/>
        </p:nvSpPr>
        <p:spPr>
          <a:xfrm>
            <a:off x="4572000" y="33284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Text 38"/>
          <p:cNvSpPr txBox="1"/>
          <p:nvPr/>
        </p:nvSpPr>
        <p:spPr>
          <a:xfrm>
            <a:off x="4956048" y="3310128"/>
            <a:ext cx="3200400" cy="31089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Implement attribution models</a:t>
            </a:r>
            <a:endParaRPr lang="en-US" sz="1050" dirty="0"/>
          </a:p>
        </p:txBody>
      </p:sp>
      <p:sp>
        <p:nvSpPr>
          <p:cNvPr id="41" name="Shape 39"/>
          <p:cNvSpPr/>
          <p:nvPr/>
        </p:nvSpPr>
        <p:spPr>
          <a:xfrm>
            <a:off x="4572000" y="3758184"/>
            <a:ext cx="274320" cy="274320"/>
          </a:xfrm>
          <a:prstGeom prst="ellipse">
            <a:avLst/>
          </a:prstGeom>
          <a:solidFill>
            <a:srgbClr val="0A8377"/>
          </a:solidFill>
          <a:ln/>
        </p:spPr>
      </p:sp>
      <p:sp>
        <p:nvSpPr>
          <p:cNvPr id="42" name="Text 40"/>
          <p:cNvSpPr txBox="1"/>
          <p:nvPr/>
        </p:nvSpPr>
        <p:spPr>
          <a:xfrm>
            <a:off x="4572000" y="37581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3" name="Text 41"/>
          <p:cNvSpPr txBox="1"/>
          <p:nvPr/>
        </p:nvSpPr>
        <p:spPr>
          <a:xfrm>
            <a:off x="4956048" y="3739896"/>
            <a:ext cx="3200400" cy="31089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Train prediction and optimisation models</a:t>
            </a:r>
            <a:endParaRPr lang="en-US" sz="1050" dirty="0"/>
          </a:p>
        </p:txBody>
      </p:sp>
      <p:sp>
        <p:nvSpPr>
          <p:cNvPr id="44" name="Shape 42"/>
          <p:cNvSpPr/>
          <p:nvPr/>
        </p:nvSpPr>
        <p:spPr>
          <a:xfrm>
            <a:off x="4572000" y="4187952"/>
            <a:ext cx="274320" cy="274320"/>
          </a:xfrm>
          <a:prstGeom prst="ellipse">
            <a:avLst/>
          </a:prstGeom>
          <a:solidFill>
            <a:srgbClr val="0A8377"/>
          </a:solidFill>
          <a:ln/>
        </p:spPr>
      </p:sp>
      <p:sp>
        <p:nvSpPr>
          <p:cNvPr id="45" name="Text 43"/>
          <p:cNvSpPr txBox="1"/>
          <p:nvPr/>
        </p:nvSpPr>
        <p:spPr>
          <a:xfrm>
            <a:off x="4572000" y="41879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4"/>
          <p:cNvSpPr txBox="1"/>
          <p:nvPr/>
        </p:nvSpPr>
        <p:spPr>
          <a:xfrm>
            <a:off x="4956048" y="4169664"/>
            <a:ext cx="3200400" cy="31089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Build the interactive dashboard</a:t>
            </a:r>
            <a:endParaRPr lang="en-US" sz="1050" dirty="0"/>
          </a:p>
        </p:txBody>
      </p:sp>
      <p:sp>
        <p:nvSpPr>
          <p:cNvPr id="47" name="Shape 45"/>
          <p:cNvSpPr/>
          <p:nvPr/>
        </p:nvSpPr>
        <p:spPr>
          <a:xfrm>
            <a:off x="4572000" y="4617720"/>
            <a:ext cx="274320" cy="274320"/>
          </a:xfrm>
          <a:prstGeom prst="ellipse">
            <a:avLst/>
          </a:prstGeom>
          <a:solidFill>
            <a:srgbClr val="0A8377"/>
          </a:solidFill>
          <a:ln/>
        </p:spPr>
      </p:sp>
      <p:sp>
        <p:nvSpPr>
          <p:cNvPr id="48" name="Text 46"/>
          <p:cNvSpPr txBox="1"/>
          <p:nvPr/>
        </p:nvSpPr>
        <p:spPr>
          <a:xfrm>
            <a:off x="4572000" y="46177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9" name="Text 47"/>
          <p:cNvSpPr txBox="1"/>
          <p:nvPr/>
        </p:nvSpPr>
        <p:spPr>
          <a:xfrm>
            <a:off x="4956048" y="4599432"/>
            <a:ext cx="3200400" cy="31089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Test scenarios and validate results</a:t>
            </a:r>
            <a:endParaRPr lang="en-US" sz="1050" dirty="0"/>
          </a:p>
        </p:txBody>
      </p:sp>
      <p:sp>
        <p:nvSpPr>
          <p:cNvPr id="50" name="Shape 48"/>
          <p:cNvSpPr/>
          <p:nvPr/>
        </p:nvSpPr>
        <p:spPr>
          <a:xfrm>
            <a:off x="4572000" y="5047488"/>
            <a:ext cx="274320" cy="274320"/>
          </a:xfrm>
          <a:prstGeom prst="ellipse">
            <a:avLst/>
          </a:prstGeom>
          <a:solidFill>
            <a:srgbClr val="F2762E"/>
          </a:solidFill>
          <a:ln/>
        </p:spPr>
      </p:sp>
      <p:sp>
        <p:nvSpPr>
          <p:cNvPr id="51" name="Text 49"/>
          <p:cNvSpPr txBox="1"/>
          <p:nvPr/>
        </p:nvSpPr>
        <p:spPr>
          <a:xfrm>
            <a:off x="4572000" y="50474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2" name="Text 50"/>
          <p:cNvSpPr txBox="1"/>
          <p:nvPr/>
        </p:nvSpPr>
        <p:spPr>
          <a:xfrm>
            <a:off x="4956048" y="5029200"/>
            <a:ext cx="3200400" cy="31089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Document recommendations and limitations</a:t>
            </a:r>
            <a:endParaRPr lang="en-US" sz="1050" dirty="0"/>
          </a:p>
        </p:txBody>
      </p:sp>
      <p:sp>
        <p:nvSpPr>
          <p:cNvPr id="53" name="Text 51"/>
          <p:cNvSpPr txBox="1"/>
          <p:nvPr/>
        </p:nvSpPr>
        <p:spPr>
          <a:xfrm>
            <a:off x="8503920" y="1280160"/>
            <a:ext cx="3657600" cy="219456"/>
          </a:xfrm>
          <a:prstGeom prst="rect">
            <a:avLst/>
          </a:prstGeom>
          <a:noFill/>
          <a:ln/>
        </p:spPr>
        <p:txBody>
          <a:bodyPr wrap="square" lIns="0" tIns="0" rIns="0" bIns="0" rtlCol="0" anchor="ctr"/>
          <a:lstStyle/>
          <a:p>
            <a:pPr indent="0" marL="0">
              <a:buNone/>
            </a:pPr>
            <a:r>
              <a:rPr lang="en-US" sz="950" b="1" spc="150" kern="0" dirty="0">
                <a:solidFill>
                  <a:srgbClr val="0FB5A6"/>
                </a:solidFill>
                <a:latin typeface="Calibri" pitchFamily="34" charset="0"/>
                <a:ea typeface="Calibri" pitchFamily="34" charset="-122"/>
                <a:cs typeface="Calibri" pitchFamily="34" charset="-120"/>
              </a:rPr>
              <a:t>EXPECTED OUTCOMES</a:t>
            </a:r>
            <a:endParaRPr lang="en-US" sz="950" dirty="0"/>
          </a:p>
        </p:txBody>
      </p:sp>
      <p:sp>
        <p:nvSpPr>
          <p:cNvPr id="54" name="Shape 52"/>
          <p:cNvSpPr/>
          <p:nvPr/>
        </p:nvSpPr>
        <p:spPr>
          <a:xfrm>
            <a:off x="8503920" y="1591056"/>
            <a:ext cx="3108960" cy="530352"/>
          </a:xfrm>
          <a:prstGeom prst="roundRect">
            <a:avLst>
              <a:gd name="adj" fmla="val 10345"/>
            </a:avLst>
          </a:prstGeom>
          <a:solidFill>
            <a:srgbClr val="17305C"/>
          </a:solidFill>
          <a:ln w="12700">
            <a:solidFill>
              <a:srgbClr val="22406F"/>
            </a:solidFill>
            <a:prstDash val="solid"/>
          </a:ln>
        </p:spPr>
      </p:sp>
      <p:sp>
        <p:nvSpPr>
          <p:cNvPr id="55" name="Text 53"/>
          <p:cNvSpPr txBox="1"/>
          <p:nvPr/>
        </p:nvSpPr>
        <p:spPr>
          <a:xfrm>
            <a:off x="8668512" y="1591056"/>
            <a:ext cx="2788920" cy="5303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Clear comparison of channels and campaigns</a:t>
            </a:r>
            <a:endParaRPr lang="en-US" sz="1050" dirty="0"/>
          </a:p>
        </p:txBody>
      </p:sp>
      <p:sp>
        <p:nvSpPr>
          <p:cNvPr id="56" name="Shape 54"/>
          <p:cNvSpPr/>
          <p:nvPr/>
        </p:nvSpPr>
        <p:spPr>
          <a:xfrm>
            <a:off x="8503920" y="2231136"/>
            <a:ext cx="3108960" cy="530352"/>
          </a:xfrm>
          <a:prstGeom prst="roundRect">
            <a:avLst>
              <a:gd name="adj" fmla="val 10345"/>
            </a:avLst>
          </a:prstGeom>
          <a:solidFill>
            <a:srgbClr val="17305C"/>
          </a:solidFill>
          <a:ln w="12700">
            <a:solidFill>
              <a:srgbClr val="22406F"/>
            </a:solidFill>
            <a:prstDash val="solid"/>
          </a:ln>
        </p:spPr>
      </p:sp>
      <p:sp>
        <p:nvSpPr>
          <p:cNvPr id="57" name="Text 55"/>
          <p:cNvSpPr txBox="1"/>
          <p:nvPr/>
        </p:nvSpPr>
        <p:spPr>
          <a:xfrm>
            <a:off x="8668512" y="2231136"/>
            <a:ext cx="2788920" cy="5303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 measured view of customer touchpoints</a:t>
            </a:r>
            <a:endParaRPr lang="en-US" sz="1050" dirty="0"/>
          </a:p>
        </p:txBody>
      </p:sp>
      <p:sp>
        <p:nvSpPr>
          <p:cNvPr id="58" name="Shape 56"/>
          <p:cNvSpPr/>
          <p:nvPr/>
        </p:nvSpPr>
        <p:spPr>
          <a:xfrm>
            <a:off x="8503920" y="2871216"/>
            <a:ext cx="3108960" cy="530352"/>
          </a:xfrm>
          <a:prstGeom prst="roundRect">
            <a:avLst>
              <a:gd name="adj" fmla="val 10345"/>
            </a:avLst>
          </a:prstGeom>
          <a:solidFill>
            <a:srgbClr val="17305C"/>
          </a:solidFill>
          <a:ln w="12700">
            <a:solidFill>
              <a:srgbClr val="22406F"/>
            </a:solidFill>
            <a:prstDash val="solid"/>
          </a:ln>
        </p:spPr>
      </p:sp>
      <p:sp>
        <p:nvSpPr>
          <p:cNvPr id="59" name="Text 57"/>
          <p:cNvSpPr txBox="1"/>
          <p:nvPr/>
        </p:nvSpPr>
        <p:spPr>
          <a:xfrm>
            <a:off x="8668512" y="2871216"/>
            <a:ext cx="2788920" cy="5303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Identified funnel bottlenecks</a:t>
            </a:r>
            <a:endParaRPr lang="en-US" sz="1050" dirty="0"/>
          </a:p>
        </p:txBody>
      </p:sp>
      <p:sp>
        <p:nvSpPr>
          <p:cNvPr id="60" name="Shape 58"/>
          <p:cNvSpPr/>
          <p:nvPr/>
        </p:nvSpPr>
        <p:spPr>
          <a:xfrm>
            <a:off x="8503920" y="3511296"/>
            <a:ext cx="3108960" cy="530352"/>
          </a:xfrm>
          <a:prstGeom prst="roundRect">
            <a:avLst>
              <a:gd name="adj" fmla="val 10345"/>
            </a:avLst>
          </a:prstGeom>
          <a:solidFill>
            <a:srgbClr val="17305C"/>
          </a:solidFill>
          <a:ln w="12700">
            <a:solidFill>
              <a:srgbClr val="22406F"/>
            </a:solidFill>
            <a:prstDash val="solid"/>
          </a:ln>
        </p:spPr>
      </p:sp>
      <p:sp>
        <p:nvSpPr>
          <p:cNvPr id="61" name="Text 59"/>
          <p:cNvSpPr txBox="1"/>
          <p:nvPr/>
        </p:nvSpPr>
        <p:spPr>
          <a:xfrm>
            <a:off x="8668512" y="3511296"/>
            <a:ext cx="2788920" cy="5303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Cohort-level decision making</a:t>
            </a:r>
            <a:endParaRPr lang="en-US" sz="1050" dirty="0"/>
          </a:p>
        </p:txBody>
      </p:sp>
      <p:sp>
        <p:nvSpPr>
          <p:cNvPr id="62" name="Shape 60"/>
          <p:cNvSpPr/>
          <p:nvPr/>
        </p:nvSpPr>
        <p:spPr>
          <a:xfrm>
            <a:off x="8503920" y="4151376"/>
            <a:ext cx="3108960" cy="530352"/>
          </a:xfrm>
          <a:prstGeom prst="roundRect">
            <a:avLst>
              <a:gd name="adj" fmla="val 10345"/>
            </a:avLst>
          </a:prstGeom>
          <a:solidFill>
            <a:srgbClr val="17305C"/>
          </a:solidFill>
          <a:ln w="12700">
            <a:solidFill>
              <a:srgbClr val="22406F"/>
            </a:solidFill>
            <a:prstDash val="solid"/>
          </a:ln>
        </p:spPr>
      </p:sp>
      <p:sp>
        <p:nvSpPr>
          <p:cNvPr id="63" name="Text 61"/>
          <p:cNvSpPr txBox="1"/>
          <p:nvPr/>
        </p:nvSpPr>
        <p:spPr>
          <a:xfrm>
            <a:off x="8668512" y="4151376"/>
            <a:ext cx="2788920" cy="5303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Interactive budget scenario planning</a:t>
            </a:r>
            <a:endParaRPr lang="en-US" sz="1050" dirty="0"/>
          </a:p>
        </p:txBody>
      </p:sp>
      <p:sp>
        <p:nvSpPr>
          <p:cNvPr id="64" name="Shape 62"/>
          <p:cNvSpPr/>
          <p:nvPr/>
        </p:nvSpPr>
        <p:spPr>
          <a:xfrm>
            <a:off x="8503920" y="4791456"/>
            <a:ext cx="3108960" cy="530352"/>
          </a:xfrm>
          <a:prstGeom prst="roundRect">
            <a:avLst>
              <a:gd name="adj" fmla="val 10345"/>
            </a:avLst>
          </a:prstGeom>
          <a:solidFill>
            <a:srgbClr val="17305C"/>
          </a:solidFill>
          <a:ln w="12700">
            <a:solidFill>
              <a:srgbClr val="22406F"/>
            </a:solidFill>
            <a:prstDash val="solid"/>
          </a:ln>
        </p:spPr>
      </p:sp>
      <p:sp>
        <p:nvSpPr>
          <p:cNvPr id="65" name="Text 63"/>
          <p:cNvSpPr txBox="1"/>
          <p:nvPr/>
        </p:nvSpPr>
        <p:spPr>
          <a:xfrm>
            <a:off x="8668512" y="4791456"/>
            <a:ext cx="2788920" cy="5303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Evidence-based marketing allocation</a:t>
            </a:r>
            <a:endParaRPr lang="en-US" sz="1050" dirty="0"/>
          </a:p>
        </p:txBody>
      </p:sp>
      <p:sp>
        <p:nvSpPr>
          <p:cNvPr id="66" name="Shape 64"/>
          <p:cNvSpPr/>
          <p:nvPr/>
        </p:nvSpPr>
        <p:spPr>
          <a:xfrm>
            <a:off x="548640" y="5669280"/>
            <a:ext cx="7406640" cy="777240"/>
          </a:xfrm>
          <a:prstGeom prst="roundRect">
            <a:avLst>
              <a:gd name="adj" fmla="val 7059"/>
            </a:avLst>
          </a:prstGeom>
          <a:solidFill>
            <a:srgbClr val="F2762E"/>
          </a:solidFill>
          <a:ln w="12700">
            <a:solidFill>
              <a:srgbClr val="F2762E"/>
            </a:solidFill>
            <a:prstDash val="solid"/>
          </a:ln>
        </p:spPr>
      </p:sp>
      <p:sp>
        <p:nvSpPr>
          <p:cNvPr id="67" name="Text 65"/>
          <p:cNvSpPr txBox="1"/>
          <p:nvPr/>
        </p:nvSpPr>
        <p:spPr>
          <a:xfrm>
            <a:off x="777240" y="5742432"/>
            <a:ext cx="6949440"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system turns fragmented marketing data into an interactive decision-support platform — explaining why results happened, testing what may happen next, and supporting better budget decisions.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Campaign Effectiveness Analysis</dc:title>
  <dc:subject>PptxGenJS Presentation</dc:subject>
  <dc:creator>Marketing Analytics Research Project</dc:creator>
  <cp:lastModifiedBy>Marketing Analytics Research Project</cp:lastModifiedBy>
  <cp:revision>1</cp:revision>
  <dcterms:created xsi:type="dcterms:W3CDTF">2026-09-18T06:04:08Z</dcterms:created>
  <dcterms:modified xsi:type="dcterms:W3CDTF">2026-09-18T06:04:08Z</dcterms:modified>
</cp:coreProperties>
</file>